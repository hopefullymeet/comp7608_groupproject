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1" roundtripDataSignature="AMtx7mgGwMcbgcsiByO6/dgpDjtDMqve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45B79C-F39D-4314-A7C5-CD6427D78287}">
  <a:tblStyle styleId="{1345B79C-F39D-4314-A7C5-CD6427D782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9cae8966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g409cae8966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g409cae8966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09cae8966f_0_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409cae8966f_0_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g409cae8966f_0_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a24993c0_0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g3faa24993c0_0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09" name="Google Shape;109;g3faa24993c0_0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09cae8966f_0_1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409cae8966f_0_1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9" name="Google Shape;129;g409cae8966f_0_1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cae8966f_0_1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409cae8966f_0_1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g409cae8966f_0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09cae8966f_0_1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409cae8966f_0_1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g409cae8966f_0_1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cae8966f_0_1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409cae8966f_0_1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6" name="Google Shape;186;g409cae8966f_0_1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09cae8966f_0_1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409cae8966f_0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g409cae8966f_0_1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09cae8966f_0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409cae8966f_0_2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g409cae8966f_0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409cae8966f_0_2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409cae8966f_0_2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5" name="Google Shape;245;g409cae8966f_0_2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cae8966f_0_2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409cae8966f_0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4" name="Google Shape;264;g409cae8966f_0_2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a8b1a5d5d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fa8b1a5d5d_0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g3fa8b1a5d5d_0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aa24993c0_0_1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g3faa24993c0_0_1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427" name="Google Shape;427;g3faa24993c0_0_1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a8b1a5d5d_0_1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g3fa8b1a5d5d_0_1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6" name="Google Shape;446;g3fa8b1a5d5d_0_1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a8b1a5d5d_0_2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g3fa8b1a5d5d_0_2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8" name="Google Shape;468;g3fa8b1a5d5d_0_2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a8b1a5d5d_0_2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g3fa8b1a5d5d_0_2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9" name="Google Shape;489;g3fa8b1a5d5d_0_2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a8b1a5d5d_0_2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3fa8b1a5d5d_0_2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4" name="Google Shape;504;g3fa8b1a5d5d_0_2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a24993c0_0_1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g3faa24993c0_0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519" name="Google Shape;519;g3faa24993c0_0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a8b1a5d5d_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fa8b1a5d5d_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0" name="Google Shape;540;g3fa8b1a5d5d_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a8b1a5d5d_0_3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g3fa8b1a5d5d_0_3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8" name="Google Shape;568;g3fa8b1a5d5d_0_3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a8b1a5d5d_0_3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g3fa8b1a5d5d_0_3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1" name="Google Shape;581;g3fa8b1a5d5d_0_3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a8d4d3c2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g3fa8d4d3c2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96" name="Google Shape;596;g3fa8d4d3c2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a8d4d3c27_0_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g3fa8d4d3c27_0_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73" name="Google Shape;673;g3fa8d4d3c27_0_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a8d4d3c27_0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3" name="Google Shape;713;g3fa8d4d3c27_0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4" name="Google Shape;714;g3fa8d4d3c27_0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a8d4d3c27_0_3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g3fa8d4d3c27_0_3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9" name="Google Shape;729;g3fa8d4d3c27_0_3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a8d4d3c27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g3fa8d4d3c27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59" name="Google Shape;759;g3fa8d4d3c27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a8d4d3c27_0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g3fa8d4d3c27_0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3" name="Google Shape;783;g3fa8d4d3c27_0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a8d4d3c27_0_1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7" name="Google Shape;797;g3fa8d4d3c27_0_1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98" name="Google Shape;798;g3fa8d4d3c27_0_1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fa8d4d3c27_0_2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g3fa8d4d3c27_0_2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47" name="Google Shape;847;g3fa8d4d3c27_0_2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fa8d4d3c27_0_3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5" name="Google Shape;895;g3fa8d4d3c27_0_3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96" name="Google Shape;896;g3fa8d4d3c27_0_3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fa8d4d3c27_0_3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7" name="Google Shape;927;g3fa8d4d3c27_0_3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28" name="Google Shape;928;g3fa8d4d3c27_0_3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fa8d4d3c27_0_3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3" name="Google Shape;943;g3fa8d4d3c27_0_3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4" name="Google Shape;944;g3fa8d4d3c27_0_3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fa8d4d3c27_0_4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8" name="Google Shape;958;g3fa8d4d3c27_0_4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59" name="Google Shape;959;g3fa8d4d3c27_0_4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a8d4d3c27_0_4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g3fa8d4d3c27_0_4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75" name="Google Shape;975;g3fa8d4d3c27_0_4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fa8d4d3c27_0_4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7" name="Google Shape;987;g3fa8d4d3c27_0_4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8" name="Google Shape;988;g3fa8d4d3c27_0_4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a8d4d3c27_0_6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g3fa8d4d3c27_0_6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fa8d4d3c27_0_6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fa8d4d3c27_0_7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2" name="Google Shape;1062;g3fa8d4d3c27_0_7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g3fa8d4d3c27_0_7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fa8d4d3c27_0_7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4" name="Google Shape;1074;g3fa8d4d3c27_0_7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g3fa8d4d3c27_0_7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fa8d4d3c27_0_4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0" name="Google Shape;1090;g3fa8d4d3c27_0_4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fa8d4d3c27_0_4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a8d4d3c27_0_4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4" name="Google Shape;1104;g3fa8d4d3c27_0_4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g3fa8d4d3c27_0_4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fa8d4d3c27_0_4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0" name="Google Shape;1130;g3fa8d4d3c27_0_4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g3fa8d4d3c27_0_4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a8d4d3c27_0_50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1" name="Google Shape;1151;g3fa8d4d3c27_0_5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2" name="Google Shape;1152;g3fa8d4d3c27_0_5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fa8d4d3c27_0_5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5" name="Google Shape;1165;g3fa8d4d3c27_0_5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3fa8d4d3c27_0_5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faa24993c0_0_1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9" name="Google Shape;1179;g3faa24993c0_0_1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80" name="Google Shape;1180;g3faa24993c0_0_1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fa8d4d3c27_0_5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2" name="Google Shape;1192;g3fa8d4d3c27_0_5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fa8d4d3c27_0_5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a8d4d3c27_0_5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1" name="Google Shape;1201;g3fa8d4d3c27_0_5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fa8d4d3c27_0_5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fa8d4d3c27_0_5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2" name="Google Shape;1222;g3fa8d4d3c27_0_5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g3fa8d4d3c27_0_5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fa8d4d3c27_0_5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1" name="Google Shape;1241;g3fa8d4d3c27_0_5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g3fa8d4d3c27_0_5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fa8d4d3c27_0_6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6" name="Google Shape;1256;g3fa8d4d3c27_0_6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g3fa8d4d3c27_0_6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fa8d4d3c27_0_6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9" name="Google Shape;1269;g3fa8d4d3c27_0_6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g3fa8d4d3c27_0_6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fa8d4d3c27_0_6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6" name="Google Shape;1286;g3fa8d4d3c27_0_6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g3fa8d4d3c27_0_6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fa8d4d3c27_0_7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5" name="Google Shape;1305;g3fa8d4d3c27_0_7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g3fa8d4d3c27_0_7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fa8d4d3c27_0_7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1" name="Google Shape;1311;g3fa8d4d3c27_0_7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g3fa8d4d3c27_0_7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7" name="Google Shape;1317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8" name="Google Shape;1318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5" name="Google Shape;1335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6" name="Google Shape;1336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6" name="Google Shape;1356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7" name="Google Shape;1357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faa24993c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8" name="Google Shape;1368;g3faa24993c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faa24993c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faa24993c0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1" name="Google Shape;1381;g3faa24993c0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g3faa24993c0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faa24993c0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4" name="Google Shape;1394;g3faa24993c0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g3faa24993c0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faa24993c0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7" name="Google Shape;1407;g3faa24993c0_0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g3faa24993c0_0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0" name="Google Shape;1420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1" name="Google Shape;1421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faa24993c0_0_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9" name="Google Shape;1439;g3faa24993c0_0_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faa24993c0_0_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aa24993c0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2" name="Google Shape;1452;g3faa24993c0_0_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g3faa24993c0_0_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faa24993c0_0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5" name="Google Shape;1465;g3faa24993c0_0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66" name="Google Shape;1466;g3faa24993c0_0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7" name="Google Shape;1477;p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78" name="Google Shape;1478;p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ytorch.org/blog/accelerating-generative-ai-2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datasets/ybelkada/documentation-images/resolve/main/llama-7b-inference-large-seqlen.png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pdf/2309.06180" TargetMode="External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vllm.ai/blog/2023-06-20-vllm" TargetMode="External"/><Relationship Id="rId4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ambda.ai/pricing" TargetMode="External"/><Relationship Id="rId4" Type="http://schemas.openxmlformats.org/officeDocument/2006/relationships/hyperlink" Target="https://vllm.ai/blog/2023-06-20-vllm" TargetMode="External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ytorch.org/blog/accelerating-generative-ai-2/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ytorch.org/blog/accelerating-generative-ai-2/" TargetMode="External"/><Relationship Id="rId4" Type="http://schemas.openxmlformats.org/officeDocument/2006/relationships/hyperlink" Target="https://lambda.ai/pricing" TargetMode="External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nvidia.com/deeplearning/tensorrt/latest/inference-library/accuracy-considerations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ytorch.org/blog/quantization-in-practice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pytorch.org/blog/quantization-aware-training/" TargetMode="External"/><Relationship Id="rId4" Type="http://schemas.openxmlformats.org/officeDocument/2006/relationships/hyperlink" Target="https://arxiv.org/abs/2210.17323" TargetMode="External"/><Relationship Id="rId5" Type="http://schemas.openxmlformats.org/officeDocument/2006/relationships/hyperlink" Target="https://arxiv.org/abs/2306.00978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rxiv.org/abs/2210.17323" TargetMode="External"/><Relationship Id="rId4" Type="http://schemas.openxmlformats.org/officeDocument/2006/relationships/hyperlink" Target="https://arxiv.org/abs/2306.00978" TargetMode="External"/><Relationship Id="rId5" Type="http://schemas.openxmlformats.org/officeDocument/2006/relationships/hyperlink" Target="https://arxiv.org/abs/2211.10438" TargetMode="External"/><Relationship Id="rId6" Type="http://schemas.openxmlformats.org/officeDocument/2006/relationships/hyperlink" Target="https://pytorch.org/blog/quantization-aware-training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qwen.readthedocs.io/en/v2.0/benchmark/speed_benchmark.html" TargetMode="External"/><Relationship Id="rId4" Type="http://schemas.openxmlformats.org/officeDocument/2006/relationships/hyperlink" Target="https://qwen.readthedocs.io/en/v2.0/benchmark/quantization_benchmark.html" TargetMode="External"/><Relationship Id="rId5" Type="http://schemas.openxmlformats.org/officeDocument/2006/relationships/hyperlink" Target="https://huggingface.co/Qwen/Qwen2-7B-Instruct-AWQ/blob/main/model.safetensors.index.js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rxiv.org/abs/1706.03762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nvidia.com/blog/mastering-llm-techniques-inference-optimization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jax-ml.github.io/scaling-book/inference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jax-ml.github.io/scaling-book/inference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huggingface.co/docs/transformers/cache_explanation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nvidia.com/blog/mastering-llm-techniques-inference-optimization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nvidia.com/blog/mastering-llm-techniques-inference-optimization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huggingface.co/docs/transformers/cache_explanation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huggingface.co/docs/transformers/cache_explanation" TargetMode="External"/><Relationship Id="rId4" Type="http://schemas.openxmlformats.org/officeDocument/2006/relationships/hyperlink" Target="https://arxiv.org/html/1911.02150v1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arxiv.org/html/1911.02150v1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arxiv.org/html/1911.02150v1" TargetMode="External"/><Relationship Id="rId4" Type="http://schemas.openxmlformats.org/officeDocument/2006/relationships/hyperlink" Target="https://arxiv.org/abs/2205.14135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vidia.com/content/dam/en-zz/Solutions/Data-Center/a100/pdf/nvidia-a100-datasheet-us-nvidia-1758950-r4-web.pdf" TargetMode="External"/><Relationship Id="rId4" Type="http://schemas.openxmlformats.org/officeDocument/2006/relationships/hyperlink" Target="https://jax-ml.github.io/scaling-book/inference/" TargetMode="External"/><Relationship Id="rId5" Type="http://schemas.openxmlformats.org/officeDocument/2006/relationships/image" Target="../media/image33.png"/><Relationship Id="rId6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arxiv.org/abs/1706.03762" TargetMode="External"/><Relationship Id="rId4" Type="http://schemas.openxmlformats.org/officeDocument/2006/relationships/hyperlink" Target="https://arxiv.org/html/2407.21783v3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rxiv.org/abs/1911.02150" TargetMode="External"/><Relationship Id="rId4" Type="http://schemas.openxmlformats.org/officeDocument/2006/relationships/hyperlink" Target="https://arxiv.org/html/2305.13245v3" TargetMode="External"/><Relationship Id="rId5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cs.cmu.edu/afs/cs/academic/class/15213-f15/www/lectures/11-memory-hierarchy.pdf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cs.cmu.edu/afs/cs/academic/class/15213-f15/www/lectures/11-memory-hierarchy.pdf" TargetMode="External"/><Relationship Id="rId4" Type="http://schemas.openxmlformats.org/officeDocument/2006/relationships/hyperlink" Target="https://docs.nvidia.com/deeplearning/performance/dl-performance-gpu-background/index.htm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cs.nvidia.com/deeplearning/performance/dl-performance-gpu-background/index.html" TargetMode="External"/><Relationship Id="rId4" Type="http://schemas.openxmlformats.org/officeDocument/2006/relationships/hyperlink" Target="https://developer.nvidia.com/blog/nvidia-ampere-architecture-in-depth/" TargetMode="External"/><Relationship Id="rId5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arxiv.org/abs/2205.14135" TargetMode="External"/><Relationship Id="rId4" Type="http://schemas.openxmlformats.org/officeDocument/2006/relationships/image" Target="../media/image15.gif"/><Relationship Id="rId5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arxiv.org/abs/2205.14135" TargetMode="External"/><Relationship Id="rId4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huggingface.co/docs/transformers/v4.39.3/perf_infer_gpu_one" TargetMode="External"/><Relationship Id="rId4" Type="http://schemas.openxmlformats.org/officeDocument/2006/relationships/hyperlink" Target="https://arxiv.org/abs/2307.08691" TargetMode="External"/><Relationship Id="rId5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arxiv.org/abs/2309.06180" TargetMode="External"/><Relationship Id="rId4" Type="http://schemas.openxmlformats.org/officeDocument/2006/relationships/hyperlink" Target="https://vllm.ai/blog/2023-06-20-vllm" TargetMode="External"/><Relationship Id="rId5" Type="http://schemas.openxmlformats.org/officeDocument/2006/relationships/image" Target="../media/image21.gif"/><Relationship Id="rId6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vllm.ai/blog/2023-06-20-vllm" TargetMode="External"/><Relationship Id="rId4" Type="http://schemas.openxmlformats.org/officeDocument/2006/relationships/hyperlink" Target="https://arxiv.org/abs/2309.06180" TargetMode="External"/><Relationship Id="rId5" Type="http://schemas.openxmlformats.org/officeDocument/2006/relationships/image" Target="../media/image22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vllm.ai/blog/2023-06-20-vllm" TargetMode="External"/><Relationship Id="rId4" Type="http://schemas.openxmlformats.org/officeDocument/2006/relationships/hyperlink" Target="https://arxiv.org/abs/2309.06180" TargetMode="External"/><Relationship Id="rId5" Type="http://schemas.openxmlformats.org/officeDocument/2006/relationships/image" Target="../media/image17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vllm.ai/blog/2023-06-20-vllm" TargetMode="External"/><Relationship Id="rId4" Type="http://schemas.openxmlformats.org/officeDocument/2006/relationships/hyperlink" Target="https://arxiv.org/abs/2309.06180" TargetMode="External"/><Relationship Id="rId5" Type="http://schemas.openxmlformats.org/officeDocument/2006/relationships/image" Target="../media/image1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arxiv.org/abs/2401.04088" TargetMode="External"/><Relationship Id="rId4" Type="http://schemas.openxmlformats.org/officeDocument/2006/relationships/hyperlink" Target="https://arxiv.org/abs/2412.19437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docs.vllm.ai/en/latest/configuration/optimization/" TargetMode="External"/><Relationship Id="rId4" Type="http://schemas.openxmlformats.org/officeDocument/2006/relationships/hyperlink" Target="https://arxiv.org/abs/2412.19437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docs.vllm.ai/en/latest/features/automatic_prefix_caching/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409cae8966f_0_0"/>
          <p:cNvSpPr/>
          <p:nvPr/>
        </p:nvSpPr>
        <p:spPr>
          <a:xfrm>
            <a:off x="495300" y="438150"/>
            <a:ext cx="2448000" cy="314400"/>
          </a:xfrm>
          <a:prstGeom prst="roundRect">
            <a:avLst>
              <a:gd fmla="val 24242" name="adj"/>
            </a:avLst>
          </a:prstGeom>
          <a:solidFill>
            <a:srgbClr val="0B0C0E"/>
          </a:solidFill>
          <a:ln cap="flat" cmpd="sng" w="14275">
            <a:solidFill>
              <a:srgbClr val="0B0C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409cae8966f_0_0"/>
          <p:cNvSpPr/>
          <p:nvPr/>
        </p:nvSpPr>
        <p:spPr>
          <a:xfrm>
            <a:off x="495300" y="504825"/>
            <a:ext cx="2448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8" name="Google Shape;18;g409cae8966f_0_0"/>
          <p:cNvSpPr/>
          <p:nvPr/>
        </p:nvSpPr>
        <p:spPr>
          <a:xfrm>
            <a:off x="495300" y="1333500"/>
            <a:ext cx="53817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Efficient 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/>
          </a:p>
        </p:txBody>
      </p:sp>
      <p:sp>
        <p:nvSpPr>
          <p:cNvPr id="19" name="Google Shape;19;g409cae8966f_0_0"/>
          <p:cNvSpPr/>
          <p:nvPr/>
        </p:nvSpPr>
        <p:spPr>
          <a:xfrm>
            <a:off x="495300" y="2943225"/>
            <a:ext cx="5305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Architecture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high-performance serving</a:t>
            </a:r>
            <a:endParaRPr/>
          </a:p>
        </p:txBody>
      </p:sp>
      <p:cxnSp>
        <p:nvCxnSpPr>
          <p:cNvPr id="20" name="Google Shape;20;g409cae8966f_0_0"/>
          <p:cNvCxnSpPr/>
          <p:nvPr/>
        </p:nvCxnSpPr>
        <p:spPr>
          <a:xfrm>
            <a:off x="495300" y="4343400"/>
            <a:ext cx="51054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409cae8966f_0_0"/>
          <p:cNvSpPr/>
          <p:nvPr/>
        </p:nvSpPr>
        <p:spPr>
          <a:xfrm>
            <a:off x="495300" y="4657725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Wenbo Sun</a:t>
            </a:r>
            <a:endParaRPr/>
          </a:p>
        </p:txBody>
      </p:sp>
      <p:sp>
        <p:nvSpPr>
          <p:cNvPr id="22" name="Google Shape;22;g409cae8966f_0_0"/>
          <p:cNvSpPr/>
          <p:nvPr/>
        </p:nvSpPr>
        <p:spPr>
          <a:xfrm>
            <a:off x="495300" y="5114925"/>
            <a:ext cx="523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School of Computing and Data Science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HKU</a:t>
            </a:r>
            <a:endParaRPr/>
          </a:p>
        </p:txBody>
      </p:sp>
      <p:sp>
        <p:nvSpPr>
          <p:cNvPr id="23" name="Google Shape;23;g409cae8966f_0_0"/>
          <p:cNvSpPr/>
          <p:nvPr/>
        </p:nvSpPr>
        <p:spPr>
          <a:xfrm>
            <a:off x="495300" y="62484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2026–27 · Semester 1</a:t>
            </a:r>
            <a:endParaRPr/>
          </a:p>
        </p:txBody>
      </p:sp>
      <p:sp>
        <p:nvSpPr>
          <p:cNvPr id="24" name="Google Shape;24;g409cae8966f_0_0"/>
          <p:cNvSpPr/>
          <p:nvPr/>
        </p:nvSpPr>
        <p:spPr>
          <a:xfrm>
            <a:off x="6096000" y="342900"/>
            <a:ext cx="5619900" cy="5734200"/>
          </a:xfrm>
          <a:prstGeom prst="roundRect">
            <a:avLst>
              <a:gd fmla="val 1356" name="adj"/>
            </a:avLst>
          </a:prstGeom>
          <a:solidFill>
            <a:srgbClr val="EAF5FB"/>
          </a:solidFill>
          <a:ln cap="flat" cmpd="sng" w="14275">
            <a:solidFill>
              <a:srgbClr val="EA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409cae8966f_0_0"/>
          <p:cNvSpPr/>
          <p:nvPr/>
        </p:nvSpPr>
        <p:spPr>
          <a:xfrm>
            <a:off x="6429375" y="57150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 decoder deployed for repeated inference</a:t>
            </a:r>
            <a:endParaRPr/>
          </a:p>
        </p:txBody>
      </p:sp>
      <p:sp>
        <p:nvSpPr>
          <p:cNvPr id="26" name="Google Shape;26;g409cae8966f_0_0"/>
          <p:cNvSpPr/>
          <p:nvPr/>
        </p:nvSpPr>
        <p:spPr>
          <a:xfrm>
            <a:off x="7715250" y="5657850"/>
            <a:ext cx="200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Input tokens</a:t>
            </a:r>
            <a:endParaRPr/>
          </a:p>
        </p:txBody>
      </p:sp>
      <p:sp>
        <p:nvSpPr>
          <p:cNvPr id="27" name="Google Shape;27;g409cae8966f_0_0"/>
          <p:cNvSpPr/>
          <p:nvPr/>
        </p:nvSpPr>
        <p:spPr>
          <a:xfrm>
            <a:off x="7620000" y="5210175"/>
            <a:ext cx="2095500" cy="333300"/>
          </a:xfrm>
          <a:prstGeom prst="roundRect">
            <a:avLst>
              <a:gd fmla="val 22857" name="adj"/>
            </a:avLst>
          </a:prstGeom>
          <a:solidFill>
            <a:srgbClr val="F8DEDA"/>
          </a:solidFill>
          <a:ln cap="flat" cmpd="sng" w="14275">
            <a:solidFill>
              <a:srgbClr val="173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embedding</a:t>
            </a:r>
            <a:endParaRPr/>
          </a:p>
        </p:txBody>
      </p:sp>
      <p:sp>
        <p:nvSpPr>
          <p:cNvPr id="28" name="Google Shape;28;g409cae8966f_0_0"/>
          <p:cNvSpPr/>
          <p:nvPr/>
        </p:nvSpPr>
        <p:spPr>
          <a:xfrm>
            <a:off x="7105650" y="1981200"/>
            <a:ext cx="2991000" cy="3057600"/>
          </a:xfrm>
          <a:prstGeom prst="roundRect">
            <a:avLst>
              <a:gd fmla="val 2548" name="adj"/>
            </a:avLst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409cae8966f_0_0"/>
          <p:cNvSpPr/>
          <p:nvPr/>
        </p:nvSpPr>
        <p:spPr>
          <a:xfrm>
            <a:off x="7219950" y="2009775"/>
            <a:ext cx="12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Block × L</a:t>
            </a:r>
            <a:endParaRPr/>
          </a:p>
        </p:txBody>
      </p:sp>
      <p:sp>
        <p:nvSpPr>
          <p:cNvPr id="30" name="Google Shape;30;g409cae8966f_0_0"/>
          <p:cNvSpPr/>
          <p:nvPr/>
        </p:nvSpPr>
        <p:spPr>
          <a:xfrm>
            <a:off x="7772400" y="4524375"/>
            <a:ext cx="1790700" cy="285900"/>
          </a:xfrm>
          <a:prstGeom prst="roundRect">
            <a:avLst>
              <a:gd fmla="val 26667" name="adj"/>
            </a:avLst>
          </a:prstGeom>
          <a:solidFill>
            <a:srgbClr val="FFF0CE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Norm</a:t>
            </a:r>
            <a:endParaRPr/>
          </a:p>
        </p:txBody>
      </p:sp>
      <p:sp>
        <p:nvSpPr>
          <p:cNvPr id="31" name="Google Shape;31;g409cae8966f_0_0"/>
          <p:cNvSpPr/>
          <p:nvPr/>
        </p:nvSpPr>
        <p:spPr>
          <a:xfrm>
            <a:off x="7524750" y="3790950"/>
            <a:ext cx="2286000" cy="543000"/>
          </a:xfrm>
          <a:prstGeom prst="roundRect">
            <a:avLst>
              <a:gd fmla="val 14035" name="adj"/>
            </a:avLst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GQA / MLA + Flash</a:t>
            </a:r>
            <a:endParaRPr/>
          </a:p>
        </p:txBody>
      </p:sp>
      <p:sp>
        <p:nvSpPr>
          <p:cNvPr id="32" name="Google Shape;32;g409cae8966f_0_0"/>
          <p:cNvSpPr/>
          <p:nvPr/>
        </p:nvSpPr>
        <p:spPr>
          <a:xfrm>
            <a:off x="8582025" y="3419475"/>
            <a:ext cx="257100" cy="257100"/>
          </a:xfrm>
          <a:prstGeom prst="ellipse">
            <a:avLst/>
          </a:prstGeom>
          <a:solidFill>
            <a:srgbClr val="FFFFFF"/>
          </a:solidFill>
          <a:ln cap="flat" cmpd="sng" w="14275">
            <a:solidFill>
              <a:srgbClr val="173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3" name="Google Shape;33;g409cae8966f_0_0"/>
          <p:cNvSpPr/>
          <p:nvPr/>
        </p:nvSpPr>
        <p:spPr>
          <a:xfrm>
            <a:off x="7772400" y="3009900"/>
            <a:ext cx="1790700" cy="285900"/>
          </a:xfrm>
          <a:prstGeom prst="roundRect">
            <a:avLst>
              <a:gd fmla="val 26667" name="adj"/>
            </a:avLst>
          </a:prstGeom>
          <a:solidFill>
            <a:srgbClr val="FFF0CE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Norm</a:t>
            </a:r>
            <a:endParaRPr/>
          </a:p>
        </p:txBody>
      </p:sp>
      <p:sp>
        <p:nvSpPr>
          <p:cNvPr id="34" name="Google Shape;34;g409cae8966f_0_0"/>
          <p:cNvSpPr/>
          <p:nvPr/>
        </p:nvSpPr>
        <p:spPr>
          <a:xfrm>
            <a:off x="7524750" y="2533650"/>
            <a:ext cx="2286000" cy="342900"/>
          </a:xfrm>
          <a:prstGeom prst="roundRect">
            <a:avLst>
              <a:gd fmla="val 22222" name="adj"/>
            </a:avLst>
          </a:prstGeom>
          <a:solidFill>
            <a:srgbClr val="E1F0E7"/>
          </a:solidFill>
          <a:ln cap="flat" cmpd="sng" w="1427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FFN  /  MoE</a:t>
            </a:r>
            <a:endParaRPr/>
          </a:p>
        </p:txBody>
      </p:sp>
      <p:sp>
        <p:nvSpPr>
          <p:cNvPr id="35" name="Google Shape;35;g409cae8966f_0_0"/>
          <p:cNvSpPr/>
          <p:nvPr/>
        </p:nvSpPr>
        <p:spPr>
          <a:xfrm>
            <a:off x="8582025" y="2200275"/>
            <a:ext cx="257100" cy="257100"/>
          </a:xfrm>
          <a:prstGeom prst="ellipse">
            <a:avLst/>
          </a:prstGeom>
          <a:solidFill>
            <a:srgbClr val="FFFFFF"/>
          </a:solidFill>
          <a:ln cap="flat" cmpd="sng" w="14275">
            <a:solidFill>
              <a:srgbClr val="173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6" name="Google Shape;36;g409cae8966f_0_0"/>
          <p:cNvSpPr/>
          <p:nvPr/>
        </p:nvSpPr>
        <p:spPr>
          <a:xfrm>
            <a:off x="7334250" y="1466850"/>
            <a:ext cx="2762400" cy="342900"/>
          </a:xfrm>
          <a:prstGeom prst="roundRect">
            <a:avLst>
              <a:gd fmla="val 22222" name="adj"/>
            </a:avLst>
          </a:prstGeom>
          <a:solidFill>
            <a:srgbClr val="E9E0F3"/>
          </a:solidFill>
          <a:ln cap="flat" cmpd="sng" w="1427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Norm, projection, softmax</a:t>
            </a:r>
            <a:endParaRPr/>
          </a:p>
        </p:txBody>
      </p:sp>
      <p:sp>
        <p:nvSpPr>
          <p:cNvPr id="37" name="Google Shape;37;g409cae8966f_0_0"/>
          <p:cNvSpPr/>
          <p:nvPr/>
        </p:nvSpPr>
        <p:spPr>
          <a:xfrm>
            <a:off x="7258050" y="1000125"/>
            <a:ext cx="3009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Next-token probabilities</a:t>
            </a:r>
            <a:endParaRPr/>
          </a:p>
        </p:txBody>
      </p:sp>
      <p:cxnSp>
        <p:nvCxnSpPr>
          <p:cNvPr id="38" name="Google Shape;38;g409cae8966f_0_0"/>
          <p:cNvCxnSpPr>
            <a:stCxn id="26" idx="0"/>
            <a:endCxn id="27" idx="2"/>
          </p:cNvCxnSpPr>
          <p:nvPr/>
        </p:nvCxnSpPr>
        <p:spPr>
          <a:xfrm rot="10800000">
            <a:off x="8667900" y="5543550"/>
            <a:ext cx="47400" cy="114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9" name="Google Shape;39;g409cae8966f_0_0"/>
          <p:cNvCxnSpPr>
            <a:stCxn id="27" idx="0"/>
            <a:endCxn id="30" idx="2"/>
          </p:cNvCxnSpPr>
          <p:nvPr/>
        </p:nvCxnSpPr>
        <p:spPr>
          <a:xfrm rot="10800000">
            <a:off x="8667750" y="4810275"/>
            <a:ext cx="0" cy="3999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" name="Google Shape;40;g409cae8966f_0_0"/>
          <p:cNvCxnSpPr>
            <a:stCxn id="30" idx="0"/>
            <a:endCxn id="31" idx="2"/>
          </p:cNvCxnSpPr>
          <p:nvPr/>
        </p:nvCxnSpPr>
        <p:spPr>
          <a:xfrm rot="10800000">
            <a:off x="8667750" y="4333875"/>
            <a:ext cx="0" cy="1905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1" name="Google Shape;41;g409cae8966f_0_0"/>
          <p:cNvCxnSpPr>
            <a:stCxn id="31" idx="0"/>
            <a:endCxn id="32" idx="4"/>
          </p:cNvCxnSpPr>
          <p:nvPr/>
        </p:nvCxnSpPr>
        <p:spPr>
          <a:xfrm flipH="1" rot="10800000">
            <a:off x="8667750" y="3676650"/>
            <a:ext cx="42900" cy="114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2" name="Google Shape;42;g409cae8966f_0_0"/>
          <p:cNvCxnSpPr>
            <a:stCxn id="32" idx="0"/>
            <a:endCxn id="33" idx="2"/>
          </p:cNvCxnSpPr>
          <p:nvPr/>
        </p:nvCxnSpPr>
        <p:spPr>
          <a:xfrm rot="10800000">
            <a:off x="8667675" y="3295875"/>
            <a:ext cx="42900" cy="1236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3" name="Google Shape;43;g409cae8966f_0_0"/>
          <p:cNvCxnSpPr>
            <a:stCxn id="33" idx="0"/>
            <a:endCxn id="34" idx="2"/>
          </p:cNvCxnSpPr>
          <p:nvPr/>
        </p:nvCxnSpPr>
        <p:spPr>
          <a:xfrm rot="10800000">
            <a:off x="8667750" y="2876400"/>
            <a:ext cx="0" cy="1335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" name="Google Shape;44;g409cae8966f_0_0"/>
          <p:cNvCxnSpPr>
            <a:stCxn id="34" idx="0"/>
            <a:endCxn id="35" idx="4"/>
          </p:cNvCxnSpPr>
          <p:nvPr/>
        </p:nvCxnSpPr>
        <p:spPr>
          <a:xfrm flipH="1" rot="10800000">
            <a:off x="8667750" y="2457450"/>
            <a:ext cx="42900" cy="762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" name="Google Shape;45;g409cae8966f_0_0"/>
          <p:cNvCxnSpPr>
            <a:stCxn id="35" idx="0"/>
            <a:endCxn id="36" idx="2"/>
          </p:cNvCxnSpPr>
          <p:nvPr/>
        </p:nvCxnSpPr>
        <p:spPr>
          <a:xfrm flipH="1" rot="10800000">
            <a:off x="8710575" y="1809675"/>
            <a:ext cx="4800" cy="3906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" name="Google Shape;46;g409cae8966f_0_0"/>
          <p:cNvCxnSpPr>
            <a:stCxn id="36" idx="0"/>
            <a:endCxn id="37" idx="2"/>
          </p:cNvCxnSpPr>
          <p:nvPr/>
        </p:nvCxnSpPr>
        <p:spPr>
          <a:xfrm flipH="1" rot="10800000">
            <a:off x="8715450" y="1285950"/>
            <a:ext cx="47700" cy="1809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7" name="Google Shape;47;g409cae8966f_0_0"/>
          <p:cNvSpPr/>
          <p:nvPr/>
        </p:nvSpPr>
        <p:spPr>
          <a:xfrm>
            <a:off x="8703469" y="49315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409cae8966f_0_0"/>
          <p:cNvSpPr/>
          <p:nvPr/>
        </p:nvSpPr>
        <p:spPr>
          <a:xfrm>
            <a:off x="7303294" y="49315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409cae8966f_0_0"/>
          <p:cNvSpPr/>
          <p:nvPr/>
        </p:nvSpPr>
        <p:spPr>
          <a:xfrm>
            <a:off x="7303294" y="35409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409cae8966f_0_0"/>
          <p:cNvSpPr/>
          <p:nvPr/>
        </p:nvSpPr>
        <p:spPr>
          <a:xfrm>
            <a:off x="8579644" y="35409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g409cae8966f_0_0"/>
          <p:cNvCxnSpPr>
            <a:stCxn id="47" idx="1"/>
            <a:endCxn id="48" idx="3"/>
          </p:cNvCxnSpPr>
          <p:nvPr/>
        </p:nvCxnSpPr>
        <p:spPr>
          <a:xfrm rot="10800000">
            <a:off x="7308169" y="4933969"/>
            <a:ext cx="13953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g409cae8966f_0_0"/>
          <p:cNvCxnSpPr>
            <a:stCxn id="48" idx="0"/>
            <a:endCxn id="49" idx="2"/>
          </p:cNvCxnSpPr>
          <p:nvPr/>
        </p:nvCxnSpPr>
        <p:spPr>
          <a:xfrm rot="10800000">
            <a:off x="7305694" y="3545869"/>
            <a:ext cx="0" cy="13857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g409cae8966f_0_0"/>
          <p:cNvCxnSpPr>
            <a:stCxn id="49" idx="3"/>
            <a:endCxn id="50" idx="1"/>
          </p:cNvCxnSpPr>
          <p:nvPr/>
        </p:nvCxnSpPr>
        <p:spPr>
          <a:xfrm>
            <a:off x="7308094" y="3543319"/>
            <a:ext cx="12717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4" name="Google Shape;54;g409cae8966f_0_0"/>
          <p:cNvSpPr/>
          <p:nvPr/>
        </p:nvSpPr>
        <p:spPr>
          <a:xfrm>
            <a:off x="8703469" y="3340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409cae8966f_0_0"/>
          <p:cNvSpPr/>
          <p:nvPr/>
        </p:nvSpPr>
        <p:spPr>
          <a:xfrm>
            <a:off x="7398544" y="3340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409cae8966f_0_0"/>
          <p:cNvSpPr/>
          <p:nvPr/>
        </p:nvSpPr>
        <p:spPr>
          <a:xfrm>
            <a:off x="7398544" y="23217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409cae8966f_0_0"/>
          <p:cNvSpPr/>
          <p:nvPr/>
        </p:nvSpPr>
        <p:spPr>
          <a:xfrm>
            <a:off x="8579644" y="23217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" name="Google Shape;58;g409cae8966f_0_0"/>
          <p:cNvCxnSpPr>
            <a:stCxn id="54" idx="1"/>
            <a:endCxn id="55" idx="3"/>
          </p:cNvCxnSpPr>
          <p:nvPr/>
        </p:nvCxnSpPr>
        <p:spPr>
          <a:xfrm rot="10800000">
            <a:off x="7403269" y="3343294"/>
            <a:ext cx="13002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g409cae8966f_0_0"/>
          <p:cNvCxnSpPr>
            <a:stCxn id="55" idx="0"/>
            <a:endCxn id="56" idx="2"/>
          </p:cNvCxnSpPr>
          <p:nvPr/>
        </p:nvCxnSpPr>
        <p:spPr>
          <a:xfrm rot="10800000">
            <a:off x="7400944" y="2326594"/>
            <a:ext cx="0" cy="1014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g409cae8966f_0_0"/>
          <p:cNvCxnSpPr>
            <a:stCxn id="56" idx="3"/>
            <a:endCxn id="57" idx="1"/>
          </p:cNvCxnSpPr>
          <p:nvPr/>
        </p:nvCxnSpPr>
        <p:spPr>
          <a:xfrm>
            <a:off x="7403344" y="2324119"/>
            <a:ext cx="11763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61" name="Google Shape;61;g409cae8966f_0_0"/>
          <p:cNvSpPr/>
          <p:nvPr/>
        </p:nvSpPr>
        <p:spPr>
          <a:xfrm>
            <a:off x="10287000" y="3286125"/>
            <a:ext cx="1238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Paged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KV cache</a:t>
            </a:r>
            <a:endParaRPr/>
          </a:p>
        </p:txBody>
      </p:sp>
      <p:sp>
        <p:nvSpPr>
          <p:cNvPr id="62" name="Google Shape;62;g409cae8966f_0_0"/>
          <p:cNvSpPr/>
          <p:nvPr/>
        </p:nvSpPr>
        <p:spPr>
          <a:xfrm>
            <a:off x="10401300" y="3905250"/>
            <a:ext cx="352500" cy="209700"/>
          </a:xfrm>
          <a:prstGeom prst="rect">
            <a:avLst/>
          </a:prstGeom>
          <a:solidFill>
            <a:srgbClr val="D1E7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409cae8966f_0_0"/>
          <p:cNvSpPr/>
          <p:nvPr/>
        </p:nvSpPr>
        <p:spPr>
          <a:xfrm>
            <a:off x="10829925" y="3905250"/>
            <a:ext cx="352500" cy="209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409cae8966f_0_0"/>
          <p:cNvSpPr/>
          <p:nvPr/>
        </p:nvSpPr>
        <p:spPr>
          <a:xfrm>
            <a:off x="10401300" y="4181475"/>
            <a:ext cx="352500" cy="209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409cae8966f_0_0"/>
          <p:cNvSpPr/>
          <p:nvPr/>
        </p:nvSpPr>
        <p:spPr>
          <a:xfrm>
            <a:off x="10829925" y="4181475"/>
            <a:ext cx="352500" cy="209700"/>
          </a:xfrm>
          <a:prstGeom prst="rect">
            <a:avLst/>
          </a:prstGeom>
          <a:solidFill>
            <a:srgbClr val="D1E7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409cae8966f_0_0"/>
          <p:cNvSpPr/>
          <p:nvPr/>
        </p:nvSpPr>
        <p:spPr>
          <a:xfrm>
            <a:off x="10401300" y="4457700"/>
            <a:ext cx="352500" cy="209700"/>
          </a:xfrm>
          <a:prstGeom prst="rect">
            <a:avLst/>
          </a:prstGeom>
          <a:solidFill>
            <a:srgbClr val="D1E7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409cae8966f_0_0"/>
          <p:cNvSpPr/>
          <p:nvPr/>
        </p:nvSpPr>
        <p:spPr>
          <a:xfrm>
            <a:off x="10829925" y="4457700"/>
            <a:ext cx="352500" cy="209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409cae8966f_0_0"/>
          <p:cNvSpPr/>
          <p:nvPr/>
        </p:nvSpPr>
        <p:spPr>
          <a:xfrm>
            <a:off x="9808369" y="40933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409cae8966f_0_0"/>
          <p:cNvSpPr/>
          <p:nvPr/>
        </p:nvSpPr>
        <p:spPr>
          <a:xfrm>
            <a:off x="10351294" y="40933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g409cae8966f_0_0"/>
          <p:cNvCxnSpPr>
            <a:stCxn id="68" idx="3"/>
            <a:endCxn id="69" idx="1"/>
          </p:cNvCxnSpPr>
          <p:nvPr/>
        </p:nvCxnSpPr>
        <p:spPr>
          <a:xfrm>
            <a:off x="9813169" y="4095769"/>
            <a:ext cx="538200" cy="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1" name="Google Shape;71;g409cae8966f_0_0"/>
          <p:cNvSpPr/>
          <p:nvPr/>
        </p:nvSpPr>
        <p:spPr>
          <a:xfrm>
            <a:off x="10351294" y="4312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409cae8966f_0_0"/>
          <p:cNvSpPr/>
          <p:nvPr/>
        </p:nvSpPr>
        <p:spPr>
          <a:xfrm>
            <a:off x="9998869" y="4312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409cae8966f_0_0"/>
          <p:cNvSpPr/>
          <p:nvPr/>
        </p:nvSpPr>
        <p:spPr>
          <a:xfrm>
            <a:off x="9998869" y="42457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409cae8966f_0_0"/>
          <p:cNvSpPr/>
          <p:nvPr/>
        </p:nvSpPr>
        <p:spPr>
          <a:xfrm>
            <a:off x="9808369" y="42457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g409cae8966f_0_0"/>
          <p:cNvCxnSpPr>
            <a:stCxn id="71" idx="1"/>
            <a:endCxn id="72" idx="3"/>
          </p:cNvCxnSpPr>
          <p:nvPr/>
        </p:nvCxnSpPr>
        <p:spPr>
          <a:xfrm rot="10800000">
            <a:off x="10003594" y="4314844"/>
            <a:ext cx="347700" cy="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g409cae8966f_0_0"/>
          <p:cNvCxnSpPr>
            <a:stCxn id="72" idx="0"/>
            <a:endCxn id="73" idx="2"/>
          </p:cNvCxnSpPr>
          <p:nvPr/>
        </p:nvCxnSpPr>
        <p:spPr>
          <a:xfrm rot="10800000">
            <a:off x="10001269" y="4250644"/>
            <a:ext cx="0" cy="6180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g409cae8966f_0_0"/>
          <p:cNvCxnSpPr>
            <a:stCxn id="73" idx="1"/>
            <a:endCxn id="74" idx="3"/>
          </p:cNvCxnSpPr>
          <p:nvPr/>
        </p:nvCxnSpPr>
        <p:spPr>
          <a:xfrm rot="10800000">
            <a:off x="9813169" y="4248169"/>
            <a:ext cx="185700" cy="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8" name="Google Shape;78;g409cae8966f_0_0"/>
          <p:cNvSpPr/>
          <p:nvPr/>
        </p:nvSpPr>
        <p:spPr>
          <a:xfrm>
            <a:off x="10287000" y="2152650"/>
            <a:ext cx="126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Low-bit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79" name="Google Shape;79;g409cae8966f_0_0"/>
          <p:cNvSpPr/>
          <p:nvPr/>
        </p:nvSpPr>
        <p:spPr>
          <a:xfrm>
            <a:off x="10379869" y="27122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409cae8966f_0_0"/>
          <p:cNvSpPr/>
          <p:nvPr/>
        </p:nvSpPr>
        <p:spPr>
          <a:xfrm>
            <a:off x="9836944" y="27122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g409cae8966f_0_0"/>
          <p:cNvCxnSpPr>
            <a:stCxn id="79" idx="1"/>
            <a:endCxn id="80" idx="3"/>
          </p:cNvCxnSpPr>
          <p:nvPr/>
        </p:nvCxnSpPr>
        <p:spPr>
          <a:xfrm rot="10800000">
            <a:off x="9841669" y="2714644"/>
            <a:ext cx="538200" cy="0"/>
          </a:xfrm>
          <a:prstGeom prst="straightConnector1">
            <a:avLst/>
          </a:prstGeom>
          <a:noFill/>
          <a:ln cap="flat" cmpd="sng" w="17125">
            <a:solidFill>
              <a:srgbClr val="FF9B5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2" name="Google Shape;82;g409cae8966f_0_0"/>
          <p:cNvSpPr/>
          <p:nvPr/>
        </p:nvSpPr>
        <p:spPr>
          <a:xfrm>
            <a:off x="11144250" y="6362700"/>
            <a:ext cx="4383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09cae8966f_0_7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89" name="Google Shape;89;g409cae8966f_0_7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inference costs</a:t>
            </a:r>
            <a:endParaRPr/>
          </a:p>
        </p:txBody>
      </p:sp>
      <p:cxnSp>
        <p:nvCxnSpPr>
          <p:cNvPr id="90" name="Google Shape;90;g409cae8966f_0_7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409cae8966f_0_7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2" name="Google Shape;92;g409cae8966f_0_7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3" name="Google Shape;93;g409cae8966f_0_71"/>
          <p:cNvSpPr/>
          <p:nvPr/>
        </p:nvSpPr>
        <p:spPr>
          <a:xfrm>
            <a:off x="609600" y="1762125"/>
            <a:ext cx="5143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company pays</a:t>
            </a:r>
            <a:endParaRPr/>
          </a:p>
        </p:txBody>
      </p:sp>
      <p:sp>
        <p:nvSpPr>
          <p:cNvPr id="94" name="Google Shape;94;g409cae8966f_0_71"/>
          <p:cNvSpPr/>
          <p:nvPr/>
        </p:nvSpPr>
        <p:spPr>
          <a:xfrm>
            <a:off x="609600" y="2571750"/>
            <a:ext cx="50958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GPU count × rental rate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× billed hours</a:t>
            </a:r>
            <a:endParaRPr/>
          </a:p>
        </p:txBody>
      </p:sp>
      <p:sp>
        <p:nvSpPr>
          <p:cNvPr id="95" name="Google Shape;95;g409cae8966f_0_71"/>
          <p:cNvSpPr/>
          <p:nvPr/>
        </p:nvSpPr>
        <p:spPr>
          <a:xfrm>
            <a:off x="609600" y="4010025"/>
            <a:ext cx="5143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Memory determines what fits.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Throughput determines how much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traffic each GPU can serve.</a:t>
            </a:r>
            <a:endParaRPr/>
          </a:p>
        </p:txBody>
      </p:sp>
      <p:cxnSp>
        <p:nvCxnSpPr>
          <p:cNvPr id="96" name="Google Shape;96;g409cae8966f_0_71"/>
          <p:cNvCxnSpPr/>
          <p:nvPr/>
        </p:nvCxnSpPr>
        <p:spPr>
          <a:xfrm>
            <a:off x="6038850" y="1809750"/>
            <a:ext cx="0" cy="35814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g409cae8966f_0_71"/>
          <p:cNvSpPr/>
          <p:nvPr/>
        </p:nvSpPr>
        <p:spPr>
          <a:xfrm>
            <a:off x="6515100" y="1762125"/>
            <a:ext cx="50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user waits</a:t>
            </a:r>
            <a:endParaRPr/>
          </a:p>
        </p:txBody>
      </p:sp>
      <p:sp>
        <p:nvSpPr>
          <p:cNvPr id="98" name="Google Shape;98;g409cae8966f_0_71"/>
          <p:cNvSpPr/>
          <p:nvPr/>
        </p:nvSpPr>
        <p:spPr>
          <a:xfrm>
            <a:off x="6515100" y="2571750"/>
            <a:ext cx="1333500" cy="6858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/>
          </a:p>
        </p:txBody>
      </p:sp>
      <p:sp>
        <p:nvSpPr>
          <p:cNvPr id="99" name="Google Shape;99;g409cae8966f_0_71"/>
          <p:cNvSpPr/>
          <p:nvPr/>
        </p:nvSpPr>
        <p:spPr>
          <a:xfrm>
            <a:off x="8181975" y="2571750"/>
            <a:ext cx="1571700" cy="6858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/>
          </a:p>
        </p:txBody>
      </p:sp>
      <p:sp>
        <p:nvSpPr>
          <p:cNvPr id="100" name="Google Shape;100;g409cae8966f_0_71"/>
          <p:cNvSpPr/>
          <p:nvPr/>
        </p:nvSpPr>
        <p:spPr>
          <a:xfrm>
            <a:off x="10086975" y="2571750"/>
            <a:ext cx="1495500" cy="6858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/>
          </a:p>
        </p:txBody>
      </p:sp>
      <p:cxnSp>
        <p:nvCxnSpPr>
          <p:cNvPr id="101" name="Google Shape;101;g409cae8966f_0_71"/>
          <p:cNvCxnSpPr>
            <a:stCxn id="98" idx="3"/>
            <a:endCxn id="99" idx="1"/>
          </p:cNvCxnSpPr>
          <p:nvPr/>
        </p:nvCxnSpPr>
        <p:spPr>
          <a:xfrm>
            <a:off x="7848600" y="2914650"/>
            <a:ext cx="3333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2" name="Google Shape;102;g409cae8966f_0_71"/>
          <p:cNvCxnSpPr>
            <a:stCxn id="99" idx="3"/>
            <a:endCxn id="100" idx="1"/>
          </p:cNvCxnSpPr>
          <p:nvPr/>
        </p:nvCxnSpPr>
        <p:spPr>
          <a:xfrm>
            <a:off x="9753675" y="2914650"/>
            <a:ext cx="3333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3" name="Google Shape;103;g409cae8966f_0_71"/>
          <p:cNvSpPr/>
          <p:nvPr/>
        </p:nvSpPr>
        <p:spPr>
          <a:xfrm>
            <a:off x="6515100" y="4010025"/>
            <a:ext cx="5067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Time to first token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Time between generated tokens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Time to the complete answer</a:t>
            </a:r>
            <a:endParaRPr/>
          </a:p>
        </p:txBody>
      </p:sp>
      <p:cxnSp>
        <p:nvCxnSpPr>
          <p:cNvPr id="104" name="Google Shape;104;g409cae8966f_0_71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409cae8966f_0_71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 deployable service must meet a quality target and a latency target at an affordable cost.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a24993c0_0_90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 sz="1800"/>
          </a:p>
        </p:txBody>
      </p:sp>
      <p:sp>
        <p:nvSpPr>
          <p:cNvPr id="112" name="Google Shape;112;g3faa24993c0_0_90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Quantization changes the memory requirement</a:t>
            </a:r>
            <a:endParaRPr sz="1800"/>
          </a:p>
        </p:txBody>
      </p:sp>
      <p:cxnSp>
        <p:nvCxnSpPr>
          <p:cNvPr id="113" name="Google Shape;113;g3faa24993c0_0_9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faa24993c0_0_90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 sz="1800"/>
          </a:p>
        </p:txBody>
      </p:sp>
      <p:sp>
        <p:nvSpPr>
          <p:cNvPr id="115" name="Google Shape;115;g3faa24993c0_0_90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/>
          </a:p>
        </p:txBody>
      </p:sp>
      <p:sp>
        <p:nvSpPr>
          <p:cNvPr id="116" name="Google Shape;116;g3faa24993c0_0_90"/>
          <p:cNvSpPr/>
          <p:nvPr/>
        </p:nvSpPr>
        <p:spPr>
          <a:xfrm>
            <a:off x="609600" y="16573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Stored tensor payload (GB), including scales and higher-precision tensors.</a:t>
            </a:r>
            <a:endParaRPr/>
          </a:p>
        </p:txBody>
      </p:sp>
      <p:sp>
        <p:nvSpPr>
          <p:cNvPr id="117" name="Google Shape;117;g3faa24993c0_0_90"/>
          <p:cNvSpPr/>
          <p:nvPr/>
        </p:nvSpPr>
        <p:spPr>
          <a:xfrm>
            <a:off x="609600" y="2200275"/>
            <a:ext cx="527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Dense · Qwen2-7B-Instruct</a:t>
            </a:r>
            <a:endParaRPr/>
          </a:p>
        </p:txBody>
      </p:sp>
      <p:sp>
        <p:nvSpPr>
          <p:cNvPr id="118" name="Google Shape;118;g3faa24993c0_0_90"/>
          <p:cNvSpPr/>
          <p:nvPr/>
        </p:nvSpPr>
        <p:spPr>
          <a:xfrm>
            <a:off x="6515100" y="220027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MoE · Qwen3-30B-A3B</a:t>
            </a:r>
            <a:endParaRPr/>
          </a:p>
        </p:txBody>
      </p:sp>
      <p:sp>
        <p:nvSpPr>
          <p:cNvPr id="119" name="Google Shape;119;g3faa24993c0_0_90"/>
          <p:cNvSpPr/>
          <p:nvPr/>
        </p:nvSpPr>
        <p:spPr>
          <a:xfrm>
            <a:off x="6515100" y="2552700"/>
            <a:ext cx="5067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30.5B total, 3.3B active per token</a:t>
            </a:r>
            <a:endParaRPr/>
          </a:p>
        </p:txBody>
      </p:sp>
      <p:pic>
        <p:nvPicPr>
          <p:cNvPr id="120" name="Google Shape;120;g3faa24993c0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933700"/>
            <a:ext cx="5095800" cy="24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aa24993c0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2933700"/>
            <a:ext cx="5095800" cy="24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aa24993c0_0_90"/>
          <p:cNvSpPr/>
          <p:nvPr/>
        </p:nvSpPr>
        <p:spPr>
          <a:xfrm>
            <a:off x="609600" y="5476875"/>
            <a:ext cx="5334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INT8 retains 58.2% of BF16 tensor bytes.</a:t>
            </a:r>
            <a:endParaRPr/>
          </a:p>
        </p:txBody>
      </p:sp>
      <p:sp>
        <p:nvSpPr>
          <p:cNvPr id="123" name="Google Shape;123;g3faa24993c0_0_90"/>
          <p:cNvSpPr/>
          <p:nvPr/>
        </p:nvSpPr>
        <p:spPr>
          <a:xfrm>
            <a:off x="6515100" y="5476875"/>
            <a:ext cx="5067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FP8 retains 53.1% of BF16 tensor bytes.</a:t>
            </a:r>
            <a:endParaRPr/>
          </a:p>
        </p:txBody>
      </p:sp>
      <p:sp>
        <p:nvSpPr>
          <p:cNvPr id="124" name="Google Shape;124;g3faa24993c0_0_90"/>
          <p:cNvSpPr/>
          <p:nvPr/>
        </p:nvSpPr>
        <p:spPr>
          <a:xfrm>
            <a:off x="609600" y="5934075"/>
            <a:ext cx="10972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MoE still stores all experts. Lower precision reduces this stored weight state.</a:t>
            </a:r>
            <a:endParaRPr/>
          </a:p>
        </p:txBody>
      </p:sp>
      <p:sp>
        <p:nvSpPr>
          <p:cNvPr id="125" name="Google Shape;125;g3faa24993c0_0_90"/>
          <p:cNvSpPr/>
          <p:nvPr/>
        </p:nvSpPr>
        <p:spPr>
          <a:xfrm>
            <a:off x="609600" y="6486525"/>
            <a:ext cx="10972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GB = 10⁹ bytes. Tensor payload from checkpoint indices, including scale tensors. Excludes file headers, KV cache and runtime buffers. Separate chart scales.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cae8966f_0_11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132" name="Google Shape;132;g409cae8966f_0_11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Quantization reduces token-generation latency</a:t>
            </a:r>
            <a:endParaRPr/>
          </a:p>
        </p:txBody>
      </p:sp>
      <p:cxnSp>
        <p:nvCxnSpPr>
          <p:cNvPr id="133" name="Google Shape;133;g409cae8966f_0_11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g409cae8966f_0_11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35" name="Google Shape;135;g409cae8966f_0_11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6" name="Google Shape;136;g409cae8966f_0_111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GPT Fast (2023)</a:t>
            </a:r>
            <a:endParaRPr/>
          </a:p>
        </p:txBody>
      </p:sp>
      <p:sp>
        <p:nvSpPr>
          <p:cNvPr id="137" name="Google Shape;137;g409cae8966f_0_111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Llama-7B on one A100 80GB, batch size 1, GPU power limited to 330 W</a:t>
            </a:r>
            <a:endParaRPr/>
          </a:p>
        </p:txBody>
      </p:sp>
      <p:sp>
        <p:nvSpPr>
          <p:cNvPr id="138" name="Google Shape;138;g409cae8966f_0_111"/>
          <p:cNvSpPr/>
          <p:nvPr/>
        </p:nvSpPr>
        <p:spPr>
          <a:xfrm>
            <a:off x="609600" y="2324100"/>
            <a:ext cx="809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Decoding time per token (ms), lower is better</a:t>
            </a:r>
            <a:endParaRPr/>
          </a:p>
        </p:txBody>
      </p:sp>
      <p:pic>
        <p:nvPicPr>
          <p:cNvPr id="139" name="Google Shape;139;g409cae8966f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409cae8966f_0_111"/>
          <p:cNvSpPr/>
          <p:nvPr/>
        </p:nvSpPr>
        <p:spPr>
          <a:xfrm>
            <a:off x="8915400" y="2828925"/>
            <a:ext cx="2476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endParaRPr/>
          </a:p>
        </p:txBody>
      </p:sp>
      <p:sp>
        <p:nvSpPr>
          <p:cNvPr id="141" name="Google Shape;141;g409cae8966f_0_111"/>
          <p:cNvSpPr/>
          <p:nvPr/>
        </p:nvSpPr>
        <p:spPr>
          <a:xfrm>
            <a:off x="8915400" y="3676650"/>
            <a:ext cx="2476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less decoding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with INT4</a:t>
            </a:r>
            <a:endParaRPr/>
          </a:p>
        </p:txBody>
      </p:sp>
      <p:sp>
        <p:nvSpPr>
          <p:cNvPr id="142" name="Google Shape;142;g409cae8966f_0_111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All three paths use compilation. INT4 also uses calibration and specialized kernels.</a:t>
            </a:r>
            <a:endParaRPr/>
          </a:p>
        </p:txBody>
      </p:sp>
      <p:cxnSp>
        <p:nvCxnSpPr>
          <p:cNvPr id="143" name="Google Shape;143;g409cae8966f_0_111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g409cae8966f_0_111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Lower precision can reduce weight-transfer time when the runtime has efficient kernels.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cae8966f_0_12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151" name="Google Shape;151;g409cae8966f_0_12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FlashAttention reduces prompt latency</a:t>
            </a:r>
            <a:endParaRPr/>
          </a:p>
        </p:txBody>
      </p:sp>
      <p:cxnSp>
        <p:nvCxnSpPr>
          <p:cNvPr id="152" name="Google Shape;152;g409cae8966f_0_12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g409cae8966f_0_12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54" name="Google Shape;154;g409cae8966f_0_12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5" name="Google Shape;155;g409cae8966f_0_129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Published Llama-2-7B timing figure</a:t>
            </a:r>
            <a:endParaRPr/>
          </a:p>
        </p:txBody>
      </p:sp>
      <p:sp>
        <p:nvSpPr>
          <p:cNvPr id="156" name="Google Shape;156;g409cae8966f_0_129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Llama-2-7B on one NVIDIA A100, batch size 1, 4,096 tokens, no padding</a:t>
            </a:r>
            <a:endParaRPr/>
          </a:p>
        </p:txBody>
      </p:sp>
      <p:sp>
        <p:nvSpPr>
          <p:cNvPr id="157" name="Google Shape;157;g409cae8966f_0_129"/>
          <p:cNvSpPr/>
          <p:nvPr/>
        </p:nvSpPr>
        <p:spPr>
          <a:xfrm>
            <a:off x="609600" y="2324100"/>
            <a:ext cx="1047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full-model forward pass (ms), approximate figure readings</a:t>
            </a:r>
            <a:endParaRPr/>
          </a:p>
        </p:txBody>
      </p:sp>
      <p:pic>
        <p:nvPicPr>
          <p:cNvPr id="158" name="Google Shape;158;g409cae8966f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409cae8966f_0_129"/>
          <p:cNvSpPr/>
          <p:nvPr/>
        </p:nvSpPr>
        <p:spPr>
          <a:xfrm>
            <a:off x="8915400" y="2828925"/>
            <a:ext cx="2476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~47%</a:t>
            </a:r>
            <a:endParaRPr/>
          </a:p>
        </p:txBody>
      </p:sp>
      <p:sp>
        <p:nvSpPr>
          <p:cNvPr id="160" name="Google Shape;160;g409cae8966f_0_129"/>
          <p:cNvSpPr/>
          <p:nvPr/>
        </p:nvSpPr>
        <p:spPr>
          <a:xfrm>
            <a:off x="8915400" y="3676650"/>
            <a:ext cx="2476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less time per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forward pass</a:t>
            </a:r>
            <a:endParaRPr/>
          </a:p>
        </p:txBody>
      </p:sp>
      <p:sp>
        <p:nvSpPr>
          <p:cNvPr id="161" name="Google Shape;161;g409cae8966f_0_129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This measures prompt-style computation. It does not include a complete generated answer.</a:t>
            </a:r>
            <a:endParaRPr/>
          </a:p>
        </p:txBody>
      </p:sp>
      <p:cxnSp>
        <p:nvCxnSpPr>
          <p:cNvPr id="162" name="Google Shape;162;g409cae8966f_0_129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g409cae8966f_0_129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FlashAttention reduces attention memory traffic while preserving the attention calculation.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09cae8966f_0_14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170" name="Google Shape;170;g409cae8966f_0_14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PagedAttention helps latency under traffic</a:t>
            </a:r>
            <a:endParaRPr/>
          </a:p>
        </p:txBody>
      </p:sp>
      <p:cxnSp>
        <p:nvCxnSpPr>
          <p:cNvPr id="171" name="Google Shape;171;g409cae8966f_0_14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409cae8966f_0_14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73" name="Google Shape;173;g409cae8966f_0_14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4" name="Google Shape;174;g409cae8966f_0_14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Kwon et al., PagedAttention (2023), Fig. 17</a:t>
            </a:r>
            <a:endParaRPr/>
          </a:p>
        </p:txBody>
      </p:sp>
      <p:sp>
        <p:nvSpPr>
          <p:cNvPr id="175" name="Google Shape;175;g409cae8966f_0_147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OPT-13B on one A100 40GB, ShareGPT chatbot trace, 0.55 requests/s</a:t>
            </a:r>
            <a:endParaRPr/>
          </a:p>
        </p:txBody>
      </p:sp>
      <p:sp>
        <p:nvSpPr>
          <p:cNvPr id="176" name="Google Shape;176;g409cae8966f_0_147"/>
          <p:cNvSpPr/>
          <p:nvPr/>
        </p:nvSpPr>
        <p:spPr>
          <a:xfrm>
            <a:off x="609600" y="23241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Mean of request time / output-token count (ms/token)</a:t>
            </a:r>
            <a:endParaRPr/>
          </a:p>
        </p:txBody>
      </p:sp>
      <p:pic>
        <p:nvPicPr>
          <p:cNvPr id="177" name="Google Shape;177;g409cae8966f_0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409cae8966f_0_147"/>
          <p:cNvSpPr/>
          <p:nvPr/>
        </p:nvSpPr>
        <p:spPr>
          <a:xfrm>
            <a:off x="8915400" y="2828925"/>
            <a:ext cx="2476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~88%</a:t>
            </a:r>
            <a:endParaRPr/>
          </a:p>
        </p:txBody>
      </p:sp>
      <p:sp>
        <p:nvSpPr>
          <p:cNvPr id="179" name="Google Shape;179;g409cae8966f_0_147"/>
          <p:cNvSpPr/>
          <p:nvPr/>
        </p:nvSpPr>
        <p:spPr>
          <a:xfrm>
            <a:off x="8915400" y="3676650"/>
            <a:ext cx="2476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lower normalized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request latency</a:t>
            </a:r>
            <a:endParaRPr/>
          </a:p>
        </p:txBody>
      </p:sp>
      <p:sp>
        <p:nvSpPr>
          <p:cNvPr id="180" name="Google Shape;180;g409cae8966f_0_147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Includes queueing and prompt work. Approximate values from the published curve.</a:t>
            </a:r>
            <a:endParaRPr/>
          </a:p>
        </p:txBody>
      </p:sp>
      <p:cxnSp>
        <p:nvCxnSpPr>
          <p:cNvPr id="181" name="Google Shape;181;g409cae8966f_0_147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g409cae8966f_0_147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Paging allows more live requests to fit. The system’s batching and scheduling also contribute.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9cae8966f_0_16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189" name="Google Shape;189;g409cae8966f_0_16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public service used half as many GPUs</a:t>
            </a:r>
            <a:endParaRPr/>
          </a:p>
        </p:txBody>
      </p:sp>
      <p:cxnSp>
        <p:nvCxnSpPr>
          <p:cNvPr id="190" name="Google Shape;190;g409cae8966f_0_16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g409cae8966f_0_16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92" name="Google Shape;192;g409cae8966f_0_16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93" name="Google Shape;193;g409cae8966f_0_165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FastChat / LMSYS deployment (2023)</a:t>
            </a:r>
            <a:endParaRPr/>
          </a:p>
        </p:txBody>
      </p:sp>
      <p:sp>
        <p:nvSpPr>
          <p:cNvPr id="194" name="Google Shape;194;g409cae8966f_0_165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LMSYS adopted FastChat-vLLM for Vicuna and Chatbot Arena in 2023</a:t>
            </a:r>
            <a:endParaRPr/>
          </a:p>
        </p:txBody>
      </p:sp>
      <p:sp>
        <p:nvSpPr>
          <p:cNvPr id="195" name="Google Shape;195;g409cae8966f_0_165"/>
          <p:cNvSpPr/>
          <p:nvPr/>
        </p:nvSpPr>
        <p:spPr>
          <a:xfrm>
            <a:off x="609600" y="23241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GPU count, indexed to the previous deployment = 100</a:t>
            </a:r>
            <a:endParaRPr/>
          </a:p>
        </p:txBody>
      </p:sp>
      <p:pic>
        <p:nvPicPr>
          <p:cNvPr id="196" name="Google Shape;196;g409cae8966f_0_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571750"/>
            <a:ext cx="74295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409cae8966f_0_165"/>
          <p:cNvSpPr/>
          <p:nvPr/>
        </p:nvSpPr>
        <p:spPr>
          <a:xfrm>
            <a:off x="8648700" y="2676525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30,000</a:t>
            </a:r>
            <a:endParaRPr/>
          </a:p>
        </p:txBody>
      </p:sp>
      <p:sp>
        <p:nvSpPr>
          <p:cNvPr id="198" name="Google Shape;198;g409cae8966f_0_165"/>
          <p:cNvSpPr/>
          <p:nvPr/>
        </p:nvSpPr>
        <p:spPr>
          <a:xfrm>
            <a:off x="8648700" y="3419475"/>
            <a:ext cx="2933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requests per 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 average</a:t>
            </a:r>
            <a:endParaRPr/>
          </a:p>
        </p:txBody>
      </p:sp>
      <p:sp>
        <p:nvSpPr>
          <p:cNvPr id="199" name="Google Shape;199;g409cae8966f_0_165"/>
          <p:cNvSpPr/>
          <p:nvPr/>
        </p:nvSpPr>
        <p:spPr>
          <a:xfrm>
            <a:off x="8648700" y="4314825"/>
            <a:ext cx="2933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60,000</a:t>
            </a:r>
            <a:endParaRPr/>
          </a:p>
        </p:txBody>
      </p:sp>
      <p:sp>
        <p:nvSpPr>
          <p:cNvPr id="200" name="Google Shape;200;g409cae8966f_0_165"/>
          <p:cNvSpPr/>
          <p:nvPr/>
        </p:nvSpPr>
        <p:spPr>
          <a:xfrm>
            <a:off x="8648700" y="4981575"/>
            <a:ext cx="2933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requests on peak days</a:t>
            </a:r>
            <a:endParaRPr/>
          </a:p>
        </p:txBody>
      </p:sp>
      <p:cxnSp>
        <p:nvCxnSpPr>
          <p:cNvPr id="201" name="Google Shape;201;g409cae8966f_0_165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g409cae8966f_0_165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team reported a 50% GPU reduction. Efficient serving changed the hardware requirement.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09cae8966f_0_184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209" name="Google Shape;209;g409cae8966f_0_184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a smaller public-service fleet saves</a:t>
            </a:r>
            <a:endParaRPr/>
          </a:p>
        </p:txBody>
      </p:sp>
      <p:cxnSp>
        <p:nvCxnSpPr>
          <p:cNvPr id="210" name="Google Shape;210;g409cae8966f_0_184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g409cae8966f_0_184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212" name="Google Shape;212;g409cae8966f_0_184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3" name="Google Shape;213;g409cae8966f_0_184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Lambda pricing, checked 10 Sep 2026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FastChat / LMSYS deployment (2023)</a:t>
            </a:r>
            <a:endParaRPr/>
          </a:p>
        </p:txBody>
      </p:sp>
      <p:sp>
        <p:nvSpPr>
          <p:cNvPr id="214" name="Google Shape;214;g409cae8966f_0_184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Planning example: 8 to 4 A100 40GB GPUs, each billed for 720 hours/month</a:t>
            </a:r>
            <a:endParaRPr/>
          </a:p>
        </p:txBody>
      </p:sp>
      <p:sp>
        <p:nvSpPr>
          <p:cNvPr id="215" name="Google Shape;215;g409cae8966f_0_184"/>
          <p:cNvSpPr/>
          <p:nvPr/>
        </p:nvSpPr>
        <p:spPr>
          <a:xfrm>
            <a:off x="609600" y="23241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Monthly GPU rental (USD) at $1.99 per GPU-hour</a:t>
            </a:r>
            <a:endParaRPr/>
          </a:p>
        </p:txBody>
      </p:sp>
      <p:pic>
        <p:nvPicPr>
          <p:cNvPr id="216" name="Google Shape;216;g409cae8966f_0_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409cae8966f_0_184"/>
          <p:cNvSpPr/>
          <p:nvPr/>
        </p:nvSpPr>
        <p:spPr>
          <a:xfrm>
            <a:off x="8801100" y="2828925"/>
            <a:ext cx="27813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75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$5,731</a:t>
            </a:r>
            <a:endParaRPr/>
          </a:p>
        </p:txBody>
      </p:sp>
      <p:sp>
        <p:nvSpPr>
          <p:cNvPr id="218" name="Google Shape;218;g409cae8966f_0_184"/>
          <p:cNvSpPr/>
          <p:nvPr/>
        </p:nvSpPr>
        <p:spPr>
          <a:xfrm>
            <a:off x="8801100" y="3676650"/>
            <a:ext cx="278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saved per month</a:t>
            </a:r>
            <a:endParaRPr/>
          </a:p>
        </p:txBody>
      </p:sp>
      <p:sp>
        <p:nvSpPr>
          <p:cNvPr id="219" name="Google Shape;219;g409cae8966f_0_184"/>
          <p:cNvSpPr/>
          <p:nvPr/>
        </p:nvSpPr>
        <p:spPr>
          <a:xfrm>
            <a:off x="8801100" y="4495800"/>
            <a:ext cx="2781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$68,774 per year</a:t>
            </a:r>
            <a:endParaRPr/>
          </a:p>
        </p:txBody>
      </p:sp>
      <p:sp>
        <p:nvSpPr>
          <p:cNvPr id="220" name="Google Shape;220;g409cae8966f_0_184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Assumption: the optimized fleet handles the same workload and meets the same service target.</a:t>
            </a:r>
            <a:endParaRPr/>
          </a:p>
        </p:txBody>
      </p:sp>
      <p:cxnSp>
        <p:nvCxnSpPr>
          <p:cNvPr id="221" name="Google Shape;221;g409cae8966f_0_184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409cae8966f_0_184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8 × $1.99 × 720 = $11,462/month. Halving billed capacity halves this rental cost.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09cae8966f_0_203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229" name="Google Shape;229;g409cae8966f_0_203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An internal assistant can return answers sooner</a:t>
            </a:r>
            <a:endParaRPr/>
          </a:p>
        </p:txBody>
      </p:sp>
      <p:cxnSp>
        <p:nvCxnSpPr>
          <p:cNvPr id="230" name="Google Shape;230;g409cae8966f_0_20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409cae8966f_0_203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232" name="Google Shape;232;g409cae8966f_0_203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33" name="Google Shape;233;g409cae8966f_0_203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GPT Fast (2023)</a:t>
            </a:r>
            <a:endParaRPr/>
          </a:p>
        </p:txBody>
      </p:sp>
      <p:sp>
        <p:nvSpPr>
          <p:cNvPr id="234" name="Google Shape;234;g409cae8966f_0_203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Example workload: 1,000 employees × 20 answers/day × 22 working days</a:t>
            </a:r>
            <a:endParaRPr/>
          </a:p>
        </p:txBody>
      </p:sp>
      <p:sp>
        <p:nvSpPr>
          <p:cNvPr id="235" name="Google Shape;235;g409cae8966f_0_203"/>
          <p:cNvSpPr/>
          <p:nvPr/>
        </p:nvSpPr>
        <p:spPr>
          <a:xfrm>
            <a:off x="609600" y="23241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Decoding time for a 300-token answer (s), derived from slide 4</a:t>
            </a:r>
            <a:endParaRPr/>
          </a:p>
        </p:txBody>
      </p:sp>
      <p:pic>
        <p:nvPicPr>
          <p:cNvPr id="236" name="Google Shape;236;g409cae8966f_0_2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409cae8966f_0_203"/>
          <p:cNvSpPr/>
          <p:nvPr/>
        </p:nvSpPr>
        <p:spPr>
          <a:xfrm>
            <a:off x="8839200" y="2828925"/>
            <a:ext cx="27432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25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1.32 s</a:t>
            </a:r>
            <a:endParaRPr/>
          </a:p>
        </p:txBody>
      </p:sp>
      <p:sp>
        <p:nvSpPr>
          <p:cNvPr id="238" name="Google Shape;238;g409cae8966f_0_203"/>
          <p:cNvSpPr/>
          <p:nvPr/>
        </p:nvSpPr>
        <p:spPr>
          <a:xfrm>
            <a:off x="8839200" y="3686175"/>
            <a:ext cx="27432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less waiting per answer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with INT4</a:t>
            </a:r>
            <a:endParaRPr/>
          </a:p>
        </p:txBody>
      </p:sp>
      <p:sp>
        <p:nvSpPr>
          <p:cNvPr id="239" name="Google Shape;239;g409cae8966f_0_203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440,000 answers/month = 132 million output tokens.</a:t>
            </a:r>
            <a:endParaRPr/>
          </a:p>
        </p:txBody>
      </p:sp>
      <p:cxnSp>
        <p:nvCxnSpPr>
          <p:cNvPr id="240" name="Google Shape;240;g409cae8966f_0_203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g409cae8966f_0_203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These are decoding-time estimates. Queueing and prompt processing add to the complete response 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09cae8966f_0_22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INFERENCE ECONOMICS</a:t>
            </a:r>
            <a:endParaRPr/>
          </a:p>
        </p:txBody>
      </p:sp>
      <p:sp>
        <p:nvSpPr>
          <p:cNvPr id="248" name="Google Shape;248;g409cae8966f_0_22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Internal usage also accumulates compute cost</a:t>
            </a:r>
            <a:endParaRPr/>
          </a:p>
        </p:txBody>
      </p:sp>
      <p:cxnSp>
        <p:nvCxnSpPr>
          <p:cNvPr id="249" name="Google Shape;249;g409cae8966f_0_22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409cae8966f_0_22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251" name="Google Shape;251;g409cae8966f_0_22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2" name="Google Shape;252;g409cae8966f_0_221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GPT Fast (2023)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Lambda pricing, checked 10 Sep 2026</a:t>
            </a:r>
            <a:endParaRPr/>
          </a:p>
        </p:txBody>
      </p:sp>
      <p:sp>
        <p:nvSpPr>
          <p:cNvPr id="253" name="Google Shape;253;g409cae8966f_0_221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132 million output tokens/month, using the same measured generation rates</a:t>
            </a:r>
            <a:endParaRPr/>
          </a:p>
        </p:txBody>
      </p:sp>
      <p:sp>
        <p:nvSpPr>
          <p:cNvPr id="254" name="Google Shape;254;g409cae8966f_0_221"/>
          <p:cNvSpPr/>
          <p:nvPr/>
        </p:nvSpPr>
        <p:spPr>
          <a:xfrm>
            <a:off x="609600" y="23241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Allocated decoding cost (USD/month) at $2.79 per GPU-hour</a:t>
            </a:r>
            <a:endParaRPr/>
          </a:p>
        </p:txBody>
      </p:sp>
      <p:pic>
        <p:nvPicPr>
          <p:cNvPr id="255" name="Google Shape;255;g409cae8966f_0_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571750"/>
            <a:ext cx="7696200" cy="28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409cae8966f_0_221"/>
          <p:cNvSpPr/>
          <p:nvPr/>
        </p:nvSpPr>
        <p:spPr>
          <a:xfrm>
            <a:off x="8896350" y="2828925"/>
            <a:ext cx="26862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$450</a:t>
            </a:r>
            <a:endParaRPr/>
          </a:p>
        </p:txBody>
      </p:sp>
      <p:sp>
        <p:nvSpPr>
          <p:cNvPr id="257" name="Google Shape;257;g409cae8966f_0_221"/>
          <p:cNvSpPr/>
          <p:nvPr/>
        </p:nvSpPr>
        <p:spPr>
          <a:xfrm>
            <a:off x="8896350" y="3686175"/>
            <a:ext cx="26862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lower monthly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GPU-time allocation</a:t>
            </a:r>
            <a:endParaRPr/>
          </a:p>
        </p:txBody>
      </p:sp>
      <p:sp>
        <p:nvSpPr>
          <p:cNvPr id="258" name="Google Shape;258;g409cae8966f_0_221"/>
          <p:cNvSpPr/>
          <p:nvPr/>
        </p:nvSpPr>
        <p:spPr>
          <a:xfrm>
            <a:off x="609600" y="54673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GPU-hours = output tokens / tokens per second / 3,600. Prefill and idle time are excluded.</a:t>
            </a:r>
            <a:endParaRPr/>
          </a:p>
        </p:txBody>
      </p:sp>
      <p:cxnSp>
        <p:nvCxnSpPr>
          <p:cNvPr id="259" name="Google Shape;259;g409cae8966f_0_221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g409cae8966f_0_221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Lower billed GPU-hours produce cash savings. Idle reserved capacity still costs money.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409cae8966f_0_23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/>
          </a:p>
        </p:txBody>
      </p:sp>
      <p:sp>
        <p:nvSpPr>
          <p:cNvPr id="267" name="Google Shape;267;g409cae8966f_0_23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engineering questions for Lecture 2</a:t>
            </a:r>
            <a:endParaRPr/>
          </a:p>
        </p:txBody>
      </p:sp>
      <p:cxnSp>
        <p:nvCxnSpPr>
          <p:cNvPr id="268" name="Google Shape;268;g409cae8966f_0_23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g409cae8966f_0_23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270" name="Google Shape;270;g409cae8966f_0_23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271" name="Google Shape;271;g409cae8966f_0_239"/>
          <p:cNvGraphicFramePr/>
          <p:nvPr/>
        </p:nvGraphicFramePr>
        <p:xfrm>
          <a:off x="609600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095625"/>
                <a:gridCol w="3219450"/>
                <a:gridCol w="46577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Constraint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Quantization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 bytes and bandwidth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 precision can the task afford?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GQA, MQA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 state per active request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much context can we keep?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Flash + PagedAttention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Attention traffic and allocation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should the engine move and store data?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MoE architecture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work and expert storage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Which parameters run for each token?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Serving systems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Concurrency and queueing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Which configuration meets the latency target?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72" name="Google Shape;272;g409cae8966f_0_239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g409cae8966f_0_239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Success means acceptable task quality, low tail latency and enough sustained throughput for the workload.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a8b1a5d5d_0_1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280" name="Google Shape;280;g3fa8b1a5d5d_0_1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FP32, FP16 and BF16 bit layouts</a:t>
            </a:r>
            <a:endParaRPr/>
          </a:p>
        </p:txBody>
      </p:sp>
      <p:cxnSp>
        <p:nvCxnSpPr>
          <p:cNvPr id="281" name="Google Shape;281;g3fa8b1a5d5d_0_1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g3fa8b1a5d5d_0_1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283" name="Google Shape;283;g3fa8b1a5d5d_0_1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Q02</a:t>
            </a:r>
            <a:endParaRPr/>
          </a:p>
        </p:txBody>
      </p:sp>
      <p:sp>
        <p:nvSpPr>
          <p:cNvPr id="284" name="Google Shape;284;g3fa8b1a5d5d_0_16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reduced-precision formats</a:t>
            </a:r>
            <a:endParaRPr/>
          </a:p>
        </p:txBody>
      </p:sp>
      <p:sp>
        <p:nvSpPr>
          <p:cNvPr id="285" name="Google Shape;285;g3fa8b1a5d5d_0_16"/>
          <p:cNvSpPr/>
          <p:nvPr/>
        </p:nvSpPr>
        <p:spPr>
          <a:xfrm>
            <a:off x="609600" y="167640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Sign sets polarity. Exponent sets range. Fraction sets precision.</a:t>
            </a:r>
            <a:endParaRPr/>
          </a:p>
        </p:txBody>
      </p:sp>
      <p:sp>
        <p:nvSpPr>
          <p:cNvPr id="286" name="Google Shape;286;g3fa8b1a5d5d_0_16"/>
          <p:cNvSpPr/>
          <p:nvPr/>
        </p:nvSpPr>
        <p:spPr>
          <a:xfrm>
            <a:off x="609600" y="2362200"/>
            <a:ext cx="147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FP32</a:t>
            </a:r>
            <a:endParaRPr/>
          </a:p>
        </p:txBody>
      </p:sp>
      <p:sp>
        <p:nvSpPr>
          <p:cNvPr id="287" name="Google Shape;287;g3fa8b1a5d5d_0_16"/>
          <p:cNvSpPr/>
          <p:nvPr/>
        </p:nvSpPr>
        <p:spPr>
          <a:xfrm>
            <a:off x="2209800" y="2295525"/>
            <a:ext cx="266700" cy="4383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a8b1a5d5d_0_16"/>
          <p:cNvSpPr/>
          <p:nvPr/>
        </p:nvSpPr>
        <p:spPr>
          <a:xfrm>
            <a:off x="22098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64C0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89" name="Google Shape;289;g3fa8b1a5d5d_0_16"/>
          <p:cNvSpPr/>
          <p:nvPr/>
        </p:nvSpPr>
        <p:spPr>
          <a:xfrm>
            <a:off x="24765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a8b1a5d5d_0_16"/>
          <p:cNvSpPr/>
          <p:nvPr/>
        </p:nvSpPr>
        <p:spPr>
          <a:xfrm>
            <a:off x="24765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91" name="Google Shape;291;g3fa8b1a5d5d_0_16"/>
          <p:cNvSpPr/>
          <p:nvPr/>
        </p:nvSpPr>
        <p:spPr>
          <a:xfrm>
            <a:off x="27432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a8b1a5d5d_0_16"/>
          <p:cNvSpPr/>
          <p:nvPr/>
        </p:nvSpPr>
        <p:spPr>
          <a:xfrm>
            <a:off x="27432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93" name="Google Shape;293;g3fa8b1a5d5d_0_16"/>
          <p:cNvSpPr/>
          <p:nvPr/>
        </p:nvSpPr>
        <p:spPr>
          <a:xfrm>
            <a:off x="30099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a8b1a5d5d_0_16"/>
          <p:cNvSpPr/>
          <p:nvPr/>
        </p:nvSpPr>
        <p:spPr>
          <a:xfrm>
            <a:off x="30099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95" name="Google Shape;295;g3fa8b1a5d5d_0_16"/>
          <p:cNvSpPr/>
          <p:nvPr/>
        </p:nvSpPr>
        <p:spPr>
          <a:xfrm>
            <a:off x="32766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a8b1a5d5d_0_16"/>
          <p:cNvSpPr/>
          <p:nvPr/>
        </p:nvSpPr>
        <p:spPr>
          <a:xfrm>
            <a:off x="32766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97" name="Google Shape;297;g3fa8b1a5d5d_0_16"/>
          <p:cNvSpPr/>
          <p:nvPr/>
        </p:nvSpPr>
        <p:spPr>
          <a:xfrm>
            <a:off x="35433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a8b1a5d5d_0_16"/>
          <p:cNvSpPr/>
          <p:nvPr/>
        </p:nvSpPr>
        <p:spPr>
          <a:xfrm>
            <a:off x="35433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299" name="Google Shape;299;g3fa8b1a5d5d_0_16"/>
          <p:cNvSpPr/>
          <p:nvPr/>
        </p:nvSpPr>
        <p:spPr>
          <a:xfrm>
            <a:off x="38100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a8b1a5d5d_0_16"/>
          <p:cNvSpPr/>
          <p:nvPr/>
        </p:nvSpPr>
        <p:spPr>
          <a:xfrm>
            <a:off x="38100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01" name="Google Shape;301;g3fa8b1a5d5d_0_16"/>
          <p:cNvSpPr/>
          <p:nvPr/>
        </p:nvSpPr>
        <p:spPr>
          <a:xfrm>
            <a:off x="40767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a8b1a5d5d_0_16"/>
          <p:cNvSpPr/>
          <p:nvPr/>
        </p:nvSpPr>
        <p:spPr>
          <a:xfrm>
            <a:off x="40767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03" name="Google Shape;303;g3fa8b1a5d5d_0_16"/>
          <p:cNvSpPr/>
          <p:nvPr/>
        </p:nvSpPr>
        <p:spPr>
          <a:xfrm>
            <a:off x="4343400" y="229552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a8b1a5d5d_0_16"/>
          <p:cNvSpPr/>
          <p:nvPr/>
        </p:nvSpPr>
        <p:spPr>
          <a:xfrm>
            <a:off x="43434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05" name="Google Shape;305;g3fa8b1a5d5d_0_16"/>
          <p:cNvSpPr/>
          <p:nvPr/>
        </p:nvSpPr>
        <p:spPr>
          <a:xfrm>
            <a:off x="46101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a8b1a5d5d_0_16"/>
          <p:cNvSpPr/>
          <p:nvPr/>
        </p:nvSpPr>
        <p:spPr>
          <a:xfrm>
            <a:off x="46101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07" name="Google Shape;307;g3fa8b1a5d5d_0_16"/>
          <p:cNvSpPr/>
          <p:nvPr/>
        </p:nvSpPr>
        <p:spPr>
          <a:xfrm>
            <a:off x="48768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a8b1a5d5d_0_16"/>
          <p:cNvSpPr/>
          <p:nvPr/>
        </p:nvSpPr>
        <p:spPr>
          <a:xfrm>
            <a:off x="48768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09" name="Google Shape;309;g3fa8b1a5d5d_0_16"/>
          <p:cNvSpPr/>
          <p:nvPr/>
        </p:nvSpPr>
        <p:spPr>
          <a:xfrm>
            <a:off x="51435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a8b1a5d5d_0_16"/>
          <p:cNvSpPr/>
          <p:nvPr/>
        </p:nvSpPr>
        <p:spPr>
          <a:xfrm>
            <a:off x="51435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11" name="Google Shape;311;g3fa8b1a5d5d_0_16"/>
          <p:cNvSpPr/>
          <p:nvPr/>
        </p:nvSpPr>
        <p:spPr>
          <a:xfrm>
            <a:off x="54102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a8b1a5d5d_0_16"/>
          <p:cNvSpPr/>
          <p:nvPr/>
        </p:nvSpPr>
        <p:spPr>
          <a:xfrm>
            <a:off x="54102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13" name="Google Shape;313;g3fa8b1a5d5d_0_16"/>
          <p:cNvSpPr/>
          <p:nvPr/>
        </p:nvSpPr>
        <p:spPr>
          <a:xfrm>
            <a:off x="56769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a8b1a5d5d_0_16"/>
          <p:cNvSpPr/>
          <p:nvPr/>
        </p:nvSpPr>
        <p:spPr>
          <a:xfrm>
            <a:off x="56769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15" name="Google Shape;315;g3fa8b1a5d5d_0_16"/>
          <p:cNvSpPr/>
          <p:nvPr/>
        </p:nvSpPr>
        <p:spPr>
          <a:xfrm>
            <a:off x="59436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a8b1a5d5d_0_16"/>
          <p:cNvSpPr/>
          <p:nvPr/>
        </p:nvSpPr>
        <p:spPr>
          <a:xfrm>
            <a:off x="59436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17" name="Google Shape;317;g3fa8b1a5d5d_0_16"/>
          <p:cNvSpPr/>
          <p:nvPr/>
        </p:nvSpPr>
        <p:spPr>
          <a:xfrm>
            <a:off x="62103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a8b1a5d5d_0_16"/>
          <p:cNvSpPr/>
          <p:nvPr/>
        </p:nvSpPr>
        <p:spPr>
          <a:xfrm>
            <a:off x="62103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19" name="Google Shape;319;g3fa8b1a5d5d_0_16"/>
          <p:cNvSpPr/>
          <p:nvPr/>
        </p:nvSpPr>
        <p:spPr>
          <a:xfrm>
            <a:off x="64770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a8b1a5d5d_0_16"/>
          <p:cNvSpPr/>
          <p:nvPr/>
        </p:nvSpPr>
        <p:spPr>
          <a:xfrm>
            <a:off x="64770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1" name="Google Shape;321;g3fa8b1a5d5d_0_16"/>
          <p:cNvSpPr/>
          <p:nvPr/>
        </p:nvSpPr>
        <p:spPr>
          <a:xfrm>
            <a:off x="67437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a8b1a5d5d_0_16"/>
          <p:cNvSpPr/>
          <p:nvPr/>
        </p:nvSpPr>
        <p:spPr>
          <a:xfrm>
            <a:off x="67437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3" name="Google Shape;323;g3fa8b1a5d5d_0_16"/>
          <p:cNvSpPr/>
          <p:nvPr/>
        </p:nvSpPr>
        <p:spPr>
          <a:xfrm>
            <a:off x="70104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a8b1a5d5d_0_16"/>
          <p:cNvSpPr/>
          <p:nvPr/>
        </p:nvSpPr>
        <p:spPr>
          <a:xfrm>
            <a:off x="70104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5" name="Google Shape;325;g3fa8b1a5d5d_0_16"/>
          <p:cNvSpPr/>
          <p:nvPr/>
        </p:nvSpPr>
        <p:spPr>
          <a:xfrm>
            <a:off x="72771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a8b1a5d5d_0_16"/>
          <p:cNvSpPr/>
          <p:nvPr/>
        </p:nvSpPr>
        <p:spPr>
          <a:xfrm>
            <a:off x="72771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7" name="Google Shape;327;g3fa8b1a5d5d_0_16"/>
          <p:cNvSpPr/>
          <p:nvPr/>
        </p:nvSpPr>
        <p:spPr>
          <a:xfrm>
            <a:off x="75438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a8b1a5d5d_0_16"/>
          <p:cNvSpPr/>
          <p:nvPr/>
        </p:nvSpPr>
        <p:spPr>
          <a:xfrm>
            <a:off x="75438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9" name="Google Shape;329;g3fa8b1a5d5d_0_16"/>
          <p:cNvSpPr/>
          <p:nvPr/>
        </p:nvSpPr>
        <p:spPr>
          <a:xfrm>
            <a:off x="78105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a8b1a5d5d_0_16"/>
          <p:cNvSpPr/>
          <p:nvPr/>
        </p:nvSpPr>
        <p:spPr>
          <a:xfrm>
            <a:off x="78105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1" name="Google Shape;331;g3fa8b1a5d5d_0_16"/>
          <p:cNvSpPr/>
          <p:nvPr/>
        </p:nvSpPr>
        <p:spPr>
          <a:xfrm>
            <a:off x="80772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a8b1a5d5d_0_16"/>
          <p:cNvSpPr/>
          <p:nvPr/>
        </p:nvSpPr>
        <p:spPr>
          <a:xfrm>
            <a:off x="80772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3" name="Google Shape;333;g3fa8b1a5d5d_0_16"/>
          <p:cNvSpPr/>
          <p:nvPr/>
        </p:nvSpPr>
        <p:spPr>
          <a:xfrm>
            <a:off x="83439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a8b1a5d5d_0_16"/>
          <p:cNvSpPr/>
          <p:nvPr/>
        </p:nvSpPr>
        <p:spPr>
          <a:xfrm>
            <a:off x="83439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5" name="Google Shape;335;g3fa8b1a5d5d_0_16"/>
          <p:cNvSpPr/>
          <p:nvPr/>
        </p:nvSpPr>
        <p:spPr>
          <a:xfrm>
            <a:off x="86106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a8b1a5d5d_0_16"/>
          <p:cNvSpPr/>
          <p:nvPr/>
        </p:nvSpPr>
        <p:spPr>
          <a:xfrm>
            <a:off x="86106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7" name="Google Shape;337;g3fa8b1a5d5d_0_16"/>
          <p:cNvSpPr/>
          <p:nvPr/>
        </p:nvSpPr>
        <p:spPr>
          <a:xfrm>
            <a:off x="88773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a8b1a5d5d_0_16"/>
          <p:cNvSpPr/>
          <p:nvPr/>
        </p:nvSpPr>
        <p:spPr>
          <a:xfrm>
            <a:off x="88773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9" name="Google Shape;339;g3fa8b1a5d5d_0_16"/>
          <p:cNvSpPr/>
          <p:nvPr/>
        </p:nvSpPr>
        <p:spPr>
          <a:xfrm>
            <a:off x="91440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a8b1a5d5d_0_16"/>
          <p:cNvSpPr/>
          <p:nvPr/>
        </p:nvSpPr>
        <p:spPr>
          <a:xfrm>
            <a:off x="91440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41" name="Google Shape;341;g3fa8b1a5d5d_0_16"/>
          <p:cNvSpPr/>
          <p:nvPr/>
        </p:nvSpPr>
        <p:spPr>
          <a:xfrm>
            <a:off x="94107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a8b1a5d5d_0_16"/>
          <p:cNvSpPr/>
          <p:nvPr/>
        </p:nvSpPr>
        <p:spPr>
          <a:xfrm>
            <a:off x="94107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43" name="Google Shape;343;g3fa8b1a5d5d_0_16"/>
          <p:cNvSpPr/>
          <p:nvPr/>
        </p:nvSpPr>
        <p:spPr>
          <a:xfrm>
            <a:off x="96774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a8b1a5d5d_0_16"/>
          <p:cNvSpPr/>
          <p:nvPr/>
        </p:nvSpPr>
        <p:spPr>
          <a:xfrm>
            <a:off x="96774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45" name="Google Shape;345;g3fa8b1a5d5d_0_16"/>
          <p:cNvSpPr/>
          <p:nvPr/>
        </p:nvSpPr>
        <p:spPr>
          <a:xfrm>
            <a:off x="99441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a8b1a5d5d_0_16"/>
          <p:cNvSpPr/>
          <p:nvPr/>
        </p:nvSpPr>
        <p:spPr>
          <a:xfrm>
            <a:off x="99441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47" name="Google Shape;347;g3fa8b1a5d5d_0_16"/>
          <p:cNvSpPr/>
          <p:nvPr/>
        </p:nvSpPr>
        <p:spPr>
          <a:xfrm>
            <a:off x="102108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a8b1a5d5d_0_16"/>
          <p:cNvSpPr/>
          <p:nvPr/>
        </p:nvSpPr>
        <p:spPr>
          <a:xfrm>
            <a:off x="102108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49" name="Google Shape;349;g3fa8b1a5d5d_0_16"/>
          <p:cNvSpPr/>
          <p:nvPr/>
        </p:nvSpPr>
        <p:spPr>
          <a:xfrm>
            <a:off x="10477500" y="229552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a8b1a5d5d_0_16"/>
          <p:cNvSpPr/>
          <p:nvPr/>
        </p:nvSpPr>
        <p:spPr>
          <a:xfrm>
            <a:off x="10477500" y="237172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51" name="Google Shape;351;g3fa8b1a5d5d_0_16"/>
          <p:cNvSpPr/>
          <p:nvPr/>
        </p:nvSpPr>
        <p:spPr>
          <a:xfrm>
            <a:off x="2209800" y="2838450"/>
            <a:ext cx="866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32 bits = 1 sign + 8 exponent + 23 fraction</a:t>
            </a:r>
            <a:endParaRPr/>
          </a:p>
        </p:txBody>
      </p:sp>
      <p:sp>
        <p:nvSpPr>
          <p:cNvPr id="352" name="Google Shape;352;g3fa8b1a5d5d_0_16"/>
          <p:cNvSpPr/>
          <p:nvPr/>
        </p:nvSpPr>
        <p:spPr>
          <a:xfrm>
            <a:off x="609600" y="3495675"/>
            <a:ext cx="147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FP16</a:t>
            </a:r>
            <a:endParaRPr/>
          </a:p>
        </p:txBody>
      </p:sp>
      <p:sp>
        <p:nvSpPr>
          <p:cNvPr id="353" name="Google Shape;353;g3fa8b1a5d5d_0_16"/>
          <p:cNvSpPr/>
          <p:nvPr/>
        </p:nvSpPr>
        <p:spPr>
          <a:xfrm>
            <a:off x="2209800" y="3429000"/>
            <a:ext cx="266700" cy="4383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a8b1a5d5d_0_16"/>
          <p:cNvSpPr/>
          <p:nvPr/>
        </p:nvSpPr>
        <p:spPr>
          <a:xfrm>
            <a:off x="22098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64C0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355" name="Google Shape;355;g3fa8b1a5d5d_0_16"/>
          <p:cNvSpPr/>
          <p:nvPr/>
        </p:nvSpPr>
        <p:spPr>
          <a:xfrm>
            <a:off x="2476500" y="3429000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a8b1a5d5d_0_16"/>
          <p:cNvSpPr/>
          <p:nvPr/>
        </p:nvSpPr>
        <p:spPr>
          <a:xfrm>
            <a:off x="24765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57" name="Google Shape;357;g3fa8b1a5d5d_0_16"/>
          <p:cNvSpPr/>
          <p:nvPr/>
        </p:nvSpPr>
        <p:spPr>
          <a:xfrm>
            <a:off x="2743200" y="3429000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a8b1a5d5d_0_16"/>
          <p:cNvSpPr/>
          <p:nvPr/>
        </p:nvSpPr>
        <p:spPr>
          <a:xfrm>
            <a:off x="27432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59" name="Google Shape;359;g3fa8b1a5d5d_0_16"/>
          <p:cNvSpPr/>
          <p:nvPr/>
        </p:nvSpPr>
        <p:spPr>
          <a:xfrm>
            <a:off x="3009900" y="3429000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a8b1a5d5d_0_16"/>
          <p:cNvSpPr/>
          <p:nvPr/>
        </p:nvSpPr>
        <p:spPr>
          <a:xfrm>
            <a:off x="30099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61" name="Google Shape;361;g3fa8b1a5d5d_0_16"/>
          <p:cNvSpPr/>
          <p:nvPr/>
        </p:nvSpPr>
        <p:spPr>
          <a:xfrm>
            <a:off x="3276600" y="3429000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a8b1a5d5d_0_16"/>
          <p:cNvSpPr/>
          <p:nvPr/>
        </p:nvSpPr>
        <p:spPr>
          <a:xfrm>
            <a:off x="32766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63" name="Google Shape;363;g3fa8b1a5d5d_0_16"/>
          <p:cNvSpPr/>
          <p:nvPr/>
        </p:nvSpPr>
        <p:spPr>
          <a:xfrm>
            <a:off x="3543300" y="3429000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a8b1a5d5d_0_16"/>
          <p:cNvSpPr/>
          <p:nvPr/>
        </p:nvSpPr>
        <p:spPr>
          <a:xfrm>
            <a:off x="35433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65" name="Google Shape;365;g3fa8b1a5d5d_0_16"/>
          <p:cNvSpPr/>
          <p:nvPr/>
        </p:nvSpPr>
        <p:spPr>
          <a:xfrm>
            <a:off x="38100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a8b1a5d5d_0_16"/>
          <p:cNvSpPr/>
          <p:nvPr/>
        </p:nvSpPr>
        <p:spPr>
          <a:xfrm>
            <a:off x="38100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67" name="Google Shape;367;g3fa8b1a5d5d_0_16"/>
          <p:cNvSpPr/>
          <p:nvPr/>
        </p:nvSpPr>
        <p:spPr>
          <a:xfrm>
            <a:off x="40767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a8b1a5d5d_0_16"/>
          <p:cNvSpPr/>
          <p:nvPr/>
        </p:nvSpPr>
        <p:spPr>
          <a:xfrm>
            <a:off x="40767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69" name="Google Shape;369;g3fa8b1a5d5d_0_16"/>
          <p:cNvSpPr/>
          <p:nvPr/>
        </p:nvSpPr>
        <p:spPr>
          <a:xfrm>
            <a:off x="43434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a8b1a5d5d_0_16"/>
          <p:cNvSpPr/>
          <p:nvPr/>
        </p:nvSpPr>
        <p:spPr>
          <a:xfrm>
            <a:off x="43434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71" name="Google Shape;371;g3fa8b1a5d5d_0_16"/>
          <p:cNvSpPr/>
          <p:nvPr/>
        </p:nvSpPr>
        <p:spPr>
          <a:xfrm>
            <a:off x="46101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a8b1a5d5d_0_16"/>
          <p:cNvSpPr/>
          <p:nvPr/>
        </p:nvSpPr>
        <p:spPr>
          <a:xfrm>
            <a:off x="46101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73" name="Google Shape;373;g3fa8b1a5d5d_0_16"/>
          <p:cNvSpPr/>
          <p:nvPr/>
        </p:nvSpPr>
        <p:spPr>
          <a:xfrm>
            <a:off x="48768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a8b1a5d5d_0_16"/>
          <p:cNvSpPr/>
          <p:nvPr/>
        </p:nvSpPr>
        <p:spPr>
          <a:xfrm>
            <a:off x="48768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75" name="Google Shape;375;g3fa8b1a5d5d_0_16"/>
          <p:cNvSpPr/>
          <p:nvPr/>
        </p:nvSpPr>
        <p:spPr>
          <a:xfrm>
            <a:off x="51435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a8b1a5d5d_0_16"/>
          <p:cNvSpPr/>
          <p:nvPr/>
        </p:nvSpPr>
        <p:spPr>
          <a:xfrm>
            <a:off x="51435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77" name="Google Shape;377;g3fa8b1a5d5d_0_16"/>
          <p:cNvSpPr/>
          <p:nvPr/>
        </p:nvSpPr>
        <p:spPr>
          <a:xfrm>
            <a:off x="54102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a8b1a5d5d_0_16"/>
          <p:cNvSpPr/>
          <p:nvPr/>
        </p:nvSpPr>
        <p:spPr>
          <a:xfrm>
            <a:off x="54102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79" name="Google Shape;379;g3fa8b1a5d5d_0_16"/>
          <p:cNvSpPr/>
          <p:nvPr/>
        </p:nvSpPr>
        <p:spPr>
          <a:xfrm>
            <a:off x="56769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a8b1a5d5d_0_16"/>
          <p:cNvSpPr/>
          <p:nvPr/>
        </p:nvSpPr>
        <p:spPr>
          <a:xfrm>
            <a:off x="56769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81" name="Google Shape;381;g3fa8b1a5d5d_0_16"/>
          <p:cNvSpPr/>
          <p:nvPr/>
        </p:nvSpPr>
        <p:spPr>
          <a:xfrm>
            <a:off x="59436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a8b1a5d5d_0_16"/>
          <p:cNvSpPr/>
          <p:nvPr/>
        </p:nvSpPr>
        <p:spPr>
          <a:xfrm>
            <a:off x="59436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83" name="Google Shape;383;g3fa8b1a5d5d_0_16"/>
          <p:cNvSpPr/>
          <p:nvPr/>
        </p:nvSpPr>
        <p:spPr>
          <a:xfrm>
            <a:off x="6210300" y="3429000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a8b1a5d5d_0_16"/>
          <p:cNvSpPr/>
          <p:nvPr/>
        </p:nvSpPr>
        <p:spPr>
          <a:xfrm>
            <a:off x="6210300" y="3505200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85" name="Google Shape;385;g3fa8b1a5d5d_0_16"/>
          <p:cNvSpPr/>
          <p:nvPr/>
        </p:nvSpPr>
        <p:spPr>
          <a:xfrm>
            <a:off x="2209800" y="3971925"/>
            <a:ext cx="866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16 bits = 1 sign + 5 exponent + 10 fraction</a:t>
            </a:r>
            <a:endParaRPr/>
          </a:p>
        </p:txBody>
      </p:sp>
      <p:sp>
        <p:nvSpPr>
          <p:cNvPr id="386" name="Google Shape;386;g3fa8b1a5d5d_0_16"/>
          <p:cNvSpPr/>
          <p:nvPr/>
        </p:nvSpPr>
        <p:spPr>
          <a:xfrm>
            <a:off x="7181850" y="3514725"/>
            <a:ext cx="4400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More fraction bits than BF16</a:t>
            </a:r>
            <a:endParaRPr/>
          </a:p>
        </p:txBody>
      </p:sp>
      <p:sp>
        <p:nvSpPr>
          <p:cNvPr id="387" name="Google Shape;387;g3fa8b1a5d5d_0_16"/>
          <p:cNvSpPr/>
          <p:nvPr/>
        </p:nvSpPr>
        <p:spPr>
          <a:xfrm>
            <a:off x="609600" y="4629150"/>
            <a:ext cx="147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BF16</a:t>
            </a:r>
            <a:endParaRPr/>
          </a:p>
        </p:txBody>
      </p:sp>
      <p:sp>
        <p:nvSpPr>
          <p:cNvPr id="388" name="Google Shape;388;g3fa8b1a5d5d_0_16"/>
          <p:cNvSpPr/>
          <p:nvPr/>
        </p:nvSpPr>
        <p:spPr>
          <a:xfrm>
            <a:off x="2209800" y="4562475"/>
            <a:ext cx="266700" cy="4383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a8b1a5d5d_0_16"/>
          <p:cNvSpPr/>
          <p:nvPr/>
        </p:nvSpPr>
        <p:spPr>
          <a:xfrm>
            <a:off x="22098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A64C0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390" name="Google Shape;390;g3fa8b1a5d5d_0_16"/>
          <p:cNvSpPr/>
          <p:nvPr/>
        </p:nvSpPr>
        <p:spPr>
          <a:xfrm>
            <a:off x="24765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a8b1a5d5d_0_16"/>
          <p:cNvSpPr/>
          <p:nvPr/>
        </p:nvSpPr>
        <p:spPr>
          <a:xfrm>
            <a:off x="24765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92" name="Google Shape;392;g3fa8b1a5d5d_0_16"/>
          <p:cNvSpPr/>
          <p:nvPr/>
        </p:nvSpPr>
        <p:spPr>
          <a:xfrm>
            <a:off x="27432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a8b1a5d5d_0_16"/>
          <p:cNvSpPr/>
          <p:nvPr/>
        </p:nvSpPr>
        <p:spPr>
          <a:xfrm>
            <a:off x="27432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94" name="Google Shape;394;g3fa8b1a5d5d_0_16"/>
          <p:cNvSpPr/>
          <p:nvPr/>
        </p:nvSpPr>
        <p:spPr>
          <a:xfrm>
            <a:off x="30099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a8b1a5d5d_0_16"/>
          <p:cNvSpPr/>
          <p:nvPr/>
        </p:nvSpPr>
        <p:spPr>
          <a:xfrm>
            <a:off x="30099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96" name="Google Shape;396;g3fa8b1a5d5d_0_16"/>
          <p:cNvSpPr/>
          <p:nvPr/>
        </p:nvSpPr>
        <p:spPr>
          <a:xfrm>
            <a:off x="32766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a8b1a5d5d_0_16"/>
          <p:cNvSpPr/>
          <p:nvPr/>
        </p:nvSpPr>
        <p:spPr>
          <a:xfrm>
            <a:off x="32766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98" name="Google Shape;398;g3fa8b1a5d5d_0_16"/>
          <p:cNvSpPr/>
          <p:nvPr/>
        </p:nvSpPr>
        <p:spPr>
          <a:xfrm>
            <a:off x="35433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a8b1a5d5d_0_16"/>
          <p:cNvSpPr/>
          <p:nvPr/>
        </p:nvSpPr>
        <p:spPr>
          <a:xfrm>
            <a:off x="35433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400" name="Google Shape;400;g3fa8b1a5d5d_0_16"/>
          <p:cNvSpPr/>
          <p:nvPr/>
        </p:nvSpPr>
        <p:spPr>
          <a:xfrm>
            <a:off x="38100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a8b1a5d5d_0_16"/>
          <p:cNvSpPr/>
          <p:nvPr/>
        </p:nvSpPr>
        <p:spPr>
          <a:xfrm>
            <a:off x="38100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402" name="Google Shape;402;g3fa8b1a5d5d_0_16"/>
          <p:cNvSpPr/>
          <p:nvPr/>
        </p:nvSpPr>
        <p:spPr>
          <a:xfrm>
            <a:off x="40767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a8b1a5d5d_0_16"/>
          <p:cNvSpPr/>
          <p:nvPr/>
        </p:nvSpPr>
        <p:spPr>
          <a:xfrm>
            <a:off x="40767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404" name="Google Shape;404;g3fa8b1a5d5d_0_16"/>
          <p:cNvSpPr/>
          <p:nvPr/>
        </p:nvSpPr>
        <p:spPr>
          <a:xfrm>
            <a:off x="4343400" y="4562475"/>
            <a:ext cx="266700" cy="4383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a8b1a5d5d_0_16"/>
          <p:cNvSpPr/>
          <p:nvPr/>
        </p:nvSpPr>
        <p:spPr>
          <a:xfrm>
            <a:off x="43434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406" name="Google Shape;406;g3fa8b1a5d5d_0_16"/>
          <p:cNvSpPr/>
          <p:nvPr/>
        </p:nvSpPr>
        <p:spPr>
          <a:xfrm>
            <a:off x="46101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a8b1a5d5d_0_16"/>
          <p:cNvSpPr/>
          <p:nvPr/>
        </p:nvSpPr>
        <p:spPr>
          <a:xfrm>
            <a:off x="46101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08" name="Google Shape;408;g3fa8b1a5d5d_0_16"/>
          <p:cNvSpPr/>
          <p:nvPr/>
        </p:nvSpPr>
        <p:spPr>
          <a:xfrm>
            <a:off x="48768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a8b1a5d5d_0_16"/>
          <p:cNvSpPr/>
          <p:nvPr/>
        </p:nvSpPr>
        <p:spPr>
          <a:xfrm>
            <a:off x="48768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0" name="Google Shape;410;g3fa8b1a5d5d_0_16"/>
          <p:cNvSpPr/>
          <p:nvPr/>
        </p:nvSpPr>
        <p:spPr>
          <a:xfrm>
            <a:off x="51435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a8b1a5d5d_0_16"/>
          <p:cNvSpPr/>
          <p:nvPr/>
        </p:nvSpPr>
        <p:spPr>
          <a:xfrm>
            <a:off x="51435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2" name="Google Shape;412;g3fa8b1a5d5d_0_16"/>
          <p:cNvSpPr/>
          <p:nvPr/>
        </p:nvSpPr>
        <p:spPr>
          <a:xfrm>
            <a:off x="54102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a8b1a5d5d_0_16"/>
          <p:cNvSpPr/>
          <p:nvPr/>
        </p:nvSpPr>
        <p:spPr>
          <a:xfrm>
            <a:off x="54102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4" name="Google Shape;414;g3fa8b1a5d5d_0_16"/>
          <p:cNvSpPr/>
          <p:nvPr/>
        </p:nvSpPr>
        <p:spPr>
          <a:xfrm>
            <a:off x="56769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a8b1a5d5d_0_16"/>
          <p:cNvSpPr/>
          <p:nvPr/>
        </p:nvSpPr>
        <p:spPr>
          <a:xfrm>
            <a:off x="56769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6" name="Google Shape;416;g3fa8b1a5d5d_0_16"/>
          <p:cNvSpPr/>
          <p:nvPr/>
        </p:nvSpPr>
        <p:spPr>
          <a:xfrm>
            <a:off x="59436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fa8b1a5d5d_0_16"/>
          <p:cNvSpPr/>
          <p:nvPr/>
        </p:nvSpPr>
        <p:spPr>
          <a:xfrm>
            <a:off x="59436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8" name="Google Shape;418;g3fa8b1a5d5d_0_16"/>
          <p:cNvSpPr/>
          <p:nvPr/>
        </p:nvSpPr>
        <p:spPr>
          <a:xfrm>
            <a:off x="6210300" y="4562475"/>
            <a:ext cx="266700" cy="438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a8b1a5d5d_0_16"/>
          <p:cNvSpPr/>
          <p:nvPr/>
        </p:nvSpPr>
        <p:spPr>
          <a:xfrm>
            <a:off x="6210300" y="4638675"/>
            <a:ext cx="26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16D4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20" name="Google Shape;420;g3fa8b1a5d5d_0_16"/>
          <p:cNvSpPr/>
          <p:nvPr/>
        </p:nvSpPr>
        <p:spPr>
          <a:xfrm>
            <a:off x="2209800" y="5105400"/>
            <a:ext cx="866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16 bits = 1 sign + 8 exponent + 7 fraction</a:t>
            </a:r>
            <a:endParaRPr/>
          </a:p>
        </p:txBody>
      </p:sp>
      <p:sp>
        <p:nvSpPr>
          <p:cNvPr id="421" name="Google Shape;421;g3fa8b1a5d5d_0_16"/>
          <p:cNvSpPr/>
          <p:nvPr/>
        </p:nvSpPr>
        <p:spPr>
          <a:xfrm>
            <a:off x="7181850" y="4648200"/>
            <a:ext cx="4400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Same exponent width as FP32</a:t>
            </a:r>
            <a:endParaRPr/>
          </a:p>
        </p:txBody>
      </p:sp>
      <p:cxnSp>
        <p:nvCxnSpPr>
          <p:cNvPr id="422" name="Google Shape;422;g3fa8b1a5d5d_0_1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g3fa8b1a5d5d_0_1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Both 16-bit formats halve FP32 storage. BF16 keeps a wider range, while FP16 keeps finer precision.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aa24993c0_0_11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 sz="1800"/>
          </a:p>
        </p:txBody>
      </p:sp>
      <p:sp>
        <p:nvSpPr>
          <p:cNvPr id="430" name="Google Shape;430;g3faa24993c0_0_11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How computers store floating-point numbers</a:t>
            </a:r>
            <a:endParaRPr sz="1800"/>
          </a:p>
        </p:txBody>
      </p:sp>
      <p:cxnSp>
        <p:nvCxnSpPr>
          <p:cNvPr id="431" name="Google Shape;431;g3faa24993c0_0_11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g3faa24993c0_0_11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 sz="1800"/>
          </a:p>
        </p:txBody>
      </p:sp>
      <p:sp>
        <p:nvSpPr>
          <p:cNvPr id="433" name="Google Shape;433;g3faa24993c0_0_11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800"/>
          </a:p>
        </p:txBody>
      </p:sp>
      <p:sp>
        <p:nvSpPr>
          <p:cNvPr id="434" name="Google Shape;434;g3faa24993c0_0_111"/>
          <p:cNvSpPr/>
          <p:nvPr/>
        </p:nvSpPr>
        <p:spPr>
          <a:xfrm>
            <a:off x="609600" y="166687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same value in FP32 and BF16     x = 6.5078125</a:t>
            </a:r>
            <a:endParaRPr/>
          </a:p>
        </p:txBody>
      </p:sp>
      <p:sp>
        <p:nvSpPr>
          <p:cNvPr id="435" name="Google Shape;435;g3faa24993c0_0_111"/>
          <p:cNvSpPr/>
          <p:nvPr/>
        </p:nvSpPr>
        <p:spPr>
          <a:xfrm>
            <a:off x="609600" y="2152650"/>
            <a:ext cx="10972800" cy="752400"/>
          </a:xfrm>
          <a:prstGeom prst="rect">
            <a:avLst/>
          </a:prstGeom>
          <a:solidFill>
            <a:srgbClr val="EA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6" name="Google Shape;436;g3faa24993c0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52650"/>
            <a:ext cx="10972799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aa24993c0_0_111"/>
          <p:cNvSpPr/>
          <p:nvPr/>
        </p:nvSpPr>
        <p:spPr>
          <a:xfrm>
            <a:off x="609600" y="3009900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 = sign, E = stored exponent, B = bias, F = fraction as an integer, m = fraction bits</a:t>
            </a:r>
            <a:endParaRPr/>
          </a:p>
        </p:txBody>
      </p:sp>
      <p:graphicFrame>
        <p:nvGraphicFramePr>
          <p:cNvPr id="438" name="Google Shape;438;g3faa24993c0_0_111"/>
          <p:cNvGraphicFramePr/>
          <p:nvPr/>
        </p:nvGraphicFramePr>
        <p:xfrm>
          <a:off x="609600" y="35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1352550"/>
                <a:gridCol w="742950"/>
                <a:gridCol w="1724025"/>
                <a:gridCol w="4610100"/>
                <a:gridCol w="2543175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Fraction bits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Stored value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10000001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10100000100000000000000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6.5078125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BF16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10000001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g3faa24993c0_0_111"/>
          <p:cNvSpPr/>
          <p:nvPr/>
        </p:nvSpPr>
        <p:spPr>
          <a:xfrm>
            <a:off x="609600" y="5219700"/>
            <a:ext cx="10972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FP32: m = 23, F = 5,259,264      BF16: m = 7, F = 80      Both: E = 129, B = 127</a:t>
            </a:r>
            <a:endParaRPr/>
          </a:p>
        </p:txBody>
      </p:sp>
      <p:pic>
        <p:nvPicPr>
          <p:cNvPr id="440" name="Google Shape;440;g3faa24993c0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5495925"/>
            <a:ext cx="109728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faa24993c0_0_111"/>
          <p:cNvSpPr/>
          <p:nvPr/>
        </p:nvSpPr>
        <p:spPr>
          <a:xfrm>
            <a:off x="609600" y="6010275"/>
            <a:ext cx="10972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BF16 stores 6.5. Absolute error = 0.0078125, or about 0.12% of the original value.</a:t>
            </a:r>
            <a:endParaRPr/>
          </a:p>
        </p:txBody>
      </p:sp>
      <p:sp>
        <p:nvSpPr>
          <p:cNvPr id="442" name="Google Shape;442;g3faa24993c0_0_111"/>
          <p:cNvSpPr/>
          <p:nvPr/>
        </p:nvSpPr>
        <p:spPr>
          <a:xfrm>
            <a:off x="609600" y="6486525"/>
            <a:ext cx="10972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Round to nearest. FP16 represents this particular value exactly. Formula applies to normal finite values. Source: NVIDIA, Floating Point and IEEE 754.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a8b1a5d5d_0_18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449" name="Google Shape;449;g3fa8b1a5d5d_0_18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Quantization formula and parameter selection</a:t>
            </a:r>
            <a:endParaRPr/>
          </a:p>
        </p:txBody>
      </p:sp>
      <p:cxnSp>
        <p:nvCxnSpPr>
          <p:cNvPr id="450" name="Google Shape;450;g3fa8b1a5d5d_0_18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g3fa8b1a5d5d_0_18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452" name="Google Shape;452;g3fa8b1a5d5d_0_18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Q04</a:t>
            </a:r>
            <a:endParaRPr/>
          </a:p>
        </p:txBody>
      </p:sp>
      <p:sp>
        <p:nvSpPr>
          <p:cNvPr id="453" name="Google Shape;453;g3fa8b1a5d5d_0_185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Practical Quantization</a:t>
            </a:r>
            <a:endParaRPr/>
          </a:p>
        </p:txBody>
      </p:sp>
      <p:sp>
        <p:nvSpPr>
          <p:cNvPr id="454" name="Google Shape;454;g3fa8b1a5d5d_0_185"/>
          <p:cNvSpPr/>
          <p:nvPr/>
        </p:nvSpPr>
        <p:spPr>
          <a:xfrm>
            <a:off x="609600" y="1695450"/>
            <a:ext cx="10972800" cy="7431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EA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 = clip(round(x / s) + z, qmin, qmax)     x̂ = s × (q − z)</a:t>
            </a:r>
            <a:endParaRPr/>
          </a:p>
        </p:txBody>
      </p:sp>
      <p:sp>
        <p:nvSpPr>
          <p:cNvPr id="455" name="Google Shape;455;g3fa8b1a5d5d_0_185"/>
          <p:cNvSpPr/>
          <p:nvPr/>
        </p:nvSpPr>
        <p:spPr>
          <a:xfrm>
            <a:off x="609600" y="2590800"/>
            <a:ext cx="10972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 &gt; 0 is the step size.  z is the integer code for zero.  x̂ approximates x.</a:t>
            </a:r>
            <a:endParaRPr/>
          </a:p>
        </p:txBody>
      </p:sp>
      <p:sp>
        <p:nvSpPr>
          <p:cNvPr id="456" name="Google Shape;456;g3fa8b1a5d5d_0_185"/>
          <p:cNvSpPr/>
          <p:nvPr/>
        </p:nvSpPr>
        <p:spPr>
          <a:xfrm>
            <a:off x="609600" y="3143250"/>
            <a:ext cx="5324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1  Choose bit width and integer range</a:t>
            </a:r>
            <a:endParaRPr/>
          </a:p>
        </p:txBody>
      </p:sp>
      <p:sp>
        <p:nvSpPr>
          <p:cNvPr id="457" name="Google Shape;457;g3fa8b1a5d5d_0_185"/>
          <p:cNvSpPr/>
          <p:nvPr/>
        </p:nvSpPr>
        <p:spPr>
          <a:xfrm>
            <a:off x="609600" y="3648075"/>
            <a:ext cx="52197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Unsigned 4-bit uses [0, 15].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Symmetric signed 4-bit often uses [−7, 7],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leaving the −8 storage code unused.</a:t>
            </a:r>
            <a:endParaRPr/>
          </a:p>
        </p:txBody>
      </p:sp>
      <p:sp>
        <p:nvSpPr>
          <p:cNvPr id="458" name="Google Shape;458;g3fa8b1a5d5d_0_185"/>
          <p:cNvSpPr/>
          <p:nvPr/>
        </p:nvSpPr>
        <p:spPr>
          <a:xfrm>
            <a:off x="6286500" y="3143250"/>
            <a:ext cx="529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2  Select a real range [a, b] including zero</a:t>
            </a:r>
            <a:endParaRPr/>
          </a:p>
        </p:txBody>
      </p:sp>
      <p:sp>
        <p:nvSpPr>
          <p:cNvPr id="459" name="Google Shape;459;g3fa8b1a5d5d_0_185"/>
          <p:cNvSpPr/>
          <p:nvPr/>
        </p:nvSpPr>
        <p:spPr>
          <a:xfrm>
            <a:off x="6286500" y="3648075"/>
            <a:ext cx="52959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Use weight statistics or representative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activation samples. Start with min/max.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Percentile or error-based clipping may help.</a:t>
            </a:r>
            <a:endParaRPr/>
          </a:p>
        </p:txBody>
      </p:sp>
      <p:cxnSp>
        <p:nvCxnSpPr>
          <p:cNvPr id="460" name="Google Shape;460;g3fa8b1a5d5d_0_185"/>
          <p:cNvCxnSpPr/>
          <p:nvPr/>
        </p:nvCxnSpPr>
        <p:spPr>
          <a:xfrm>
            <a:off x="609600" y="4819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g3fa8b1a5d5d_0_185"/>
          <p:cNvSpPr/>
          <p:nvPr/>
        </p:nvSpPr>
        <p:spPr>
          <a:xfrm>
            <a:off x="609600" y="4981575"/>
            <a:ext cx="1809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Asymmetric</a:t>
            </a:r>
            <a:endParaRPr/>
          </a:p>
        </p:txBody>
      </p:sp>
      <p:sp>
        <p:nvSpPr>
          <p:cNvPr id="462" name="Google Shape;462;g3fa8b1a5d5d_0_185"/>
          <p:cNvSpPr/>
          <p:nvPr/>
        </p:nvSpPr>
        <p:spPr>
          <a:xfrm>
            <a:off x="2552700" y="4981575"/>
            <a:ext cx="90297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(b − a) / (qmax − qmin)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z = clip(round(qmin − a / s), qmin, qmax)</a:t>
            </a:r>
            <a:endParaRPr/>
          </a:p>
        </p:txBody>
      </p:sp>
      <p:sp>
        <p:nvSpPr>
          <p:cNvPr id="463" name="Google Shape;463;g3fa8b1a5d5d_0_185"/>
          <p:cNvSpPr/>
          <p:nvPr/>
        </p:nvSpPr>
        <p:spPr>
          <a:xfrm>
            <a:off x="609600" y="5838825"/>
            <a:ext cx="1809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Symmetric</a:t>
            </a:r>
            <a:endParaRPr/>
          </a:p>
        </p:txBody>
      </p:sp>
      <p:sp>
        <p:nvSpPr>
          <p:cNvPr id="464" name="Google Shape;464;g3fa8b1a5d5d_0_185"/>
          <p:cNvSpPr/>
          <p:nvPr/>
        </p:nvSpPr>
        <p:spPr>
          <a:xfrm>
            <a:off x="2552700" y="5838825"/>
            <a:ext cx="902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= max(|a|, |b|)     s = A / 7     z = 0     (4-bit example)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a8b1a5d5d_0_20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471" name="Google Shape;471;g3fa8b1a5d5d_0_20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1" lang="en-US" sz="3600">
                <a:solidFill>
                  <a:srgbClr val="0B0C0E"/>
                </a:solidFill>
              </a:rPr>
              <a:t>4</a:t>
            </a: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-bit quantization examples</a:t>
            </a:r>
            <a:endParaRPr/>
          </a:p>
        </p:txBody>
      </p:sp>
      <p:cxnSp>
        <p:nvCxnSpPr>
          <p:cNvPr id="472" name="Google Shape;472;g3fa8b1a5d5d_0_20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g3fa8b1a5d5d_0_20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474" name="Google Shape;474;g3fa8b1a5d5d_0_20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Q05</a:t>
            </a:r>
            <a:endParaRPr/>
          </a:p>
        </p:txBody>
      </p:sp>
      <p:sp>
        <p:nvSpPr>
          <p:cNvPr id="475" name="Google Shape;475;g3fa8b1a5d5d_0_206"/>
          <p:cNvSpPr/>
          <p:nvPr/>
        </p:nvSpPr>
        <p:spPr>
          <a:xfrm>
            <a:off x="609600" y="1695450"/>
            <a:ext cx="5229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Symmetric weights</a:t>
            </a:r>
            <a:endParaRPr/>
          </a:p>
        </p:txBody>
      </p:sp>
      <p:sp>
        <p:nvSpPr>
          <p:cNvPr id="476" name="Google Shape;476;g3fa8b1a5d5d_0_206"/>
          <p:cNvSpPr/>
          <p:nvPr/>
        </p:nvSpPr>
        <p:spPr>
          <a:xfrm>
            <a:off x="6362700" y="1695450"/>
            <a:ext cx="5219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Asymmetric range</a:t>
            </a:r>
            <a:endParaRPr/>
          </a:p>
        </p:txBody>
      </p:sp>
      <p:cxnSp>
        <p:nvCxnSpPr>
          <p:cNvPr id="477" name="Google Shape;477;g3fa8b1a5d5d_0_206"/>
          <p:cNvCxnSpPr/>
          <p:nvPr/>
        </p:nvCxnSpPr>
        <p:spPr>
          <a:xfrm>
            <a:off x="6057900" y="1724025"/>
            <a:ext cx="0" cy="382920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g3fa8b1a5d5d_0_206"/>
          <p:cNvSpPr/>
          <p:nvPr/>
        </p:nvSpPr>
        <p:spPr>
          <a:xfrm>
            <a:off x="609600" y="2276475"/>
            <a:ext cx="52008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Observed range [−3.5, 3.5]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range [−7, 7]</a:t>
            </a:r>
            <a:endParaRPr/>
          </a:p>
        </p:txBody>
      </p:sp>
      <p:sp>
        <p:nvSpPr>
          <p:cNvPr id="479" name="Google Shape;479;g3fa8b1a5d5d_0_206"/>
          <p:cNvSpPr/>
          <p:nvPr/>
        </p:nvSpPr>
        <p:spPr>
          <a:xfrm>
            <a:off x="6362700" y="2276475"/>
            <a:ext cx="52197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Observed range [−1.0, 2.0]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range [0, 15]</a:t>
            </a:r>
            <a:endParaRPr/>
          </a:p>
        </p:txBody>
      </p:sp>
      <p:sp>
        <p:nvSpPr>
          <p:cNvPr id="480" name="Google Shape;480;g3fa8b1a5d5d_0_206"/>
          <p:cNvSpPr/>
          <p:nvPr/>
        </p:nvSpPr>
        <p:spPr>
          <a:xfrm>
            <a:off x="609600" y="3143250"/>
            <a:ext cx="5200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3.5 / 7 = 0.5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z = 0</a:t>
            </a:r>
            <a:endParaRPr/>
          </a:p>
        </p:txBody>
      </p:sp>
      <p:sp>
        <p:nvSpPr>
          <p:cNvPr id="481" name="Google Shape;481;g3fa8b1a5d5d_0_206"/>
          <p:cNvSpPr/>
          <p:nvPr/>
        </p:nvSpPr>
        <p:spPr>
          <a:xfrm>
            <a:off x="6362700" y="3143250"/>
            <a:ext cx="521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3 / 15 = 0.2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z = round(0 − (−1) / 0.2) = 5</a:t>
            </a:r>
            <a:endParaRPr/>
          </a:p>
        </p:txBody>
      </p:sp>
      <p:sp>
        <p:nvSpPr>
          <p:cNvPr id="482" name="Google Shape;482;g3fa8b1a5d5d_0_206"/>
          <p:cNvSpPr/>
          <p:nvPr/>
        </p:nvSpPr>
        <p:spPr>
          <a:xfrm>
            <a:off x="609600" y="4048125"/>
            <a:ext cx="52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x = 1.3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= round(1.3 / 0.5)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Stored bits   0011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x̂ = 0.5 × 3 = 1.5</a:t>
            </a:r>
            <a:endParaRPr/>
          </a:p>
        </p:txBody>
      </p:sp>
      <p:sp>
        <p:nvSpPr>
          <p:cNvPr id="483" name="Google Shape;483;g3fa8b1a5d5d_0_206"/>
          <p:cNvSpPr/>
          <p:nvPr/>
        </p:nvSpPr>
        <p:spPr>
          <a:xfrm>
            <a:off x="6362700" y="4048125"/>
            <a:ext cx="5219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x = 0.74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= round(0.74 / 0.2) + 5 =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Stored bits   1001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x̂ = 0.2 × (9 − 5) = 0.8</a:t>
            </a:r>
            <a:endParaRPr/>
          </a:p>
        </p:txBody>
      </p:sp>
      <p:cxnSp>
        <p:nvCxnSpPr>
          <p:cNvPr id="484" name="Google Shape;484;g3fa8b1a5d5d_0_20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g3fa8b1a5d5d_0_20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Absolute errors are 0.20 and 0.06. Reconstructing either value requires its scale and zero-point.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a8b1a5d5d_0_22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492" name="Google Shape;492;g3fa8b1a5d5d_0_22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Outliers make one scale too coarse</a:t>
            </a:r>
            <a:endParaRPr/>
          </a:p>
        </p:txBody>
      </p:sp>
      <p:cxnSp>
        <p:nvCxnSpPr>
          <p:cNvPr id="493" name="Google Shape;493;g3fa8b1a5d5d_0_22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g3fa8b1a5d5d_0_22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495" name="Google Shape;495;g3fa8b1a5d5d_0_22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Q06</a:t>
            </a:r>
            <a:endParaRPr/>
          </a:p>
        </p:txBody>
      </p:sp>
      <p:sp>
        <p:nvSpPr>
          <p:cNvPr id="496" name="Google Shape;496;g3fa8b1a5d5d_0_226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symmetric 4-bit scale for all five values</a:t>
            </a:r>
            <a:endParaRPr/>
          </a:p>
        </p:txBody>
      </p:sp>
      <p:sp>
        <p:nvSpPr>
          <p:cNvPr id="497" name="Google Shape;497;g3fa8b1a5d5d_0_226"/>
          <p:cNvSpPr/>
          <p:nvPr/>
        </p:nvSpPr>
        <p:spPr>
          <a:xfrm>
            <a:off x="609600" y="246697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= 7.0     s = 7.0 / 7 = 1.0     z = 0</a:t>
            </a:r>
            <a:endParaRPr/>
          </a:p>
        </p:txBody>
      </p:sp>
      <p:graphicFrame>
        <p:nvGraphicFramePr>
          <p:cNvPr id="498" name="Google Shape;498;g3fa8b1a5d5d_0_226"/>
          <p:cNvGraphicFramePr/>
          <p:nvPr/>
        </p:nvGraphicFramePr>
        <p:xfrm>
          <a:off x="609600" y="320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257550"/>
                <a:gridCol w="1543050"/>
                <a:gridCol w="1543050"/>
                <a:gridCol w="1543050"/>
                <a:gridCol w="1543050"/>
                <a:gridCol w="154305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1" lang="en-US" sz="21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Stored q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Reconstructed x̂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cxnSp>
        <p:nvCxnSpPr>
          <p:cNvPr id="499" name="Google Shape;499;g3fa8b1a5d5d_0_22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g3fa8b1a5d5d_0_22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outlier preserves its value, while four ordinary weights collapse to zero. Clipping trades one error for another.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a8b1a5d5d_0_240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507" name="Google Shape;507;g3fa8b1a5d5d_0_240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Smaller groups can use different scales</a:t>
            </a:r>
            <a:endParaRPr/>
          </a:p>
        </p:txBody>
      </p:sp>
      <p:cxnSp>
        <p:nvCxnSpPr>
          <p:cNvPr id="508" name="Google Shape;508;g3fa8b1a5d5d_0_24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g3fa8b1a5d5d_0_240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510" name="Google Shape;510;g3fa8b1a5d5d_0_240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Q07</a:t>
            </a:r>
            <a:endParaRPr/>
          </a:p>
        </p:txBody>
      </p:sp>
      <p:sp>
        <p:nvSpPr>
          <p:cNvPr id="511" name="Google Shape;511;g3fa8b1a5d5d_0_240"/>
          <p:cNvSpPr/>
          <p:nvPr/>
        </p:nvSpPr>
        <p:spPr>
          <a:xfrm>
            <a:off x="609600" y="165735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Symmetric INT4, round to nearest even</a:t>
            </a:r>
            <a:endParaRPr/>
          </a:p>
        </p:txBody>
      </p:sp>
      <p:graphicFrame>
        <p:nvGraphicFramePr>
          <p:cNvPr id="512" name="Google Shape;512;g3fa8b1a5d5d_0_240"/>
          <p:cNvGraphicFramePr/>
          <p:nvPr/>
        </p:nvGraphicFramePr>
        <p:xfrm>
          <a:off x="609600" y="248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1143000"/>
                <a:gridCol w="4267200"/>
                <a:gridCol w="1847850"/>
                <a:gridCol w="3714750"/>
              </a:tblGrid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values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Stored q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[−0.4, −0.2, 0.1, 0.3]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 / 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[−7, −4, 2, 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[7.0, 3.5, 0.0, −7.0]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[7, 4, 0, −7]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513" name="Google Shape;513;g3fa8b1a5d5d_0_240"/>
          <p:cNvSpPr/>
          <p:nvPr/>
        </p:nvSpPr>
        <p:spPr>
          <a:xfrm>
            <a:off x="609600" y="4895850"/>
            <a:ext cx="109728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For 128 weights, 4-bit values occupy 64 bytes.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FP16 scale adds 2 bytes, or 3.1%, before zero-points and other metadata.</a:t>
            </a:r>
            <a:endParaRPr/>
          </a:p>
        </p:txBody>
      </p:sp>
      <p:cxnSp>
        <p:nvCxnSpPr>
          <p:cNvPr id="514" name="Google Shape;514;g3fa8b1a5d5d_0_240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g3fa8b1a5d5d_0_240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Smaller groups adapt to local ranges, but require more scales and support from the inference kernel.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aa24993c0_0_13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 sz="1800"/>
          </a:p>
        </p:txBody>
      </p:sp>
      <p:sp>
        <p:nvSpPr>
          <p:cNvPr id="522" name="Google Shape;522;g3faa24993c0_0_13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Error accumulation and mixed precision</a:t>
            </a:r>
            <a:endParaRPr sz="1800"/>
          </a:p>
        </p:txBody>
      </p:sp>
      <p:cxnSp>
        <p:nvCxnSpPr>
          <p:cNvPr id="523" name="Google Shape;523;g3faa24993c0_0_13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g3faa24993c0_0_13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 sz="1800"/>
          </a:p>
        </p:txBody>
      </p:sp>
      <p:sp>
        <p:nvSpPr>
          <p:cNvPr id="525" name="Google Shape;525;g3faa24993c0_0_13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800"/>
          </a:p>
        </p:txBody>
      </p:sp>
      <p:sp>
        <p:nvSpPr>
          <p:cNvPr id="526" name="Google Shape;526;g3faa24993c0_0_131"/>
          <p:cNvSpPr/>
          <p:nvPr/>
        </p:nvSpPr>
        <p:spPr>
          <a:xfrm>
            <a:off x="609600" y="16573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Start at 2048. Add 1 four times. The exact answer is 2052.</a:t>
            </a:r>
            <a:endParaRPr/>
          </a:p>
        </p:txBody>
      </p:sp>
      <p:graphicFrame>
        <p:nvGraphicFramePr>
          <p:cNvPr id="527" name="Google Shape;527;g3faa24993c0_0_131"/>
          <p:cNvGraphicFramePr/>
          <p:nvPr/>
        </p:nvGraphicFramePr>
        <p:xfrm>
          <a:off x="609600" y="21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067050"/>
                <a:gridCol w="1543050"/>
                <a:gridCol w="1543050"/>
                <a:gridCol w="1543050"/>
                <a:gridCol w="1543050"/>
                <a:gridCol w="17335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Accumulator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+1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+1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+1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+1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FP32 reference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FP16 each step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FP16 inputs, FP32 sum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8" name="Google Shape;528;g3faa24993c0_0_131"/>
          <p:cNvSpPr/>
          <p:nvPr/>
        </p:nvSpPr>
        <p:spPr>
          <a:xfrm>
            <a:off x="609600" y="405765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At 2048, FP16 spacing is 2. Each 2048 + 1 rounds back to 2048.</a:t>
            </a:r>
            <a:endParaRPr/>
          </a:p>
        </p:txBody>
      </p:sp>
      <p:sp>
        <p:nvSpPr>
          <p:cNvPr id="529" name="Google Shape;529;g3faa24993c0_0_131"/>
          <p:cNvSpPr/>
          <p:nvPr/>
        </p:nvSpPr>
        <p:spPr>
          <a:xfrm>
            <a:off x="609600" y="4486275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Use higher precision for sums, normalization and softmax to limit further error.</a:t>
            </a:r>
            <a:endParaRPr/>
          </a:p>
        </p:txBody>
      </p:sp>
      <p:sp>
        <p:nvSpPr>
          <p:cNvPr id="530" name="Google Shape;530;g3faa24993c0_0_131"/>
          <p:cNvSpPr/>
          <p:nvPr/>
        </p:nvSpPr>
        <p:spPr>
          <a:xfrm>
            <a:off x="609600" y="4895850"/>
            <a:ext cx="10972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Upcasting cannot recover bits already lost. Storage and computation can use different precisions.</a:t>
            </a:r>
            <a:endParaRPr/>
          </a:p>
        </p:txBody>
      </p:sp>
      <p:sp>
        <p:nvSpPr>
          <p:cNvPr id="531" name="Google Shape;531;g3faa24993c0_0_131"/>
          <p:cNvSpPr/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Quantized models already mix formats</a:t>
            </a:r>
            <a:endParaRPr/>
          </a:p>
        </p:txBody>
      </p:sp>
      <p:sp>
        <p:nvSpPr>
          <p:cNvPr id="532" name="Google Shape;532;g3faa24993c0_0_131"/>
          <p:cNvSpPr/>
          <p:nvPr/>
        </p:nvSpPr>
        <p:spPr>
          <a:xfrm>
            <a:off x="609600" y="5724525"/>
            <a:ext cx="4667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Qwen2-7B-Instruct-AWQ</a:t>
            </a:r>
            <a:endParaRPr/>
          </a:p>
        </p:txBody>
      </p:sp>
      <p:sp>
        <p:nvSpPr>
          <p:cNvPr id="533" name="Google Shape;533;g3faa24993c0_0_131"/>
          <p:cNvSpPr/>
          <p:nvPr/>
        </p:nvSpPr>
        <p:spPr>
          <a:xfrm>
            <a:off x="5391150" y="5724525"/>
            <a:ext cx="619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INT4 linear weights with FP16 activations.</a:t>
            </a:r>
            <a:endParaRPr/>
          </a:p>
        </p:txBody>
      </p:sp>
      <p:sp>
        <p:nvSpPr>
          <p:cNvPr id="534" name="Google Shape;534;g3faa24993c0_0_131"/>
          <p:cNvSpPr/>
          <p:nvPr/>
        </p:nvSpPr>
        <p:spPr>
          <a:xfrm>
            <a:off x="609600" y="6067425"/>
            <a:ext cx="4667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Qwen3-30B-A3B-FP8</a:t>
            </a:r>
            <a:endParaRPr/>
          </a:p>
        </p:txBody>
      </p:sp>
      <p:sp>
        <p:nvSpPr>
          <p:cNvPr id="535" name="Google Shape;535;g3faa24993c0_0_131"/>
          <p:cNvSpPr/>
          <p:nvPr/>
        </p:nvSpPr>
        <p:spPr>
          <a:xfrm>
            <a:off x="5391150" y="6067425"/>
            <a:ext cx="61914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FP8 weights, with routers and LM head kept in BF16.</a:t>
            </a:r>
            <a:endParaRPr/>
          </a:p>
        </p:txBody>
      </p:sp>
      <p:sp>
        <p:nvSpPr>
          <p:cNvPr id="536" name="Google Shape;536;g3faa24993c0_0_131"/>
          <p:cNvSpPr/>
          <p:nvPr/>
        </p:nvSpPr>
        <p:spPr>
          <a:xfrm>
            <a:off x="609600" y="6486525"/>
            <a:ext cx="10972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Toy sequential sum, round-to-nearest-even. Actual accumulation depends on the kernel. Sources: NVIDIA accuracy guidance and the named model configs.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a8b1a5d5d_0_27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543" name="Google Shape;543;g3fa8b1a5d5d_0_27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Post-training quantization and QAT</a:t>
            </a:r>
            <a:endParaRPr/>
          </a:p>
        </p:txBody>
      </p:sp>
      <p:cxnSp>
        <p:nvCxnSpPr>
          <p:cNvPr id="544" name="Google Shape;544;g3fa8b1a5d5d_0_27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g3fa8b1a5d5d_0_27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546" name="Google Shape;546;g3fa8b1a5d5d_0_27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Q09</a:t>
            </a:r>
            <a:endParaRPr/>
          </a:p>
        </p:txBody>
      </p:sp>
      <p:sp>
        <p:nvSpPr>
          <p:cNvPr id="547" name="Google Shape;547;g3fa8b1a5d5d_0_276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Quantization-Aware Training for LLMs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Frantar et al., GPTQ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 et al., AWQ</a:t>
            </a:r>
            <a:endParaRPr/>
          </a:p>
        </p:txBody>
      </p:sp>
      <p:sp>
        <p:nvSpPr>
          <p:cNvPr id="548" name="Google Shape;548;g3fa8b1a5d5d_0_276"/>
          <p:cNvSpPr/>
          <p:nvPr/>
        </p:nvSpPr>
        <p:spPr>
          <a:xfrm>
            <a:off x="609600" y="16954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Post-training quantization (PTQ)</a:t>
            </a:r>
            <a:endParaRPr/>
          </a:p>
        </p:txBody>
      </p:sp>
      <p:sp>
        <p:nvSpPr>
          <p:cNvPr id="549" name="Google Shape;549;g3fa8b1a5d5d_0_276"/>
          <p:cNvSpPr/>
          <p:nvPr/>
        </p:nvSpPr>
        <p:spPr>
          <a:xfrm>
            <a:off x="609600" y="2181225"/>
            <a:ext cx="10972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trained checkpoint is already available. Quantize it using weight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and, for methods such as GPTQ or AWQ, representative calibration inputs.</a:t>
            </a:r>
            <a:endParaRPr/>
          </a:p>
        </p:txBody>
      </p:sp>
      <p:sp>
        <p:nvSpPr>
          <p:cNvPr id="550" name="Google Shape;550;g3fa8b1a5d5d_0_276"/>
          <p:cNvSpPr/>
          <p:nvPr/>
        </p:nvSpPr>
        <p:spPr>
          <a:xfrm>
            <a:off x="609600" y="3067050"/>
            <a:ext cx="2200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/>
          </a:p>
        </p:txBody>
      </p:sp>
      <p:sp>
        <p:nvSpPr>
          <p:cNvPr id="551" name="Google Shape;551;g3fa8b1a5d5d_0_276"/>
          <p:cNvSpPr/>
          <p:nvPr/>
        </p:nvSpPr>
        <p:spPr>
          <a:xfrm>
            <a:off x="3771900" y="3067050"/>
            <a:ext cx="3524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Calibration + conversion</a:t>
            </a:r>
            <a:endParaRPr/>
          </a:p>
        </p:txBody>
      </p:sp>
      <p:sp>
        <p:nvSpPr>
          <p:cNvPr id="552" name="Google Shape;552;g3fa8b1a5d5d_0_276"/>
          <p:cNvSpPr/>
          <p:nvPr/>
        </p:nvSpPr>
        <p:spPr>
          <a:xfrm>
            <a:off x="8791575" y="3067050"/>
            <a:ext cx="2790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Quantized checkpoint</a:t>
            </a:r>
            <a:endParaRPr/>
          </a:p>
        </p:txBody>
      </p:sp>
      <p:sp>
        <p:nvSpPr>
          <p:cNvPr id="553" name="Google Shape;553;g3fa8b1a5d5d_0_276"/>
          <p:cNvSpPr/>
          <p:nvPr/>
        </p:nvSpPr>
        <p:spPr>
          <a:xfrm>
            <a:off x="2797969" y="32265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a8b1a5d5d_0_276"/>
          <p:cNvSpPr/>
          <p:nvPr/>
        </p:nvSpPr>
        <p:spPr>
          <a:xfrm>
            <a:off x="3550444" y="32265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5" name="Google Shape;555;g3fa8b1a5d5d_0_276"/>
          <p:cNvCxnSpPr>
            <a:stCxn id="553" idx="3"/>
            <a:endCxn id="554" idx="1"/>
          </p:cNvCxnSpPr>
          <p:nvPr/>
        </p:nvCxnSpPr>
        <p:spPr>
          <a:xfrm>
            <a:off x="2802769" y="3228994"/>
            <a:ext cx="747600" cy="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56" name="Google Shape;556;g3fa8b1a5d5d_0_276"/>
          <p:cNvSpPr/>
          <p:nvPr/>
        </p:nvSpPr>
        <p:spPr>
          <a:xfrm>
            <a:off x="7589044" y="32265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fa8b1a5d5d_0_276"/>
          <p:cNvSpPr/>
          <p:nvPr/>
        </p:nvSpPr>
        <p:spPr>
          <a:xfrm>
            <a:off x="8570119" y="32265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8" name="Google Shape;558;g3fa8b1a5d5d_0_276"/>
          <p:cNvCxnSpPr>
            <a:stCxn id="556" idx="3"/>
            <a:endCxn id="557" idx="1"/>
          </p:cNvCxnSpPr>
          <p:nvPr/>
        </p:nvCxnSpPr>
        <p:spPr>
          <a:xfrm>
            <a:off x="7593844" y="3228994"/>
            <a:ext cx="976200" cy="0"/>
          </a:xfrm>
          <a:prstGeom prst="straightConnector1">
            <a:avLst/>
          </a:prstGeom>
          <a:noFill/>
          <a:ln cap="flat" cmpd="sng" w="17125">
            <a:solidFill>
              <a:srgbClr val="3D8DF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559" name="Google Shape;559;g3fa8b1a5d5d_0_276"/>
          <p:cNvCxnSpPr/>
          <p:nvPr/>
        </p:nvCxnSpPr>
        <p:spPr>
          <a:xfrm>
            <a:off x="609600" y="381000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g3fa8b1a5d5d_0_276"/>
          <p:cNvSpPr/>
          <p:nvPr/>
        </p:nvSpPr>
        <p:spPr>
          <a:xfrm>
            <a:off x="609600" y="406717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Quantization-aware training (QAT)</a:t>
            </a:r>
            <a:endParaRPr/>
          </a:p>
        </p:txBody>
      </p:sp>
      <p:sp>
        <p:nvSpPr>
          <p:cNvPr id="561" name="Google Shape;561;g3fa8b1a5d5d_0_276"/>
          <p:cNvSpPr/>
          <p:nvPr/>
        </p:nvSpPr>
        <p:spPr>
          <a:xfrm>
            <a:off x="609600" y="4552950"/>
            <a:ext cx="109728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Simulate quantize + dequantize in the forward pass, then update weights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with gradients. Export real low-bit weights after training or fine-tuning.</a:t>
            </a:r>
            <a:endParaRPr/>
          </a:p>
        </p:txBody>
      </p:sp>
      <p:sp>
        <p:nvSpPr>
          <p:cNvPr id="562" name="Google Shape;562;g3fa8b1a5d5d_0_276"/>
          <p:cNvSpPr/>
          <p:nvPr/>
        </p:nvSpPr>
        <p:spPr>
          <a:xfrm>
            <a:off x="609600" y="5391150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Rounding uses an approximate backward gradient, often a straight-through estimator.</a:t>
            </a:r>
            <a:endParaRPr/>
          </a:p>
        </p:txBody>
      </p:sp>
      <p:cxnSp>
        <p:nvCxnSpPr>
          <p:cNvPr id="563" name="Google Shape;563;g3fa8b1a5d5d_0_27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g3fa8b1a5d5d_0_27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PTQ is a low-cost first deployment candidate. QAT adds training cost to help recover quality.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a8b1a5d5d_0_303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571" name="Google Shape;571;g3fa8b1a5d5d_0_303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Common quantization methods</a:t>
            </a:r>
            <a:endParaRPr/>
          </a:p>
        </p:txBody>
      </p:sp>
      <p:cxnSp>
        <p:nvCxnSpPr>
          <p:cNvPr id="572" name="Google Shape;572;g3fa8b1a5d5d_0_30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g3fa8b1a5d5d_0_303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574" name="Google Shape;574;g3fa8b1a5d5d_0_303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Q10</a:t>
            </a:r>
            <a:endParaRPr/>
          </a:p>
        </p:txBody>
      </p:sp>
      <p:sp>
        <p:nvSpPr>
          <p:cNvPr id="575" name="Google Shape;575;g3fa8b1a5d5d_0_303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Frantar et al., GPTQ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 et al., AWQ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Xiao et al., SmoothQuant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PyTorch, Quantization-Aware Training for LLMs</a:t>
            </a:r>
            <a:endParaRPr/>
          </a:p>
        </p:txBody>
      </p:sp>
      <p:graphicFrame>
        <p:nvGraphicFramePr>
          <p:cNvPr id="576" name="Google Shape;576;g3fa8b1a5d5d_0_303"/>
          <p:cNvGraphicFramePr/>
          <p:nvPr/>
        </p:nvGraphicFramePr>
        <p:xfrm>
          <a:off x="609600" y="17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1828800"/>
                <a:gridCol w="2809875"/>
                <a:gridCol w="633412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Typical use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changes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PTQ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Round each value to a chosen grid.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GPTQ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PTQ, often W4A16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calibration inputs and curvature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information to reduce layer-output error.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AWQ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PTQ, often W4A16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activation statistics to rescale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important weight channels.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SmoothQuant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PTQ, W8A8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Rescale activation outliers into weights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 both can use INT8.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/ fine-tuning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 with simulated quantization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error, then convert for inference.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7" name="Google Shape;577;g3fa8b1a5d5d_0_303"/>
          <p:cNvSpPr/>
          <p:nvPr/>
        </p:nvSpPr>
        <p:spPr>
          <a:xfrm>
            <a:off x="609600" y="5781675"/>
            <a:ext cx="10972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GPTQ and AWQ commonly appear in model cards.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FP8 / FP4 are formats. PTQ / QAT describe how a quantized model is produced.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a8b1a5d5d_0_31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/>
          </a:p>
        </p:txBody>
      </p:sp>
      <p:sp>
        <p:nvSpPr>
          <p:cNvPr id="584" name="Google Shape;584;g3fa8b1a5d5d_0_31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Quantization, speed, storage and accuracy</a:t>
            </a:r>
            <a:endParaRPr/>
          </a:p>
        </p:txBody>
      </p:sp>
      <p:cxnSp>
        <p:nvCxnSpPr>
          <p:cNvPr id="585" name="Google Shape;585;g3fa8b1a5d5d_0_31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g3fa8b1a5d5d_0_31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587" name="Google Shape;587;g3fa8b1a5d5d_0_31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Q12</a:t>
            </a:r>
            <a:endParaRPr/>
          </a:p>
        </p:txBody>
      </p:sp>
      <p:sp>
        <p:nvSpPr>
          <p:cNvPr id="588" name="Google Shape;588;g3fa8b1a5d5d_0_315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Qwen2 speed benchmark (2024)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Qwen2 quantized-model evaluation (2024)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Qwen official checkpoint tensor indexes</a:t>
            </a:r>
            <a:endParaRPr/>
          </a:p>
        </p:txBody>
      </p:sp>
      <p:sp>
        <p:nvSpPr>
          <p:cNvPr id="589" name="Google Shape;589;g3fa8b1a5d5d_0_315"/>
          <p:cNvSpPr/>
          <p:nvPr/>
        </p:nvSpPr>
        <p:spPr>
          <a:xfrm>
            <a:off x="609600" y="16573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Qwen2-7B-Instruct, one A100 80GB, vLLM 0.4.2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Batch 1, 1 input token, 2,048 output tokens</a:t>
            </a:r>
            <a:endParaRPr/>
          </a:p>
        </p:txBody>
      </p:sp>
      <p:graphicFrame>
        <p:nvGraphicFramePr>
          <p:cNvPr id="590" name="Google Shape;590;g3fa8b1a5d5d_0_315"/>
          <p:cNvGraphicFramePr/>
          <p:nvPr/>
        </p:nvGraphicFramePr>
        <p:xfrm>
          <a:off x="609600" y="26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2162175"/>
                <a:gridCol w="1666875"/>
                <a:gridCol w="1457325"/>
                <a:gridCol w="2152650"/>
                <a:gridCol w="1933575"/>
                <a:gridCol w="160020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Quantization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(tokens/s)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Speedup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payload (GB)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score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(%)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(pp)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BF16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80.45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1.00×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66.9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GPTQ INT8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114.32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1.42×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8.87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66.2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GPTQ INT4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143.40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1.78×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AWQ INT4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96.65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1.20×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g3fa8b1a5d5d_0_315"/>
          <p:cNvSpPr/>
          <p:nvPr/>
        </p:nvSpPr>
        <p:spPr>
          <a:xfrm>
            <a:off x="609600" y="5410200"/>
            <a:ext cx="10972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Payload = bytes of stored tensors, including scales and unquantized tensors.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Mean score = reported mean of MMLU, C-Eval and IFEval. Loss is in percentage points.</a:t>
            </a:r>
            <a:endParaRPr/>
          </a:p>
        </p:txBody>
      </p:sp>
      <p:sp>
        <p:nvSpPr>
          <p:cNvPr id="592" name="Google Shape;592;g3fa8b1a5d5d_0_315"/>
          <p:cNvSpPr/>
          <p:nvPr/>
        </p:nvSpPr>
        <p:spPr>
          <a:xfrm>
            <a:off x="609600" y="6105525"/>
            <a:ext cx="10972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Historical results. Payload excludes runtime memory. Quality uses separate task evaluations.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a8d4d3c27_0_0"/>
          <p:cNvSpPr/>
          <p:nvPr/>
        </p:nvSpPr>
        <p:spPr>
          <a:xfrm>
            <a:off x="457200" y="1905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a8d4d3c27_0_0"/>
          <p:cNvSpPr/>
          <p:nvPr/>
        </p:nvSpPr>
        <p:spPr>
          <a:xfrm>
            <a:off x="457200" y="54664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</a:rPr>
              <a:t>Recap of multi-head attention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2325"/>
              <a:buFont typeface="Arial"/>
              <a:buNone/>
            </a:pPr>
            <a:r>
              <a:t/>
            </a:r>
            <a:endParaRPr b="1" sz="3600">
              <a:solidFill>
                <a:srgbClr val="0B0C0E"/>
              </a:solidFill>
            </a:endParaRPr>
          </a:p>
        </p:txBody>
      </p:sp>
      <p:cxnSp>
        <p:nvCxnSpPr>
          <p:cNvPr id="600" name="Google Shape;600;g3fa8d4d3c27_0_0"/>
          <p:cNvCxnSpPr/>
          <p:nvPr/>
        </p:nvCxnSpPr>
        <p:spPr>
          <a:xfrm>
            <a:off x="457200" y="1390650"/>
            <a:ext cx="112776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g3fa8d4d3c27_0_0"/>
          <p:cNvSpPr/>
          <p:nvPr/>
        </p:nvSpPr>
        <p:spPr>
          <a:xfrm>
            <a:off x="457200" y="6486525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COMP7608B · Lecture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fa8d4d3c27_0_0"/>
          <p:cNvSpPr/>
          <p:nvPr/>
        </p:nvSpPr>
        <p:spPr>
          <a:xfrm>
            <a:off x="11258550" y="648652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a8d4d3c27_0_0"/>
          <p:cNvSpPr/>
          <p:nvPr/>
        </p:nvSpPr>
        <p:spPr>
          <a:xfrm>
            <a:off x="8286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a8d4d3c27_0_0"/>
          <p:cNvSpPr/>
          <p:nvPr/>
        </p:nvSpPr>
        <p:spPr>
          <a:xfrm>
            <a:off x="85725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fa8d4d3c27_0_0"/>
          <p:cNvSpPr/>
          <p:nvPr/>
        </p:nvSpPr>
        <p:spPr>
          <a:xfrm>
            <a:off x="8858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a8d4d3c27_0_0"/>
          <p:cNvSpPr/>
          <p:nvPr/>
        </p:nvSpPr>
        <p:spPr>
          <a:xfrm>
            <a:off x="9144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fa8d4d3c27_0_0"/>
          <p:cNvSpPr/>
          <p:nvPr/>
        </p:nvSpPr>
        <p:spPr>
          <a:xfrm>
            <a:off x="9429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fa8d4d3c27_0_0"/>
          <p:cNvSpPr/>
          <p:nvPr/>
        </p:nvSpPr>
        <p:spPr>
          <a:xfrm>
            <a:off x="9715500" y="6553200"/>
            <a:ext cx="257100" cy="285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a8d4d3c27_0_0"/>
          <p:cNvSpPr/>
          <p:nvPr/>
        </p:nvSpPr>
        <p:spPr>
          <a:xfrm>
            <a:off x="100012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a8d4d3c27_0_0"/>
          <p:cNvSpPr/>
          <p:nvPr/>
        </p:nvSpPr>
        <p:spPr>
          <a:xfrm>
            <a:off x="1028700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a8d4d3c27_0_0"/>
          <p:cNvSpPr/>
          <p:nvPr/>
        </p:nvSpPr>
        <p:spPr>
          <a:xfrm>
            <a:off x="10572750" y="6553200"/>
            <a:ext cx="257100" cy="28500"/>
          </a:xfrm>
          <a:prstGeom prst="rect">
            <a:avLst/>
          </a:prstGeom>
          <a:solidFill>
            <a:srgbClr val="C9CE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a8d4d3c27_0_0"/>
          <p:cNvSpPr/>
          <p:nvPr/>
        </p:nvSpPr>
        <p:spPr>
          <a:xfrm>
            <a:off x="7962900" y="1714500"/>
            <a:ext cx="3429000" cy="628800"/>
          </a:xfrm>
          <a:prstGeom prst="roundRect">
            <a:avLst>
              <a:gd fmla="val 27273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a8d4d3c27_0_0"/>
          <p:cNvSpPr/>
          <p:nvPr/>
        </p:nvSpPr>
        <p:spPr>
          <a:xfrm>
            <a:off x="8134350" y="1809750"/>
            <a:ext cx="3086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 = QKᵀ / √dₕ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a8d4d3c27_0_0"/>
          <p:cNvSpPr/>
          <p:nvPr/>
        </p:nvSpPr>
        <p:spPr>
          <a:xfrm>
            <a:off x="8020050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3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a8d4d3c27_0_0"/>
          <p:cNvSpPr/>
          <p:nvPr/>
        </p:nvSpPr>
        <p:spPr>
          <a:xfrm>
            <a:off x="8039100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[1,4,16,32]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a8d4d3c27_0_0"/>
          <p:cNvSpPr/>
          <p:nvPr/>
        </p:nvSpPr>
        <p:spPr>
          <a:xfrm>
            <a:off x="9029700" y="2990850"/>
            <a:ext cx="17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a8d4d3c27_0_0"/>
          <p:cNvSpPr/>
          <p:nvPr/>
        </p:nvSpPr>
        <p:spPr>
          <a:xfrm>
            <a:off x="9163050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3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a8d4d3c27_0_0"/>
          <p:cNvSpPr/>
          <p:nvPr/>
        </p:nvSpPr>
        <p:spPr>
          <a:xfrm>
            <a:off x="9182100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Kᵀ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[1,4,32,16]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a8d4d3c27_0_0"/>
          <p:cNvSpPr/>
          <p:nvPr/>
        </p:nvSpPr>
        <p:spPr>
          <a:xfrm>
            <a:off x="10172700" y="2990850"/>
            <a:ext cx="17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a8d4d3c27_0_0"/>
          <p:cNvSpPr/>
          <p:nvPr/>
        </p:nvSpPr>
        <p:spPr>
          <a:xfrm>
            <a:off x="10400124" y="2781300"/>
            <a:ext cx="990600" cy="723900"/>
          </a:xfrm>
          <a:prstGeom prst="roundRect">
            <a:avLst>
              <a:gd fmla="val 15789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a8d4d3c27_0_0"/>
          <p:cNvSpPr/>
          <p:nvPr/>
        </p:nvSpPr>
        <p:spPr>
          <a:xfrm>
            <a:off x="10419207" y="2857500"/>
            <a:ext cx="95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[1,4,16,16]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fa8d4d3c27_0_0"/>
          <p:cNvSpPr/>
          <p:nvPr/>
        </p:nvSpPr>
        <p:spPr>
          <a:xfrm>
            <a:off x="7962900" y="4000500"/>
            <a:ext cx="3429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67C8"/>
              </a:buClr>
              <a:buSzPts val="1350"/>
              <a:buFont typeface="Arial"/>
              <a:buNone/>
            </a:pPr>
            <a:r>
              <a:rPr b="1" i="0" lang="en-US" sz="1800" u="none" cap="none" strike="noStrike">
                <a:solidFill>
                  <a:srgbClr val="8067C8"/>
                </a:solidFill>
                <a:latin typeface="Arial"/>
                <a:ea typeface="Arial"/>
                <a:cs typeface="Arial"/>
                <a:sym typeface="Arial"/>
              </a:rPr>
              <a:t>For T=16, each head contains 16×16 pair scores.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a8d4d3c27_0_0"/>
          <p:cNvSpPr/>
          <p:nvPr/>
        </p:nvSpPr>
        <p:spPr>
          <a:xfrm>
            <a:off x="7962900" y="45720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row compares one query with all keys. Add M before softmax to hide future positions.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fa8d4d3c27_0_0"/>
          <p:cNvSpPr/>
          <p:nvPr/>
        </p:nvSpPr>
        <p:spPr>
          <a:xfrm>
            <a:off x="6667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a8d4d3c27_0_0"/>
          <p:cNvSpPr/>
          <p:nvPr/>
        </p:nvSpPr>
        <p:spPr>
          <a:xfrm>
            <a:off x="8001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a8d4d3c27_0_0"/>
          <p:cNvSpPr/>
          <p:nvPr/>
        </p:nvSpPr>
        <p:spPr>
          <a:xfrm>
            <a:off x="8001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Q,K head tensors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a8d4d3c27_0_0"/>
          <p:cNvSpPr/>
          <p:nvPr/>
        </p:nvSpPr>
        <p:spPr>
          <a:xfrm>
            <a:off x="33909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3fa8d4d3c27_0_0"/>
          <p:cNvSpPr/>
          <p:nvPr/>
        </p:nvSpPr>
        <p:spPr>
          <a:xfrm>
            <a:off x="35242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a8d4d3c27_0_0"/>
          <p:cNvSpPr/>
          <p:nvPr/>
        </p:nvSpPr>
        <p:spPr>
          <a:xfrm>
            <a:off x="35242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S [1,4,16,16]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a8d4d3c27_0_0"/>
          <p:cNvSpPr/>
          <p:nvPr/>
        </p:nvSpPr>
        <p:spPr>
          <a:xfrm>
            <a:off x="611505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a8d4d3c27_0_0"/>
          <p:cNvSpPr/>
          <p:nvPr/>
        </p:nvSpPr>
        <p:spPr>
          <a:xfrm>
            <a:off x="624840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9A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8A919A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fa8d4d3c27_0_0"/>
          <p:cNvSpPr/>
          <p:nvPr/>
        </p:nvSpPr>
        <p:spPr>
          <a:xfrm>
            <a:off x="624840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0B0C0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a8d4d3c27_0_0"/>
          <p:cNvSpPr/>
          <p:nvPr/>
        </p:nvSpPr>
        <p:spPr>
          <a:xfrm>
            <a:off x="8839200" y="5391150"/>
            <a:ext cx="2600400" cy="647700"/>
          </a:xfrm>
          <a:prstGeom prst="roundRect">
            <a:avLst>
              <a:gd fmla="val 20588" name="adj"/>
            </a:avLst>
          </a:prstGeom>
          <a:solidFill>
            <a:srgbClr val="0B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fa8d4d3c27_0_0"/>
          <p:cNvSpPr/>
          <p:nvPr/>
        </p:nvSpPr>
        <p:spPr>
          <a:xfrm>
            <a:off x="8972550" y="5471160"/>
            <a:ext cx="233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CBF4"/>
              </a:buClr>
              <a:buSzPts val="825"/>
              <a:buFont typeface="Arial"/>
              <a:buNone/>
            </a:pPr>
            <a:r>
              <a:rPr b="1" i="0" lang="en-US" sz="1200" u="none" cap="none" strike="noStrike">
                <a:solidFill>
                  <a:srgbClr val="6DCBF4"/>
                </a:solidFill>
                <a:latin typeface="Arial"/>
                <a:ea typeface="Arial"/>
                <a:cs typeface="Arial"/>
                <a:sym typeface="Arial"/>
              </a:rPr>
              <a:t>FLOPs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a8d4d3c27_0_0"/>
          <p:cNvSpPr/>
          <p:nvPr/>
        </p:nvSpPr>
        <p:spPr>
          <a:xfrm>
            <a:off x="8972550" y="5673090"/>
            <a:ext cx="233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2BT²d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g3fa8d4d3c27_0_0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g3fa8d4d3c27_0_0"/>
          <p:cNvCxnSpPr/>
          <p:nvPr/>
        </p:nvCxnSpPr>
        <p:spPr>
          <a:xfrm>
            <a:off x="1634269" y="2258020"/>
            <a:ext cx="0" cy="10350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g3fa8d4d3c27_0_0"/>
          <p:cNvSpPr/>
          <p:nvPr/>
        </p:nvSpPr>
        <p:spPr>
          <a:xfrm>
            <a:off x="1634269" y="2229445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a8d4d3c27_0_0"/>
          <p:cNvSpPr/>
          <p:nvPr/>
        </p:nvSpPr>
        <p:spPr>
          <a:xfrm>
            <a:off x="2938735" y="2229445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g3fa8d4d3c27_0_0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g3fa8d4d3c27_0_0"/>
          <p:cNvCxnSpPr/>
          <p:nvPr/>
        </p:nvCxnSpPr>
        <p:spPr>
          <a:xfrm>
            <a:off x="1634269" y="3278488"/>
            <a:ext cx="0" cy="144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g3fa8d4d3c27_0_0"/>
          <p:cNvSpPr/>
          <p:nvPr/>
        </p:nvSpPr>
        <p:spPr>
          <a:xfrm>
            <a:off x="1634269" y="3249913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a8d4d3c27_0_0"/>
          <p:cNvSpPr/>
          <p:nvPr/>
        </p:nvSpPr>
        <p:spPr>
          <a:xfrm>
            <a:off x="2938735" y="3249913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g3fa8d4d3c27_0_0"/>
          <p:cNvCxnSpPr/>
          <p:nvPr/>
        </p:nvCxnSpPr>
        <p:spPr>
          <a:xfrm>
            <a:off x="1475422" y="3292929"/>
            <a:ext cx="158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g3fa8d4d3c27_0_0"/>
          <p:cNvCxnSpPr/>
          <p:nvPr/>
        </p:nvCxnSpPr>
        <p:spPr>
          <a:xfrm>
            <a:off x="1634269" y="3292929"/>
            <a:ext cx="0" cy="10059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g3fa8d4d3c27_0_0"/>
          <p:cNvSpPr/>
          <p:nvPr/>
        </p:nvSpPr>
        <p:spPr>
          <a:xfrm>
            <a:off x="1634269" y="4270381"/>
            <a:ext cx="158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a8d4d3c27_0_0"/>
          <p:cNvSpPr/>
          <p:nvPr/>
        </p:nvSpPr>
        <p:spPr>
          <a:xfrm>
            <a:off x="2938735" y="4270381"/>
            <a:ext cx="3465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8" name="Google Shape;648;g3fa8d4d3c27_0_0"/>
          <p:cNvCxnSpPr/>
          <p:nvPr/>
        </p:nvCxnSpPr>
        <p:spPr>
          <a:xfrm>
            <a:off x="4132489" y="2258020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g3fa8d4d3c27_0_0"/>
          <p:cNvCxnSpPr/>
          <p:nvPr/>
        </p:nvCxnSpPr>
        <p:spPr>
          <a:xfrm>
            <a:off x="4402047" y="2258020"/>
            <a:ext cx="0" cy="4815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g3fa8d4d3c27_0_0"/>
          <p:cNvSpPr/>
          <p:nvPr/>
        </p:nvSpPr>
        <p:spPr>
          <a:xfrm>
            <a:off x="4402047" y="271079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g3fa8d4d3c27_0_0"/>
          <p:cNvCxnSpPr/>
          <p:nvPr/>
        </p:nvCxnSpPr>
        <p:spPr>
          <a:xfrm>
            <a:off x="4132489" y="3278488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g3fa8d4d3c27_0_0"/>
          <p:cNvCxnSpPr/>
          <p:nvPr/>
        </p:nvCxnSpPr>
        <p:spPr>
          <a:xfrm>
            <a:off x="4402047" y="2739373"/>
            <a:ext cx="0" cy="5391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g3fa8d4d3c27_0_0"/>
          <p:cNvSpPr/>
          <p:nvPr/>
        </p:nvSpPr>
        <p:spPr>
          <a:xfrm>
            <a:off x="4402047" y="2710798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fa8d4d3c27_0_0"/>
          <p:cNvSpPr/>
          <p:nvPr/>
        </p:nvSpPr>
        <p:spPr>
          <a:xfrm>
            <a:off x="5331364" y="3004117"/>
            <a:ext cx="57300" cy="356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fa8d4d3c27_0_0"/>
          <p:cNvSpPr/>
          <p:nvPr/>
        </p:nvSpPr>
        <p:spPr>
          <a:xfrm>
            <a:off x="5331364" y="3812789"/>
            <a:ext cx="57300" cy="385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6" name="Google Shape;656;g3fa8d4d3c27_0_0"/>
          <p:cNvCxnSpPr/>
          <p:nvPr/>
        </p:nvCxnSpPr>
        <p:spPr>
          <a:xfrm>
            <a:off x="4132489" y="4298956"/>
            <a:ext cx="269700" cy="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g3fa8d4d3c27_0_0"/>
          <p:cNvCxnSpPr/>
          <p:nvPr/>
        </p:nvCxnSpPr>
        <p:spPr>
          <a:xfrm>
            <a:off x="4402047" y="4298956"/>
            <a:ext cx="0" cy="158700"/>
          </a:xfrm>
          <a:prstGeom prst="straightConnector1">
            <a:avLst/>
          </a:prstGeom>
          <a:noFill/>
          <a:ln cap="flat" cmpd="sng" w="13325">
            <a:solidFill>
              <a:srgbClr val="87909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g3fa8d4d3c27_0_0"/>
          <p:cNvSpPr/>
          <p:nvPr/>
        </p:nvSpPr>
        <p:spPr>
          <a:xfrm>
            <a:off x="4402047" y="4429227"/>
            <a:ext cx="269700" cy="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790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a8d4d3c27_0_0"/>
          <p:cNvSpPr/>
          <p:nvPr/>
        </p:nvSpPr>
        <p:spPr>
          <a:xfrm>
            <a:off x="4671632" y="2474595"/>
            <a:ext cx="1376700" cy="529500"/>
          </a:xfrm>
          <a:prstGeom prst="roundRect">
            <a:avLst>
              <a:gd fmla="val 14391" name="adj"/>
            </a:avLst>
          </a:prstGeom>
          <a:solidFill>
            <a:srgbClr val="EAF5FB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050"/>
              <a:buFont typeface="Arial"/>
              <a:buNone/>
            </a:pPr>
            <a:r>
              <a:rPr b="0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 = QKᵀ / √dₕ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a8d4d3c27_0_0"/>
          <p:cNvSpPr/>
          <p:nvPr/>
        </p:nvSpPr>
        <p:spPr>
          <a:xfrm>
            <a:off x="4671632" y="3346513"/>
            <a:ext cx="1376700" cy="514500"/>
          </a:xfrm>
          <a:prstGeom prst="roundRect">
            <a:avLst>
              <a:gd fmla="val 16841" name="adj"/>
            </a:avLst>
          </a:prstGeom>
          <a:solidFill>
            <a:srgbClr val="FFFFFF"/>
          </a:solidFill>
          <a:ln cap="flat" cmpd="sng" w="9525">
            <a:solidFill>
              <a:srgbClr val="826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975"/>
              <a:buFont typeface="Arial"/>
              <a:buNone/>
            </a:pPr>
            <a:r>
              <a:rPr b="0" i="0" lang="en-US" sz="135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= softmax(S+M)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fa8d4d3c27_0_0"/>
          <p:cNvSpPr/>
          <p:nvPr/>
        </p:nvSpPr>
        <p:spPr>
          <a:xfrm>
            <a:off x="4671632" y="4197858"/>
            <a:ext cx="1376700" cy="519900"/>
          </a:xfrm>
          <a:prstGeom prst="roundRect">
            <a:avLst>
              <a:gd fmla="val 14658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 = AV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a8d4d3c27_0_0"/>
          <p:cNvSpPr/>
          <p:nvPr/>
        </p:nvSpPr>
        <p:spPr>
          <a:xfrm>
            <a:off x="666750" y="3042666"/>
            <a:ext cx="808800" cy="500700"/>
          </a:xfrm>
          <a:prstGeom prst="roundRect">
            <a:avLst>
              <a:gd fmla="val 15222" name="adj"/>
            </a:avLst>
          </a:prstGeom>
          <a:solidFill>
            <a:srgbClr val="F1F3F5"/>
          </a:solidFill>
          <a:ln cap="flat" cmpd="sng" w="9525">
            <a:solidFill>
              <a:srgbClr val="C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125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[B,T,d]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a8d4d3c27_0_0"/>
          <p:cNvSpPr/>
          <p:nvPr/>
        </p:nvSpPr>
        <p:spPr>
          <a:xfrm>
            <a:off x="1793081" y="1993297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a8d4d3c27_0_0"/>
          <p:cNvSpPr/>
          <p:nvPr/>
        </p:nvSpPr>
        <p:spPr>
          <a:xfrm>
            <a:off x="3285268" y="1993297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39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986FF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3986FF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a8d4d3c27_0_0"/>
          <p:cNvSpPr/>
          <p:nvPr/>
        </p:nvSpPr>
        <p:spPr>
          <a:xfrm>
            <a:off x="1793081" y="3013710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a8d4d3c27_0_0"/>
          <p:cNvSpPr/>
          <p:nvPr/>
        </p:nvSpPr>
        <p:spPr>
          <a:xfrm>
            <a:off x="3285268" y="3013710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FF99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9945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FF9945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a8d4d3c27_0_0"/>
          <p:cNvSpPr/>
          <p:nvPr/>
        </p:nvSpPr>
        <p:spPr>
          <a:xfrm>
            <a:off x="1793081" y="4034219"/>
            <a:ext cx="1145700" cy="5295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W_V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[d,d]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a8d4d3c27_0_0"/>
          <p:cNvSpPr/>
          <p:nvPr/>
        </p:nvSpPr>
        <p:spPr>
          <a:xfrm>
            <a:off x="3285268" y="4034219"/>
            <a:ext cx="1066800" cy="552600"/>
          </a:xfrm>
          <a:prstGeom prst="roundRect">
            <a:avLst>
              <a:gd fmla="val 14391" name="adj"/>
            </a:avLst>
          </a:prstGeom>
          <a:solidFill>
            <a:srgbClr val="FFFFFF"/>
          </a:solidFill>
          <a:ln cap="flat" cmpd="sng" w="9525">
            <a:solidFill>
              <a:srgbClr val="40A4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A47E"/>
              </a:buClr>
              <a:buSzPts val="975"/>
              <a:buFont typeface="Arial"/>
              <a:buNone/>
            </a:pPr>
            <a:r>
              <a:rPr b="1" i="0" lang="en-US" sz="1350" u="none" cap="none" strike="noStrike">
                <a:solidFill>
                  <a:srgbClr val="40A47E"/>
                </a:solidFill>
                <a:latin typeface="Arial"/>
                <a:ea typeface="Arial"/>
                <a:cs typeface="Arial"/>
                <a:sym typeface="Arial"/>
              </a:rPr>
              <a:t>[B,H,T,dₕ]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a8d4d3c27_0_0"/>
          <p:cNvSpPr/>
          <p:nvPr/>
        </p:nvSpPr>
        <p:spPr>
          <a:xfrm>
            <a:off x="666750" y="4814030"/>
            <a:ext cx="5391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 and K include RoPE; M excludes future positions.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a8d4d3c27_0_7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676" name="Google Shape;676;g3fa8d4d3c27_0_7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Attention over a causal sequence</a:t>
            </a:r>
            <a:endParaRPr/>
          </a:p>
        </p:txBody>
      </p:sp>
      <p:cxnSp>
        <p:nvCxnSpPr>
          <p:cNvPr id="677" name="Google Shape;677;g3fa8d4d3c27_0_7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g3fa8d4d3c27_0_7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679" name="Google Shape;679;g3fa8d4d3c27_0_7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I02</a:t>
            </a:r>
            <a:endParaRPr/>
          </a:p>
        </p:txBody>
      </p:sp>
      <p:sp>
        <p:nvSpPr>
          <p:cNvPr id="680" name="Google Shape;680;g3fa8d4d3c27_0_76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Vaswani et al., Attention Is All You Need</a:t>
            </a:r>
            <a:endParaRPr/>
          </a:p>
        </p:txBody>
      </p:sp>
      <p:sp>
        <p:nvSpPr>
          <p:cNvPr id="681" name="Google Shape;681;g3fa8d4d3c27_0_76"/>
          <p:cNvSpPr/>
          <p:nvPr/>
        </p:nvSpPr>
        <p:spPr>
          <a:xfrm>
            <a:off x="609600" y="166687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Example sequence    The   sky   is   blue</a:t>
            </a:r>
            <a:endParaRPr/>
          </a:p>
        </p:txBody>
      </p:sp>
      <p:sp>
        <p:nvSpPr>
          <p:cNvPr id="682" name="Google Shape;682;g3fa8d4d3c27_0_76"/>
          <p:cNvSpPr/>
          <p:nvPr/>
        </p:nvSpPr>
        <p:spPr>
          <a:xfrm>
            <a:off x="2028825" y="2257425"/>
            <a:ext cx="4248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Keys, by token position</a:t>
            </a:r>
            <a:endParaRPr/>
          </a:p>
        </p:txBody>
      </p:sp>
      <p:sp>
        <p:nvSpPr>
          <p:cNvPr id="683" name="Google Shape;683;g3fa8d4d3c27_0_76"/>
          <p:cNvSpPr/>
          <p:nvPr/>
        </p:nvSpPr>
        <p:spPr>
          <a:xfrm>
            <a:off x="2009775" y="2762250"/>
            <a:ext cx="5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/>
          </a:p>
        </p:txBody>
      </p:sp>
      <p:sp>
        <p:nvSpPr>
          <p:cNvPr id="684" name="Google Shape;684;g3fa8d4d3c27_0_76"/>
          <p:cNvSpPr/>
          <p:nvPr/>
        </p:nvSpPr>
        <p:spPr>
          <a:xfrm>
            <a:off x="2562225" y="2762250"/>
            <a:ext cx="5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sky</a:t>
            </a:r>
            <a:endParaRPr/>
          </a:p>
        </p:txBody>
      </p:sp>
      <p:sp>
        <p:nvSpPr>
          <p:cNvPr id="685" name="Google Shape;685;g3fa8d4d3c27_0_76"/>
          <p:cNvSpPr/>
          <p:nvPr/>
        </p:nvSpPr>
        <p:spPr>
          <a:xfrm>
            <a:off x="3114675" y="2762250"/>
            <a:ext cx="5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/>
          </a:p>
        </p:txBody>
      </p:sp>
      <p:sp>
        <p:nvSpPr>
          <p:cNvPr id="686" name="Google Shape;686;g3fa8d4d3c27_0_76"/>
          <p:cNvSpPr/>
          <p:nvPr/>
        </p:nvSpPr>
        <p:spPr>
          <a:xfrm>
            <a:off x="3667125" y="2762250"/>
            <a:ext cx="5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/>
          </a:p>
        </p:txBody>
      </p:sp>
      <p:sp>
        <p:nvSpPr>
          <p:cNvPr id="687" name="Google Shape;687;g3fa8d4d3c27_0_76"/>
          <p:cNvSpPr/>
          <p:nvPr/>
        </p:nvSpPr>
        <p:spPr>
          <a:xfrm>
            <a:off x="1228725" y="3286125"/>
            <a:ext cx="6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/>
          </a:p>
        </p:txBody>
      </p:sp>
      <p:sp>
        <p:nvSpPr>
          <p:cNvPr id="688" name="Google Shape;688;g3fa8d4d3c27_0_76"/>
          <p:cNvSpPr/>
          <p:nvPr/>
        </p:nvSpPr>
        <p:spPr>
          <a:xfrm>
            <a:off x="1228725" y="3838575"/>
            <a:ext cx="6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/>
          </a:p>
        </p:txBody>
      </p:sp>
      <p:sp>
        <p:nvSpPr>
          <p:cNvPr id="689" name="Google Shape;689;g3fa8d4d3c27_0_76"/>
          <p:cNvSpPr/>
          <p:nvPr/>
        </p:nvSpPr>
        <p:spPr>
          <a:xfrm>
            <a:off x="1228725" y="4391025"/>
            <a:ext cx="6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/>
          </a:p>
        </p:txBody>
      </p:sp>
      <p:sp>
        <p:nvSpPr>
          <p:cNvPr id="690" name="Google Shape;690;g3fa8d4d3c27_0_76"/>
          <p:cNvSpPr/>
          <p:nvPr/>
        </p:nvSpPr>
        <p:spPr>
          <a:xfrm>
            <a:off x="1228725" y="4943475"/>
            <a:ext cx="676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q4</a:t>
            </a:r>
            <a:endParaRPr/>
          </a:p>
        </p:txBody>
      </p:sp>
      <p:sp>
        <p:nvSpPr>
          <p:cNvPr id="691" name="Google Shape;691;g3fa8d4d3c27_0_76"/>
          <p:cNvSpPr/>
          <p:nvPr/>
        </p:nvSpPr>
        <p:spPr>
          <a:xfrm>
            <a:off x="2009775" y="319087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692" name="Google Shape;692;g3fa8d4d3c27_0_76"/>
          <p:cNvSpPr/>
          <p:nvPr/>
        </p:nvSpPr>
        <p:spPr>
          <a:xfrm>
            <a:off x="2562225" y="319087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693" name="Google Shape;693;g3fa8d4d3c27_0_76"/>
          <p:cNvSpPr/>
          <p:nvPr/>
        </p:nvSpPr>
        <p:spPr>
          <a:xfrm>
            <a:off x="3114675" y="319087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694" name="Google Shape;694;g3fa8d4d3c27_0_76"/>
          <p:cNvSpPr/>
          <p:nvPr/>
        </p:nvSpPr>
        <p:spPr>
          <a:xfrm>
            <a:off x="3667125" y="319087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695" name="Google Shape;695;g3fa8d4d3c27_0_76"/>
          <p:cNvSpPr/>
          <p:nvPr/>
        </p:nvSpPr>
        <p:spPr>
          <a:xfrm>
            <a:off x="2009775" y="374332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696" name="Google Shape;696;g3fa8d4d3c27_0_76"/>
          <p:cNvSpPr/>
          <p:nvPr/>
        </p:nvSpPr>
        <p:spPr>
          <a:xfrm>
            <a:off x="2562225" y="374332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697" name="Google Shape;697;g3fa8d4d3c27_0_76"/>
          <p:cNvSpPr/>
          <p:nvPr/>
        </p:nvSpPr>
        <p:spPr>
          <a:xfrm>
            <a:off x="3114675" y="374332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698" name="Google Shape;698;g3fa8d4d3c27_0_76"/>
          <p:cNvSpPr/>
          <p:nvPr/>
        </p:nvSpPr>
        <p:spPr>
          <a:xfrm>
            <a:off x="3667125" y="374332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699" name="Google Shape;699;g3fa8d4d3c27_0_76"/>
          <p:cNvSpPr/>
          <p:nvPr/>
        </p:nvSpPr>
        <p:spPr>
          <a:xfrm>
            <a:off x="2009775" y="429577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0" name="Google Shape;700;g3fa8d4d3c27_0_76"/>
          <p:cNvSpPr/>
          <p:nvPr/>
        </p:nvSpPr>
        <p:spPr>
          <a:xfrm>
            <a:off x="2562225" y="429577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1" name="Google Shape;701;g3fa8d4d3c27_0_76"/>
          <p:cNvSpPr/>
          <p:nvPr/>
        </p:nvSpPr>
        <p:spPr>
          <a:xfrm>
            <a:off x="3114675" y="4295775"/>
            <a:ext cx="552600" cy="552600"/>
          </a:xfrm>
          <a:prstGeom prst="rect">
            <a:avLst/>
          </a:prstGeom>
          <a:solidFill>
            <a:srgbClr val="DCEBF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2" name="Google Shape;702;g3fa8d4d3c27_0_76"/>
          <p:cNvSpPr/>
          <p:nvPr/>
        </p:nvSpPr>
        <p:spPr>
          <a:xfrm>
            <a:off x="3667125" y="4295775"/>
            <a:ext cx="552600" cy="552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703" name="Google Shape;703;g3fa8d4d3c27_0_76"/>
          <p:cNvSpPr/>
          <p:nvPr/>
        </p:nvSpPr>
        <p:spPr>
          <a:xfrm>
            <a:off x="2009775" y="4848225"/>
            <a:ext cx="552600" cy="552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4" name="Google Shape;704;g3fa8d4d3c27_0_76"/>
          <p:cNvSpPr/>
          <p:nvPr/>
        </p:nvSpPr>
        <p:spPr>
          <a:xfrm>
            <a:off x="2562225" y="4848225"/>
            <a:ext cx="552600" cy="552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5" name="Google Shape;705;g3fa8d4d3c27_0_76"/>
          <p:cNvSpPr/>
          <p:nvPr/>
        </p:nvSpPr>
        <p:spPr>
          <a:xfrm>
            <a:off x="3114675" y="4848225"/>
            <a:ext cx="552600" cy="552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6" name="Google Shape;706;g3fa8d4d3c27_0_76"/>
          <p:cNvSpPr/>
          <p:nvPr/>
        </p:nvSpPr>
        <p:spPr>
          <a:xfrm>
            <a:off x="3667125" y="4848225"/>
            <a:ext cx="552600" cy="552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707" name="Google Shape;707;g3fa8d4d3c27_0_76"/>
          <p:cNvSpPr/>
          <p:nvPr/>
        </p:nvSpPr>
        <p:spPr>
          <a:xfrm>
            <a:off x="6572250" y="2781300"/>
            <a:ext cx="50103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M[i,j] = 0 when j ≤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M[i,j] = −∞ when j &gt; i</a:t>
            </a:r>
            <a:endParaRPr/>
          </a:p>
        </p:txBody>
      </p:sp>
      <p:sp>
        <p:nvSpPr>
          <p:cNvPr id="708" name="Google Shape;708;g3fa8d4d3c27_0_76"/>
          <p:cNvSpPr/>
          <p:nvPr/>
        </p:nvSpPr>
        <p:spPr>
          <a:xfrm>
            <a:off x="6572250" y="3943350"/>
            <a:ext cx="50103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Each query combines only its prefix.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All prompt positions are already known,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so their rows can run together.</a:t>
            </a:r>
            <a:endParaRPr/>
          </a:p>
        </p:txBody>
      </p:sp>
      <p:cxnSp>
        <p:nvCxnSpPr>
          <p:cNvPr id="709" name="Google Shape;709;g3fa8d4d3c27_0_7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g3fa8d4d3c27_0_7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final row provides the last token’s hidden state. A vocabulary projection predicts the next token.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a8d4d3c27_0_11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717" name="Google Shape;717;g3fa8d4d3c27_0_11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prompt is prefill, then decoding repeats</a:t>
            </a:r>
            <a:endParaRPr/>
          </a:p>
        </p:txBody>
      </p:sp>
      <p:cxnSp>
        <p:nvCxnSpPr>
          <p:cNvPr id="718" name="Google Shape;718;g3fa8d4d3c27_0_11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g3fa8d4d3c27_0_11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720" name="Google Shape;720;g3fa8d4d3c27_0_11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I03</a:t>
            </a:r>
            <a:endParaRPr/>
          </a:p>
        </p:txBody>
      </p:sp>
      <p:sp>
        <p:nvSpPr>
          <p:cNvPr id="721" name="Google Shape;721;g3fa8d4d3c27_0_116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LLM Inference Optimization</a:t>
            </a:r>
            <a:endParaRPr/>
          </a:p>
        </p:txBody>
      </p:sp>
      <p:sp>
        <p:nvSpPr>
          <p:cNvPr id="722" name="Google Shape;722;g3fa8d4d3c27_0_116"/>
          <p:cNvSpPr/>
          <p:nvPr/>
        </p:nvSpPr>
        <p:spPr>
          <a:xfrm>
            <a:off x="609600" y="166687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Illustrative tokens    The   sky   is   blue   today   .</a:t>
            </a:r>
            <a:endParaRPr/>
          </a:p>
        </p:txBody>
      </p:sp>
      <p:graphicFrame>
        <p:nvGraphicFramePr>
          <p:cNvPr id="723" name="Google Shape;723;g3fa8d4d3c27_0_116"/>
          <p:cNvGraphicFramePr/>
          <p:nvPr/>
        </p:nvGraphicFramePr>
        <p:xfrm>
          <a:off x="609600" y="24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2543175"/>
                <a:gridCol w="4391025"/>
                <a:gridCol w="4038600"/>
              </a:tblGrid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input to the model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token selected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  sky   is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Positions 1–3 together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 (position 4)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 step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 4 only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today (position 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71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 step 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 5 only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(position 6)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24" name="Google Shape;724;g3fa8d4d3c27_0_116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g3fa8d4d3c27_0_116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Prefill produces the first generated token. Each decoding step consumes the last selected token to predict another.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a8d4d3c27_0_35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732" name="Google Shape;732;g3fa8d4d3c27_0_35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What the user waits for</a:t>
            </a:r>
            <a:endParaRPr/>
          </a:p>
        </p:txBody>
      </p:sp>
      <p:cxnSp>
        <p:nvCxnSpPr>
          <p:cNvPr id="733" name="Google Shape;733;g3fa8d4d3c27_0_35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g3fa8d4d3c27_0_35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735" name="Google Shape;735;g3fa8d4d3c27_0_35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I15</a:t>
            </a:r>
            <a:endParaRPr/>
          </a:p>
        </p:txBody>
      </p:sp>
      <p:sp>
        <p:nvSpPr>
          <p:cNvPr id="736" name="Google Shape;736;g3fa8d4d3c27_0_35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JAX Scaling Book, Transformer Inference</a:t>
            </a:r>
            <a:endParaRPr/>
          </a:p>
        </p:txBody>
      </p:sp>
      <p:sp>
        <p:nvSpPr>
          <p:cNvPr id="737" name="Google Shape;737;g3fa8d4d3c27_0_357"/>
          <p:cNvSpPr/>
          <p:nvPr/>
        </p:nvSpPr>
        <p:spPr>
          <a:xfrm>
            <a:off x="609600" y="2390775"/>
            <a:ext cx="1495500" cy="7716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/>
          </a:p>
        </p:txBody>
      </p:sp>
      <p:sp>
        <p:nvSpPr>
          <p:cNvPr id="738" name="Google Shape;738;g3fa8d4d3c27_0_357"/>
          <p:cNvSpPr/>
          <p:nvPr/>
        </p:nvSpPr>
        <p:spPr>
          <a:xfrm>
            <a:off x="2305050" y="2390775"/>
            <a:ext cx="2676600" cy="7716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Prefill</a:t>
            </a:r>
            <a:endParaRPr/>
          </a:p>
        </p:txBody>
      </p:sp>
      <p:sp>
        <p:nvSpPr>
          <p:cNvPr id="739" name="Google Shape;739;g3fa8d4d3c27_0_357"/>
          <p:cNvSpPr/>
          <p:nvPr/>
        </p:nvSpPr>
        <p:spPr>
          <a:xfrm>
            <a:off x="5924550" y="2390775"/>
            <a:ext cx="2162100" cy="771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Decode 1</a:t>
            </a:r>
            <a:endParaRPr/>
          </a:p>
        </p:txBody>
      </p:sp>
      <p:sp>
        <p:nvSpPr>
          <p:cNvPr id="740" name="Google Shape;740;g3fa8d4d3c27_0_357"/>
          <p:cNvSpPr/>
          <p:nvPr/>
        </p:nvSpPr>
        <p:spPr>
          <a:xfrm>
            <a:off x="9134475" y="2390775"/>
            <a:ext cx="2162100" cy="7716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Decode 2</a:t>
            </a:r>
            <a:endParaRPr/>
          </a:p>
        </p:txBody>
      </p:sp>
      <p:cxnSp>
        <p:nvCxnSpPr>
          <p:cNvPr id="741" name="Google Shape;741;g3fa8d4d3c27_0_357"/>
          <p:cNvCxnSpPr>
            <a:stCxn id="737" idx="3"/>
            <a:endCxn id="738" idx="1"/>
          </p:cNvCxnSpPr>
          <p:nvPr/>
        </p:nvCxnSpPr>
        <p:spPr>
          <a:xfrm>
            <a:off x="2105100" y="2776575"/>
            <a:ext cx="2001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42" name="Google Shape;742;g3fa8d4d3c27_0_357"/>
          <p:cNvCxnSpPr>
            <a:stCxn id="738" idx="3"/>
            <a:endCxn id="739" idx="1"/>
          </p:cNvCxnSpPr>
          <p:nvPr/>
        </p:nvCxnSpPr>
        <p:spPr>
          <a:xfrm>
            <a:off x="4981650" y="2776575"/>
            <a:ext cx="9429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43" name="Google Shape;743;g3fa8d4d3c27_0_357"/>
          <p:cNvCxnSpPr>
            <a:stCxn id="739" idx="3"/>
            <a:endCxn id="740" idx="1"/>
          </p:cNvCxnSpPr>
          <p:nvPr/>
        </p:nvCxnSpPr>
        <p:spPr>
          <a:xfrm>
            <a:off x="8086650" y="2776575"/>
            <a:ext cx="10479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44" name="Google Shape;744;g3fa8d4d3c27_0_357"/>
          <p:cNvSpPr/>
          <p:nvPr/>
        </p:nvSpPr>
        <p:spPr>
          <a:xfrm>
            <a:off x="4752975" y="3429000"/>
            <a:ext cx="1495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1</a:t>
            </a:r>
            <a:endParaRPr/>
          </a:p>
        </p:txBody>
      </p:sp>
      <p:sp>
        <p:nvSpPr>
          <p:cNvPr id="745" name="Google Shape;745;g3fa8d4d3c27_0_357"/>
          <p:cNvSpPr/>
          <p:nvPr/>
        </p:nvSpPr>
        <p:spPr>
          <a:xfrm>
            <a:off x="7858125" y="3429000"/>
            <a:ext cx="1495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2</a:t>
            </a:r>
            <a:endParaRPr/>
          </a:p>
        </p:txBody>
      </p:sp>
      <p:sp>
        <p:nvSpPr>
          <p:cNvPr id="746" name="Google Shape;746;g3fa8d4d3c27_0_357"/>
          <p:cNvSpPr/>
          <p:nvPr/>
        </p:nvSpPr>
        <p:spPr>
          <a:xfrm>
            <a:off x="10668000" y="3429000"/>
            <a:ext cx="1238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Token 3</a:t>
            </a:r>
            <a:endParaRPr/>
          </a:p>
        </p:txBody>
      </p:sp>
      <p:cxnSp>
        <p:nvCxnSpPr>
          <p:cNvPr id="747" name="Google Shape;747;g3fa8d4d3c27_0_357"/>
          <p:cNvCxnSpPr/>
          <p:nvPr/>
        </p:nvCxnSpPr>
        <p:spPr>
          <a:xfrm>
            <a:off x="5095875" y="3181350"/>
            <a:ext cx="0" cy="162000"/>
          </a:xfrm>
          <a:prstGeom prst="straightConnector1">
            <a:avLst/>
          </a:prstGeom>
          <a:noFill/>
          <a:ln cap="flat" cmpd="sng" w="19050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g3fa8d4d3c27_0_357"/>
          <p:cNvCxnSpPr/>
          <p:nvPr/>
        </p:nvCxnSpPr>
        <p:spPr>
          <a:xfrm>
            <a:off x="8201025" y="3181350"/>
            <a:ext cx="0" cy="162000"/>
          </a:xfrm>
          <a:prstGeom prst="straightConnector1">
            <a:avLst/>
          </a:prstGeom>
          <a:noFill/>
          <a:ln cap="flat" cmpd="sng" w="19050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g3fa8d4d3c27_0_357"/>
          <p:cNvCxnSpPr/>
          <p:nvPr/>
        </p:nvCxnSpPr>
        <p:spPr>
          <a:xfrm>
            <a:off x="11410950" y="3181350"/>
            <a:ext cx="0" cy="162000"/>
          </a:xfrm>
          <a:prstGeom prst="straightConnector1">
            <a:avLst/>
          </a:prstGeom>
          <a:noFill/>
          <a:ln cap="flat" cmpd="sng" w="19050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0" name="Google Shape;750;g3fa8d4d3c27_0_357"/>
          <p:cNvSpPr/>
          <p:nvPr/>
        </p:nvSpPr>
        <p:spPr>
          <a:xfrm>
            <a:off x="609600" y="4162425"/>
            <a:ext cx="4667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Time to first token </a:t>
            </a:r>
            <a:r>
              <a:rPr b="1" lang="en-US" sz="2325">
                <a:solidFill>
                  <a:srgbClr val="3D8DFF"/>
                </a:solidFill>
              </a:rPr>
              <a:t>(TTFT)</a:t>
            </a:r>
            <a:endParaRPr/>
          </a:p>
        </p:txBody>
      </p:sp>
      <p:sp>
        <p:nvSpPr>
          <p:cNvPr id="751" name="Google Shape;751;g3fa8d4d3c27_0_357"/>
          <p:cNvSpPr/>
          <p:nvPr/>
        </p:nvSpPr>
        <p:spPr>
          <a:xfrm>
            <a:off x="609600" y="4657725"/>
            <a:ext cx="4943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Queue + prompt processing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+ first-token selection</a:t>
            </a:r>
            <a:endParaRPr/>
          </a:p>
        </p:txBody>
      </p:sp>
      <p:sp>
        <p:nvSpPr>
          <p:cNvPr id="752" name="Google Shape;752;g3fa8d4d3c27_0_357"/>
          <p:cNvSpPr/>
          <p:nvPr/>
        </p:nvSpPr>
        <p:spPr>
          <a:xfrm>
            <a:off x="6362700" y="4162425"/>
            <a:ext cx="5219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b="1" lang="en-US" sz="2325">
                <a:solidFill>
                  <a:srgbClr val="FF9B52"/>
                </a:solidFill>
              </a:rPr>
              <a:t>per output token (TPOT)</a:t>
            </a:r>
            <a:endParaRPr/>
          </a:p>
        </p:txBody>
      </p:sp>
      <p:sp>
        <p:nvSpPr>
          <p:cNvPr id="753" name="Google Shape;753;g3fa8d4d3c27_0_357"/>
          <p:cNvSpPr/>
          <p:nvPr/>
        </p:nvSpPr>
        <p:spPr>
          <a:xfrm>
            <a:off x="6362700" y="4657725"/>
            <a:ext cx="52197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Repeated decode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+ scheduling and delivery</a:t>
            </a:r>
            <a:endParaRPr/>
          </a:p>
        </p:txBody>
      </p:sp>
      <p:cxnSp>
        <p:nvCxnSpPr>
          <p:cNvPr id="754" name="Google Shape;754;g3fa8d4d3c27_0_357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g3fa8d4d3c27_0_357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Batching can improve weight reuse and throughput. Every active request also adds KV reads and cache capacity.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fa8d4d3c27_0_130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762" name="Google Shape;762;g3fa8d4d3c27_0_130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The same weights, different amounts of reuse</a:t>
            </a:r>
            <a:endParaRPr/>
          </a:p>
        </p:txBody>
      </p:sp>
      <p:cxnSp>
        <p:nvCxnSpPr>
          <p:cNvPr id="763" name="Google Shape;763;g3fa8d4d3c27_0_13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g3fa8d4d3c27_0_130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765" name="Google Shape;765;g3fa8d4d3c27_0_130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I04</a:t>
            </a:r>
            <a:endParaRPr/>
          </a:p>
        </p:txBody>
      </p:sp>
      <p:sp>
        <p:nvSpPr>
          <p:cNvPr id="766" name="Google Shape;766;g3fa8d4d3c27_0_130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JAX Scaling Book, Transformer Inference</a:t>
            </a:r>
            <a:endParaRPr/>
          </a:p>
        </p:txBody>
      </p:sp>
      <p:sp>
        <p:nvSpPr>
          <p:cNvPr id="767" name="Google Shape;767;g3fa8d4d3c27_0_130"/>
          <p:cNvSpPr/>
          <p:nvPr/>
        </p:nvSpPr>
        <p:spPr>
          <a:xfrm>
            <a:off x="609600" y="166687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D × D projection, one request</a:t>
            </a:r>
            <a:endParaRPr/>
          </a:p>
        </p:txBody>
      </p:sp>
      <p:sp>
        <p:nvSpPr>
          <p:cNvPr id="768" name="Google Shape;768;g3fa8d4d3c27_0_130"/>
          <p:cNvSpPr/>
          <p:nvPr/>
        </p:nvSpPr>
        <p:spPr>
          <a:xfrm>
            <a:off x="609600" y="2343150"/>
            <a:ext cx="52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</a:t>
            </a:r>
            <a:endParaRPr/>
          </a:p>
        </p:txBody>
      </p:sp>
      <p:sp>
        <p:nvSpPr>
          <p:cNvPr id="769" name="Google Shape;769;g3fa8d4d3c27_0_130"/>
          <p:cNvSpPr/>
          <p:nvPr/>
        </p:nvSpPr>
        <p:spPr>
          <a:xfrm>
            <a:off x="6362700" y="2343150"/>
            <a:ext cx="52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Incremental decoding</a:t>
            </a:r>
            <a:endParaRPr/>
          </a:p>
        </p:txBody>
      </p:sp>
      <p:sp>
        <p:nvSpPr>
          <p:cNvPr id="770" name="Google Shape;770;g3fa8d4d3c27_0_130"/>
          <p:cNvSpPr/>
          <p:nvPr/>
        </p:nvSpPr>
        <p:spPr>
          <a:xfrm>
            <a:off x="609600" y="3038475"/>
            <a:ext cx="1438200" cy="14289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</a:rPr>
              <a:t>T</a:t>
            </a: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 × D</a:t>
            </a:r>
            <a:endParaRPr/>
          </a:p>
        </p:txBody>
      </p:sp>
      <p:sp>
        <p:nvSpPr>
          <p:cNvPr id="771" name="Google Shape;771;g3fa8d4d3c27_0_130"/>
          <p:cNvSpPr/>
          <p:nvPr/>
        </p:nvSpPr>
        <p:spPr>
          <a:xfrm>
            <a:off x="2219325" y="3476625"/>
            <a:ext cx="419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772" name="Google Shape;772;g3fa8d4d3c27_0_130"/>
          <p:cNvSpPr/>
          <p:nvPr/>
        </p:nvSpPr>
        <p:spPr>
          <a:xfrm>
            <a:off x="2809875" y="3038475"/>
            <a:ext cx="1895400" cy="14289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 × D</a:t>
            </a:r>
            <a:endParaRPr/>
          </a:p>
        </p:txBody>
      </p:sp>
      <p:sp>
        <p:nvSpPr>
          <p:cNvPr id="773" name="Google Shape;773;g3fa8d4d3c27_0_130"/>
          <p:cNvSpPr/>
          <p:nvPr/>
        </p:nvSpPr>
        <p:spPr>
          <a:xfrm>
            <a:off x="6362700" y="3562350"/>
            <a:ext cx="1752600" cy="4287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xₜ    1 × D</a:t>
            </a:r>
            <a:endParaRPr/>
          </a:p>
        </p:txBody>
      </p:sp>
      <p:sp>
        <p:nvSpPr>
          <p:cNvPr id="774" name="Google Shape;774;g3fa8d4d3c27_0_130"/>
          <p:cNvSpPr/>
          <p:nvPr/>
        </p:nvSpPr>
        <p:spPr>
          <a:xfrm>
            <a:off x="8286750" y="3476625"/>
            <a:ext cx="419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775" name="Google Shape;775;g3fa8d4d3c27_0_130"/>
          <p:cNvSpPr/>
          <p:nvPr/>
        </p:nvSpPr>
        <p:spPr>
          <a:xfrm>
            <a:off x="8877300" y="3038475"/>
            <a:ext cx="1895400" cy="14289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 × D</a:t>
            </a:r>
            <a:endParaRPr/>
          </a:p>
        </p:txBody>
      </p:sp>
      <p:sp>
        <p:nvSpPr>
          <p:cNvPr id="776" name="Google Shape;776;g3fa8d4d3c27_0_130"/>
          <p:cNvSpPr/>
          <p:nvPr/>
        </p:nvSpPr>
        <p:spPr>
          <a:xfrm>
            <a:off x="609600" y="4838700"/>
            <a:ext cx="5219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100">
                <a:solidFill>
                  <a:srgbClr val="535D69"/>
                </a:solidFill>
              </a:rPr>
              <a:t>T</a:t>
            </a: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D² FLOPs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D² × bytes/weight to read W</a:t>
            </a:r>
            <a:endParaRPr/>
          </a:p>
        </p:txBody>
      </p:sp>
      <p:sp>
        <p:nvSpPr>
          <p:cNvPr id="777" name="Google Shape;777;g3fa8d4d3c27_0_130"/>
          <p:cNvSpPr/>
          <p:nvPr/>
        </p:nvSpPr>
        <p:spPr>
          <a:xfrm>
            <a:off x="6362700" y="4838700"/>
            <a:ext cx="5219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2D² FLOPs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D² × bytes/weight to read W</a:t>
            </a:r>
            <a:endParaRPr/>
          </a:p>
        </p:txBody>
      </p:sp>
      <p:cxnSp>
        <p:nvCxnSpPr>
          <p:cNvPr id="778" name="Google Shape;778;g3fa8d4d3c27_0_130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9" name="Google Shape;779;g3fa8d4d3c27_0_130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Prefill reuses weights across P rows. Small-batch decoding uses one new row and reuses cached K/V for the prefix.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a8d4d3c27_0_153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786" name="Google Shape;786;g3fa8d4d3c27_0_153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Why earlier keys and values remain valid</a:t>
            </a:r>
            <a:endParaRPr/>
          </a:p>
        </p:txBody>
      </p:sp>
      <p:cxnSp>
        <p:nvCxnSpPr>
          <p:cNvPr id="787" name="Google Shape;787;g3fa8d4d3c27_0_15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g3fa8d4d3c27_0_153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789" name="Google Shape;789;g3fa8d4d3c27_0_153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I09</a:t>
            </a:r>
            <a:endParaRPr/>
          </a:p>
        </p:txBody>
      </p:sp>
      <p:sp>
        <p:nvSpPr>
          <p:cNvPr id="790" name="Google Shape;790;g3fa8d4d3c27_0_153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Face, How caching works</a:t>
            </a:r>
            <a:endParaRPr/>
          </a:p>
        </p:txBody>
      </p:sp>
      <p:sp>
        <p:nvSpPr>
          <p:cNvPr id="791" name="Google Shape;791;g3fa8d4d3c27_0_153"/>
          <p:cNvSpPr/>
          <p:nvPr/>
        </p:nvSpPr>
        <p:spPr>
          <a:xfrm>
            <a:off x="609600" y="1666875"/>
            <a:ext cx="10972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In causal inference, a token’s hidden state depends only on its prefix.</a:t>
            </a:r>
            <a:endParaRPr/>
          </a:p>
        </p:txBody>
      </p:sp>
      <p:graphicFrame>
        <p:nvGraphicFramePr>
          <p:cNvPr id="792" name="Google Shape;792;g3fa8d4d3c27_0_153"/>
          <p:cNvGraphicFramePr/>
          <p:nvPr/>
        </p:nvGraphicFramePr>
        <p:xfrm>
          <a:off x="6096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2552700"/>
                <a:gridCol w="4791075"/>
                <a:gridCol w="3629025"/>
              </a:tblGrid>
              <a:tr h="62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 position 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Earlier positions 1 … t−1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position 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2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Queries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Earlier Q is no longer needed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 qₜ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Keys and values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Reuse cached K and 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 kₜ and vₜ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2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Attention output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Earlier rows stay unchanged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Compute the new output row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3" name="Google Shape;793;g3fa8d4d3c27_0_153"/>
          <p:cNvSpPr/>
          <p:nvPr/>
        </p:nvSpPr>
        <p:spPr>
          <a:xfrm>
            <a:off x="609600" y="5276850"/>
            <a:ext cx="109728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EA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oₜ = softmax(qₜ [K</a:t>
            </a:r>
            <a:r>
              <a:rPr b="1" lang="en-US" sz="2325">
                <a:solidFill>
                  <a:srgbClr val="173F71"/>
                </a:solidFill>
              </a:rPr>
              <a:t>_past</a:t>
            </a:r>
            <a:r>
              <a:rPr b="1" lang="en-US" sz="23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 ; kₜ]ᵀ / √d) [V_past ; vₜ]</a:t>
            </a:r>
            <a:endParaRPr/>
          </a:p>
        </p:txBody>
      </p:sp>
      <p:sp>
        <p:nvSpPr>
          <p:cNvPr id="794" name="Google Shape;794;g3fa8d4d3c27_0_153"/>
          <p:cNvSpPr/>
          <p:nvPr/>
        </p:nvSpPr>
        <p:spPr>
          <a:xfrm>
            <a:off x="609600" y="60960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Fixed weights, fixed positions and an unchanged prefix make earlier K/V reusable at every layer.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a8d4d3c27_0_16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801" name="Google Shape;801;g3fa8d4d3c27_0_16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Prefill fills the KV cache</a:t>
            </a:r>
            <a:endParaRPr/>
          </a:p>
        </p:txBody>
      </p:sp>
      <p:cxnSp>
        <p:nvCxnSpPr>
          <p:cNvPr id="802" name="Google Shape;802;g3fa8d4d3c27_0_16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g3fa8d4d3c27_0_16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804" name="Google Shape;804;g3fa8d4d3c27_0_16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I10</a:t>
            </a:r>
            <a:endParaRPr/>
          </a:p>
        </p:txBody>
      </p:sp>
      <p:sp>
        <p:nvSpPr>
          <p:cNvPr id="805" name="Google Shape;805;g3fa8d4d3c27_0_16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LLM Inference Optimization</a:t>
            </a:r>
            <a:endParaRPr/>
          </a:p>
        </p:txBody>
      </p:sp>
      <p:sp>
        <p:nvSpPr>
          <p:cNvPr id="806" name="Google Shape;806;g3fa8d4d3c27_0_167"/>
          <p:cNvSpPr/>
          <p:nvPr/>
        </p:nvSpPr>
        <p:spPr>
          <a:xfrm>
            <a:off x="609600" y="166687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Prefill processes positions 1–3</a:t>
            </a:r>
            <a:endParaRPr/>
          </a:p>
        </p:txBody>
      </p:sp>
      <p:sp>
        <p:nvSpPr>
          <p:cNvPr id="807" name="Google Shape;807;g3fa8d4d3c27_0_167"/>
          <p:cNvSpPr/>
          <p:nvPr/>
        </p:nvSpPr>
        <p:spPr>
          <a:xfrm>
            <a:off x="609600" y="2143125"/>
            <a:ext cx="1097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Input this step    The   sky   is</a:t>
            </a:r>
            <a:endParaRPr/>
          </a:p>
        </p:txBody>
      </p:sp>
      <p:sp>
        <p:nvSpPr>
          <p:cNvPr id="808" name="Google Shape;808;g3fa8d4d3c27_0_167"/>
          <p:cNvSpPr/>
          <p:nvPr/>
        </p:nvSpPr>
        <p:spPr>
          <a:xfrm>
            <a:off x="609600" y="2724150"/>
            <a:ext cx="276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head in one layer</a:t>
            </a:r>
            <a:endParaRPr/>
          </a:p>
        </p:txBody>
      </p:sp>
      <p:sp>
        <p:nvSpPr>
          <p:cNvPr id="809" name="Google Shape;809;g3fa8d4d3c27_0_167"/>
          <p:cNvSpPr/>
          <p:nvPr/>
        </p:nvSpPr>
        <p:spPr>
          <a:xfrm>
            <a:off x="609600" y="3200400"/>
            <a:ext cx="2571900" cy="10383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Compute Q₁:₃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K₁:₃ and V₁:₃</a:t>
            </a:r>
            <a:endParaRPr/>
          </a:p>
        </p:txBody>
      </p:sp>
      <p:sp>
        <p:nvSpPr>
          <p:cNvPr id="810" name="Google Shape;810;g3fa8d4d3c27_0_167"/>
          <p:cNvSpPr/>
          <p:nvPr/>
        </p:nvSpPr>
        <p:spPr>
          <a:xfrm>
            <a:off x="4010025" y="2619375"/>
            <a:ext cx="478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K/V cache after this update</a:t>
            </a:r>
            <a:endParaRPr/>
          </a:p>
        </p:txBody>
      </p:sp>
      <p:sp>
        <p:nvSpPr>
          <p:cNvPr id="811" name="Google Shape;811;g3fa8d4d3c27_0_167"/>
          <p:cNvSpPr/>
          <p:nvPr/>
        </p:nvSpPr>
        <p:spPr>
          <a:xfrm>
            <a:off x="401002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12" name="Google Shape;812;g3fa8d4d3c27_0_167"/>
          <p:cNvSpPr/>
          <p:nvPr/>
        </p:nvSpPr>
        <p:spPr>
          <a:xfrm>
            <a:off x="4010025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/>
          </a:p>
        </p:txBody>
      </p:sp>
      <p:sp>
        <p:nvSpPr>
          <p:cNvPr id="813" name="Google Shape;813;g3fa8d4d3c27_0_167"/>
          <p:cNvSpPr/>
          <p:nvPr/>
        </p:nvSpPr>
        <p:spPr>
          <a:xfrm>
            <a:off x="4991100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14" name="Google Shape;814;g3fa8d4d3c27_0_167"/>
          <p:cNvSpPr/>
          <p:nvPr/>
        </p:nvSpPr>
        <p:spPr>
          <a:xfrm>
            <a:off x="4991100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/>
          </a:p>
        </p:txBody>
      </p:sp>
      <p:sp>
        <p:nvSpPr>
          <p:cNvPr id="815" name="Google Shape;815;g3fa8d4d3c27_0_167"/>
          <p:cNvSpPr/>
          <p:nvPr/>
        </p:nvSpPr>
        <p:spPr>
          <a:xfrm>
            <a:off x="597217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16" name="Google Shape;816;g3fa8d4d3c27_0_167"/>
          <p:cNvSpPr/>
          <p:nvPr/>
        </p:nvSpPr>
        <p:spPr>
          <a:xfrm>
            <a:off x="5972175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/>
          </a:p>
        </p:txBody>
      </p:sp>
      <p:sp>
        <p:nvSpPr>
          <p:cNvPr id="817" name="Google Shape;817;g3fa8d4d3c27_0_167"/>
          <p:cNvSpPr/>
          <p:nvPr/>
        </p:nvSpPr>
        <p:spPr>
          <a:xfrm>
            <a:off x="6953250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18" name="Google Shape;818;g3fa8d4d3c27_0_167"/>
          <p:cNvSpPr/>
          <p:nvPr/>
        </p:nvSpPr>
        <p:spPr>
          <a:xfrm>
            <a:off x="6953250" y="3371850"/>
            <a:ext cx="866700" cy="866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fa8d4d3c27_0_167"/>
          <p:cNvSpPr/>
          <p:nvPr/>
        </p:nvSpPr>
        <p:spPr>
          <a:xfrm>
            <a:off x="793432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20" name="Google Shape;820;g3fa8d4d3c27_0_167"/>
          <p:cNvSpPr/>
          <p:nvPr/>
        </p:nvSpPr>
        <p:spPr>
          <a:xfrm>
            <a:off x="7934325" y="3371850"/>
            <a:ext cx="866700" cy="866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g3fa8d4d3c27_0_167"/>
          <p:cNvSpPr/>
          <p:nvPr/>
        </p:nvSpPr>
        <p:spPr>
          <a:xfrm>
            <a:off x="9429750" y="3181350"/>
            <a:ext cx="2152800" cy="12384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173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Causal attention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positions 1–3</a:t>
            </a:r>
            <a:endParaRPr/>
          </a:p>
        </p:txBody>
      </p:sp>
      <p:sp>
        <p:nvSpPr>
          <p:cNvPr id="822" name="Google Shape;822;g3fa8d4d3c27_0_167"/>
          <p:cNvSpPr/>
          <p:nvPr/>
        </p:nvSpPr>
        <p:spPr>
          <a:xfrm>
            <a:off x="317896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fa8d4d3c27_0_167"/>
          <p:cNvSpPr/>
          <p:nvPr/>
        </p:nvSpPr>
        <p:spPr>
          <a:xfrm>
            <a:off x="390286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4" name="Google Shape;824;g3fa8d4d3c27_0_167"/>
          <p:cNvCxnSpPr>
            <a:stCxn id="822" idx="3"/>
            <a:endCxn id="823" idx="1"/>
          </p:cNvCxnSpPr>
          <p:nvPr/>
        </p:nvCxnSpPr>
        <p:spPr>
          <a:xfrm>
            <a:off x="3183769" y="3724294"/>
            <a:ext cx="7191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25" name="Google Shape;825;g3fa8d4d3c27_0_167"/>
          <p:cNvSpPr/>
          <p:nvPr/>
        </p:nvSpPr>
        <p:spPr>
          <a:xfrm>
            <a:off x="3276600" y="3371850"/>
            <a:ext cx="68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/>
          </a:p>
        </p:txBody>
      </p:sp>
      <p:sp>
        <p:nvSpPr>
          <p:cNvPr id="826" name="Google Shape;826;g3fa8d4d3c27_0_167"/>
          <p:cNvSpPr/>
          <p:nvPr/>
        </p:nvSpPr>
        <p:spPr>
          <a:xfrm>
            <a:off x="879871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fa8d4d3c27_0_167"/>
          <p:cNvSpPr/>
          <p:nvPr/>
        </p:nvSpPr>
        <p:spPr>
          <a:xfrm>
            <a:off x="937021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8" name="Google Shape;828;g3fa8d4d3c27_0_167"/>
          <p:cNvCxnSpPr>
            <a:stCxn id="826" idx="3"/>
            <a:endCxn id="827" idx="1"/>
          </p:cNvCxnSpPr>
          <p:nvPr/>
        </p:nvCxnSpPr>
        <p:spPr>
          <a:xfrm>
            <a:off x="8803519" y="3724294"/>
            <a:ext cx="5667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29" name="Google Shape;829;g3fa8d4d3c27_0_167"/>
          <p:cNvSpPr/>
          <p:nvPr/>
        </p:nvSpPr>
        <p:spPr>
          <a:xfrm>
            <a:off x="8810625" y="3371850"/>
            <a:ext cx="571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830" name="Google Shape;830;g3fa8d4d3c27_0_167"/>
          <p:cNvSpPr/>
          <p:nvPr/>
        </p:nvSpPr>
        <p:spPr>
          <a:xfrm>
            <a:off x="609600" y="4810125"/>
            <a:ext cx="2571900" cy="533400"/>
          </a:xfrm>
          <a:prstGeom prst="rect">
            <a:avLst/>
          </a:prstGeom>
          <a:solidFill>
            <a:srgbClr val="EEE7FA"/>
          </a:solidFill>
          <a:ln cap="flat" cmpd="sng" w="1427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Use Q₁:₃</a:t>
            </a:r>
            <a:endParaRPr/>
          </a:p>
        </p:txBody>
      </p:sp>
      <p:cxnSp>
        <p:nvCxnSpPr>
          <p:cNvPr id="831" name="Google Shape;831;g3fa8d4d3c27_0_167"/>
          <p:cNvCxnSpPr>
            <a:stCxn id="809" idx="2"/>
            <a:endCxn id="830" idx="0"/>
          </p:cNvCxnSpPr>
          <p:nvPr/>
        </p:nvCxnSpPr>
        <p:spPr>
          <a:xfrm>
            <a:off x="1895550" y="4238700"/>
            <a:ext cx="0" cy="57150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32" name="Google Shape;832;g3fa8d4d3c27_0_167"/>
          <p:cNvSpPr/>
          <p:nvPr/>
        </p:nvSpPr>
        <p:spPr>
          <a:xfrm>
            <a:off x="3178969" y="5074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fa8d4d3c27_0_167"/>
          <p:cNvSpPr/>
          <p:nvPr/>
        </p:nvSpPr>
        <p:spPr>
          <a:xfrm>
            <a:off x="9122569" y="5074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fa8d4d3c27_0_167"/>
          <p:cNvSpPr/>
          <p:nvPr/>
        </p:nvSpPr>
        <p:spPr>
          <a:xfrm>
            <a:off x="9122569" y="42838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fa8d4d3c27_0_167"/>
          <p:cNvSpPr/>
          <p:nvPr/>
        </p:nvSpPr>
        <p:spPr>
          <a:xfrm>
            <a:off x="9379744" y="42838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6" name="Google Shape;836;g3fa8d4d3c27_0_167"/>
          <p:cNvCxnSpPr>
            <a:stCxn id="832" idx="3"/>
            <a:endCxn id="833" idx="1"/>
          </p:cNvCxnSpPr>
          <p:nvPr/>
        </p:nvCxnSpPr>
        <p:spPr>
          <a:xfrm>
            <a:off x="3183769" y="5076844"/>
            <a:ext cx="5938800" cy="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g3fa8d4d3c27_0_167"/>
          <p:cNvCxnSpPr>
            <a:stCxn id="833" idx="0"/>
            <a:endCxn id="834" idx="2"/>
          </p:cNvCxnSpPr>
          <p:nvPr/>
        </p:nvCxnSpPr>
        <p:spPr>
          <a:xfrm rot="10800000">
            <a:off x="9124969" y="4288744"/>
            <a:ext cx="0" cy="78570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g3fa8d4d3c27_0_167"/>
          <p:cNvCxnSpPr>
            <a:stCxn id="834" idx="3"/>
            <a:endCxn id="835" idx="1"/>
          </p:cNvCxnSpPr>
          <p:nvPr/>
        </p:nvCxnSpPr>
        <p:spPr>
          <a:xfrm>
            <a:off x="9127369" y="4286269"/>
            <a:ext cx="252300" cy="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39" name="Google Shape;839;g3fa8d4d3c27_0_167"/>
          <p:cNvSpPr/>
          <p:nvPr/>
        </p:nvSpPr>
        <p:spPr>
          <a:xfrm>
            <a:off x="9429750" y="4705350"/>
            <a:ext cx="2152800" cy="7239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After all layers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sample “blue”</a:t>
            </a:r>
            <a:endParaRPr/>
          </a:p>
        </p:txBody>
      </p:sp>
      <p:cxnSp>
        <p:nvCxnSpPr>
          <p:cNvPr id="840" name="Google Shape;840;g3fa8d4d3c27_0_167"/>
          <p:cNvCxnSpPr>
            <a:stCxn id="821" idx="2"/>
            <a:endCxn id="839" idx="0"/>
          </p:cNvCxnSpPr>
          <p:nvPr/>
        </p:nvCxnSpPr>
        <p:spPr>
          <a:xfrm>
            <a:off x="10506150" y="4419750"/>
            <a:ext cx="0" cy="2856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41" name="Google Shape;841;g3fa8d4d3c27_0_167"/>
          <p:cNvSpPr/>
          <p:nvPr/>
        </p:nvSpPr>
        <p:spPr>
          <a:xfrm>
            <a:off x="4010025" y="4400550"/>
            <a:ext cx="496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 positions written together</a:t>
            </a:r>
            <a:endParaRPr/>
          </a:p>
        </p:txBody>
      </p:sp>
      <p:cxnSp>
        <p:nvCxnSpPr>
          <p:cNvPr id="842" name="Google Shape;842;g3fa8d4d3c27_0_167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3" name="Google Shape;843;g3fa8d4d3c27_0_167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Prefill stores K and V for the prompt. Its last-position output produces the first generated token.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a8d4d3c27_0_21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850" name="Google Shape;850;g3fa8d4d3c27_0_21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Decoding reads the cache and appends one token</a:t>
            </a:r>
            <a:endParaRPr/>
          </a:p>
        </p:txBody>
      </p:sp>
      <p:cxnSp>
        <p:nvCxnSpPr>
          <p:cNvPr id="851" name="Google Shape;851;g3fa8d4d3c27_0_21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g3fa8d4d3c27_0_21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853" name="Google Shape;853;g3fa8d4d3c27_0_21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I11</a:t>
            </a:r>
            <a:endParaRPr/>
          </a:p>
        </p:txBody>
      </p:sp>
      <p:sp>
        <p:nvSpPr>
          <p:cNvPr id="854" name="Google Shape;854;g3fa8d4d3c27_0_215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LLM Inference Optimization</a:t>
            </a:r>
            <a:endParaRPr/>
          </a:p>
        </p:txBody>
      </p:sp>
      <p:sp>
        <p:nvSpPr>
          <p:cNvPr id="855" name="Google Shape;855;g3fa8d4d3c27_0_215"/>
          <p:cNvSpPr/>
          <p:nvPr/>
        </p:nvSpPr>
        <p:spPr>
          <a:xfrm>
            <a:off x="609600" y="166687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Decode processes position 4</a:t>
            </a:r>
            <a:endParaRPr/>
          </a:p>
        </p:txBody>
      </p:sp>
      <p:sp>
        <p:nvSpPr>
          <p:cNvPr id="856" name="Google Shape;856;g3fa8d4d3c27_0_215"/>
          <p:cNvSpPr/>
          <p:nvPr/>
        </p:nvSpPr>
        <p:spPr>
          <a:xfrm>
            <a:off x="609600" y="2143125"/>
            <a:ext cx="1097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Input this step    blue</a:t>
            </a:r>
            <a:endParaRPr/>
          </a:p>
        </p:txBody>
      </p:sp>
      <p:sp>
        <p:nvSpPr>
          <p:cNvPr id="857" name="Google Shape;857;g3fa8d4d3c27_0_215"/>
          <p:cNvSpPr/>
          <p:nvPr/>
        </p:nvSpPr>
        <p:spPr>
          <a:xfrm>
            <a:off x="609600" y="2724150"/>
            <a:ext cx="276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head in one layer</a:t>
            </a:r>
            <a:endParaRPr/>
          </a:p>
        </p:txBody>
      </p:sp>
      <p:sp>
        <p:nvSpPr>
          <p:cNvPr id="858" name="Google Shape;858;g3fa8d4d3c27_0_215"/>
          <p:cNvSpPr/>
          <p:nvPr/>
        </p:nvSpPr>
        <p:spPr>
          <a:xfrm>
            <a:off x="609600" y="3200400"/>
            <a:ext cx="2571900" cy="10383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Compute q4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k4 and v4</a:t>
            </a:r>
            <a:endParaRPr/>
          </a:p>
        </p:txBody>
      </p:sp>
      <p:sp>
        <p:nvSpPr>
          <p:cNvPr id="859" name="Google Shape;859;g3fa8d4d3c27_0_215"/>
          <p:cNvSpPr/>
          <p:nvPr/>
        </p:nvSpPr>
        <p:spPr>
          <a:xfrm>
            <a:off x="4010025" y="2619375"/>
            <a:ext cx="478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K/V cache after this update</a:t>
            </a:r>
            <a:endParaRPr/>
          </a:p>
        </p:txBody>
      </p:sp>
      <p:sp>
        <p:nvSpPr>
          <p:cNvPr id="860" name="Google Shape;860;g3fa8d4d3c27_0_215"/>
          <p:cNvSpPr/>
          <p:nvPr/>
        </p:nvSpPr>
        <p:spPr>
          <a:xfrm>
            <a:off x="401002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1" name="Google Shape;861;g3fa8d4d3c27_0_215"/>
          <p:cNvSpPr/>
          <p:nvPr/>
        </p:nvSpPr>
        <p:spPr>
          <a:xfrm>
            <a:off x="4010025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/>
          </a:p>
        </p:txBody>
      </p:sp>
      <p:sp>
        <p:nvSpPr>
          <p:cNvPr id="862" name="Google Shape;862;g3fa8d4d3c27_0_215"/>
          <p:cNvSpPr/>
          <p:nvPr/>
        </p:nvSpPr>
        <p:spPr>
          <a:xfrm>
            <a:off x="4991100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63" name="Google Shape;863;g3fa8d4d3c27_0_215"/>
          <p:cNvSpPr/>
          <p:nvPr/>
        </p:nvSpPr>
        <p:spPr>
          <a:xfrm>
            <a:off x="4991100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/>
          </a:p>
        </p:txBody>
      </p:sp>
      <p:sp>
        <p:nvSpPr>
          <p:cNvPr id="864" name="Google Shape;864;g3fa8d4d3c27_0_215"/>
          <p:cNvSpPr/>
          <p:nvPr/>
        </p:nvSpPr>
        <p:spPr>
          <a:xfrm>
            <a:off x="597217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65" name="Google Shape;865;g3fa8d4d3c27_0_215"/>
          <p:cNvSpPr/>
          <p:nvPr/>
        </p:nvSpPr>
        <p:spPr>
          <a:xfrm>
            <a:off x="5972175" y="3371850"/>
            <a:ext cx="866700" cy="8667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/>
          </a:p>
        </p:txBody>
      </p:sp>
      <p:sp>
        <p:nvSpPr>
          <p:cNvPr id="866" name="Google Shape;866;g3fa8d4d3c27_0_215"/>
          <p:cNvSpPr/>
          <p:nvPr/>
        </p:nvSpPr>
        <p:spPr>
          <a:xfrm>
            <a:off x="6953250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67" name="Google Shape;867;g3fa8d4d3c27_0_215"/>
          <p:cNvSpPr/>
          <p:nvPr/>
        </p:nvSpPr>
        <p:spPr>
          <a:xfrm>
            <a:off x="6953250" y="3371850"/>
            <a:ext cx="866700" cy="8667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v4</a:t>
            </a:r>
            <a:endParaRPr/>
          </a:p>
        </p:txBody>
      </p:sp>
      <p:sp>
        <p:nvSpPr>
          <p:cNvPr id="868" name="Google Shape;868;g3fa8d4d3c27_0_215"/>
          <p:cNvSpPr/>
          <p:nvPr/>
        </p:nvSpPr>
        <p:spPr>
          <a:xfrm>
            <a:off x="7934325" y="3028950"/>
            <a:ext cx="86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69" name="Google Shape;869;g3fa8d4d3c27_0_215"/>
          <p:cNvSpPr/>
          <p:nvPr/>
        </p:nvSpPr>
        <p:spPr>
          <a:xfrm>
            <a:off x="7934325" y="3371850"/>
            <a:ext cx="866700" cy="8667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fa8d4d3c27_0_215"/>
          <p:cNvSpPr/>
          <p:nvPr/>
        </p:nvSpPr>
        <p:spPr>
          <a:xfrm>
            <a:off x="9429750" y="3181350"/>
            <a:ext cx="2152800" cy="1238400"/>
          </a:xfrm>
          <a:prstGeom prst="rect">
            <a:avLst/>
          </a:prstGeom>
          <a:solidFill>
            <a:srgbClr val="FFFFFF"/>
          </a:solidFill>
          <a:ln cap="flat" cmpd="sng" w="14275">
            <a:solidFill>
              <a:srgbClr val="173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positions 1–4</a:t>
            </a:r>
            <a:endParaRPr/>
          </a:p>
        </p:txBody>
      </p:sp>
      <p:sp>
        <p:nvSpPr>
          <p:cNvPr id="871" name="Google Shape;871;g3fa8d4d3c27_0_215"/>
          <p:cNvSpPr/>
          <p:nvPr/>
        </p:nvSpPr>
        <p:spPr>
          <a:xfrm>
            <a:off x="317896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fa8d4d3c27_0_215"/>
          <p:cNvSpPr/>
          <p:nvPr/>
        </p:nvSpPr>
        <p:spPr>
          <a:xfrm>
            <a:off x="390286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3" name="Google Shape;873;g3fa8d4d3c27_0_215"/>
          <p:cNvCxnSpPr>
            <a:stCxn id="871" idx="3"/>
            <a:endCxn id="872" idx="1"/>
          </p:cNvCxnSpPr>
          <p:nvPr/>
        </p:nvCxnSpPr>
        <p:spPr>
          <a:xfrm>
            <a:off x="3183769" y="3724294"/>
            <a:ext cx="7191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74" name="Google Shape;874;g3fa8d4d3c27_0_215"/>
          <p:cNvSpPr/>
          <p:nvPr/>
        </p:nvSpPr>
        <p:spPr>
          <a:xfrm>
            <a:off x="3276600" y="3371850"/>
            <a:ext cx="68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/>
          </a:p>
        </p:txBody>
      </p:sp>
      <p:sp>
        <p:nvSpPr>
          <p:cNvPr id="875" name="Google Shape;875;g3fa8d4d3c27_0_215"/>
          <p:cNvSpPr/>
          <p:nvPr/>
        </p:nvSpPr>
        <p:spPr>
          <a:xfrm>
            <a:off x="879871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fa8d4d3c27_0_215"/>
          <p:cNvSpPr/>
          <p:nvPr/>
        </p:nvSpPr>
        <p:spPr>
          <a:xfrm>
            <a:off x="9370219" y="37218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g3fa8d4d3c27_0_215"/>
          <p:cNvCxnSpPr>
            <a:stCxn id="875" idx="3"/>
            <a:endCxn id="876" idx="1"/>
          </p:cNvCxnSpPr>
          <p:nvPr/>
        </p:nvCxnSpPr>
        <p:spPr>
          <a:xfrm>
            <a:off x="8803519" y="3724294"/>
            <a:ext cx="5667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78" name="Google Shape;878;g3fa8d4d3c27_0_215"/>
          <p:cNvSpPr/>
          <p:nvPr/>
        </p:nvSpPr>
        <p:spPr>
          <a:xfrm>
            <a:off x="8810625" y="3371850"/>
            <a:ext cx="571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879" name="Google Shape;879;g3fa8d4d3c27_0_215"/>
          <p:cNvSpPr/>
          <p:nvPr/>
        </p:nvSpPr>
        <p:spPr>
          <a:xfrm>
            <a:off x="609600" y="4810125"/>
            <a:ext cx="2571900" cy="533400"/>
          </a:xfrm>
          <a:prstGeom prst="rect">
            <a:avLst/>
          </a:prstGeom>
          <a:solidFill>
            <a:srgbClr val="EEE7FA"/>
          </a:solidFill>
          <a:ln cap="flat" cmpd="sng" w="1427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Use q4</a:t>
            </a:r>
            <a:endParaRPr/>
          </a:p>
        </p:txBody>
      </p:sp>
      <p:cxnSp>
        <p:nvCxnSpPr>
          <p:cNvPr id="880" name="Google Shape;880;g3fa8d4d3c27_0_215"/>
          <p:cNvCxnSpPr>
            <a:stCxn id="858" idx="2"/>
            <a:endCxn id="879" idx="0"/>
          </p:cNvCxnSpPr>
          <p:nvPr/>
        </p:nvCxnSpPr>
        <p:spPr>
          <a:xfrm>
            <a:off x="1895550" y="4238700"/>
            <a:ext cx="0" cy="57150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81" name="Google Shape;881;g3fa8d4d3c27_0_215"/>
          <p:cNvSpPr/>
          <p:nvPr/>
        </p:nvSpPr>
        <p:spPr>
          <a:xfrm>
            <a:off x="3178969" y="5074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fa8d4d3c27_0_215"/>
          <p:cNvSpPr/>
          <p:nvPr/>
        </p:nvSpPr>
        <p:spPr>
          <a:xfrm>
            <a:off x="9122569" y="507444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fa8d4d3c27_0_215"/>
          <p:cNvSpPr/>
          <p:nvPr/>
        </p:nvSpPr>
        <p:spPr>
          <a:xfrm>
            <a:off x="9122569" y="42838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fa8d4d3c27_0_215"/>
          <p:cNvSpPr/>
          <p:nvPr/>
        </p:nvSpPr>
        <p:spPr>
          <a:xfrm>
            <a:off x="9379744" y="42838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g3fa8d4d3c27_0_215"/>
          <p:cNvCxnSpPr>
            <a:stCxn id="881" idx="3"/>
            <a:endCxn id="882" idx="1"/>
          </p:cNvCxnSpPr>
          <p:nvPr/>
        </p:nvCxnSpPr>
        <p:spPr>
          <a:xfrm>
            <a:off x="3183769" y="5076844"/>
            <a:ext cx="5938800" cy="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g3fa8d4d3c27_0_215"/>
          <p:cNvCxnSpPr>
            <a:stCxn id="882" idx="0"/>
            <a:endCxn id="883" idx="2"/>
          </p:cNvCxnSpPr>
          <p:nvPr/>
        </p:nvCxnSpPr>
        <p:spPr>
          <a:xfrm rot="10800000">
            <a:off x="9124969" y="4288744"/>
            <a:ext cx="0" cy="78570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g3fa8d4d3c27_0_215"/>
          <p:cNvCxnSpPr>
            <a:stCxn id="883" idx="3"/>
            <a:endCxn id="884" idx="1"/>
          </p:cNvCxnSpPr>
          <p:nvPr/>
        </p:nvCxnSpPr>
        <p:spPr>
          <a:xfrm>
            <a:off x="9127369" y="4286269"/>
            <a:ext cx="252300" cy="0"/>
          </a:xfrm>
          <a:prstGeom prst="straightConnector1">
            <a:avLst/>
          </a:prstGeom>
          <a:noFill/>
          <a:ln cap="flat" cmpd="sng" w="17125">
            <a:solidFill>
              <a:srgbClr val="8568C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88" name="Google Shape;888;g3fa8d4d3c27_0_215"/>
          <p:cNvSpPr/>
          <p:nvPr/>
        </p:nvSpPr>
        <p:spPr>
          <a:xfrm>
            <a:off x="9429750" y="4705350"/>
            <a:ext cx="2152800" cy="7239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After all layers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sample “today”</a:t>
            </a:r>
            <a:endParaRPr/>
          </a:p>
        </p:txBody>
      </p:sp>
      <p:cxnSp>
        <p:nvCxnSpPr>
          <p:cNvPr id="889" name="Google Shape;889;g3fa8d4d3c27_0_215"/>
          <p:cNvCxnSpPr>
            <a:stCxn id="870" idx="2"/>
            <a:endCxn id="888" idx="0"/>
          </p:cNvCxnSpPr>
          <p:nvPr/>
        </p:nvCxnSpPr>
        <p:spPr>
          <a:xfrm>
            <a:off x="10506150" y="4419750"/>
            <a:ext cx="0" cy="2856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90" name="Google Shape;890;g3fa8d4d3c27_0_215"/>
          <p:cNvSpPr/>
          <p:nvPr/>
        </p:nvSpPr>
        <p:spPr>
          <a:xfrm>
            <a:off x="4010025" y="4400550"/>
            <a:ext cx="4962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Green = reused    Orange = appended</a:t>
            </a:r>
            <a:endParaRPr/>
          </a:p>
        </p:txBody>
      </p:sp>
      <p:cxnSp>
        <p:nvCxnSpPr>
          <p:cNvPr id="891" name="Google Shape;891;g3fa8d4d3c27_0_215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2" name="Google Shape;892;g3fa8d4d3c27_0_215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q4 attends to K₁:₄ and V₁:₄. Earlier Q values and earlier token computations are unnecessary.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a8d4d3c27_0_31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899" name="Google Shape;899;g3fa8d4d3c27_0_31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KV belongs to a token and a layer</a:t>
            </a:r>
            <a:endParaRPr/>
          </a:p>
        </p:txBody>
      </p:sp>
      <p:cxnSp>
        <p:nvCxnSpPr>
          <p:cNvPr id="900" name="Google Shape;900;g3fa8d4d3c27_0_31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g3fa8d4d3c27_0_31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02" name="Google Shape;902;g3fa8d4d3c27_0_31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I13</a:t>
            </a:r>
            <a:endParaRPr/>
          </a:p>
        </p:txBody>
      </p:sp>
      <p:sp>
        <p:nvSpPr>
          <p:cNvPr id="903" name="Google Shape;903;g3fa8d4d3c27_0_311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Face, How caching works</a:t>
            </a:r>
            <a:endParaRPr/>
          </a:p>
        </p:txBody>
      </p:sp>
      <p:sp>
        <p:nvSpPr>
          <p:cNvPr id="904" name="Google Shape;904;g3fa8d4d3c27_0_311"/>
          <p:cNvSpPr/>
          <p:nvPr/>
        </p:nvSpPr>
        <p:spPr>
          <a:xfrm>
            <a:off x="609600" y="166687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Each cell contains one token’s K and V for all H heads</a:t>
            </a:r>
            <a:endParaRPr/>
          </a:p>
        </p:txBody>
      </p:sp>
      <p:sp>
        <p:nvSpPr>
          <p:cNvPr id="905" name="Google Shape;905;g3fa8d4d3c27_0_311"/>
          <p:cNvSpPr/>
          <p:nvPr/>
        </p:nvSpPr>
        <p:spPr>
          <a:xfrm>
            <a:off x="3086100" y="2400300"/>
            <a:ext cx="1743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1</a:t>
            </a:r>
            <a:endParaRPr/>
          </a:p>
        </p:txBody>
      </p:sp>
      <p:sp>
        <p:nvSpPr>
          <p:cNvPr id="906" name="Google Shape;906;g3fa8d4d3c27_0_311"/>
          <p:cNvSpPr/>
          <p:nvPr/>
        </p:nvSpPr>
        <p:spPr>
          <a:xfrm>
            <a:off x="4829175" y="2400300"/>
            <a:ext cx="1743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2</a:t>
            </a:r>
            <a:endParaRPr/>
          </a:p>
        </p:txBody>
      </p:sp>
      <p:sp>
        <p:nvSpPr>
          <p:cNvPr id="907" name="Google Shape;907;g3fa8d4d3c27_0_311"/>
          <p:cNvSpPr/>
          <p:nvPr/>
        </p:nvSpPr>
        <p:spPr>
          <a:xfrm>
            <a:off x="6572250" y="2400300"/>
            <a:ext cx="1743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Token 3</a:t>
            </a:r>
            <a:endParaRPr/>
          </a:p>
        </p:txBody>
      </p:sp>
      <p:sp>
        <p:nvSpPr>
          <p:cNvPr id="908" name="Google Shape;908;g3fa8d4d3c27_0_311"/>
          <p:cNvSpPr/>
          <p:nvPr/>
        </p:nvSpPr>
        <p:spPr>
          <a:xfrm>
            <a:off x="8315325" y="2400300"/>
            <a:ext cx="1743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New token 4</a:t>
            </a:r>
            <a:endParaRPr/>
          </a:p>
        </p:txBody>
      </p:sp>
      <p:sp>
        <p:nvSpPr>
          <p:cNvPr id="909" name="Google Shape;909;g3fa8d4d3c27_0_311"/>
          <p:cNvSpPr/>
          <p:nvPr/>
        </p:nvSpPr>
        <p:spPr>
          <a:xfrm>
            <a:off x="609600" y="3162300"/>
            <a:ext cx="2162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Layer 1</a:t>
            </a:r>
            <a:endParaRPr/>
          </a:p>
        </p:txBody>
      </p:sp>
      <p:sp>
        <p:nvSpPr>
          <p:cNvPr id="910" name="Google Shape;910;g3fa8d4d3c27_0_311"/>
          <p:cNvSpPr/>
          <p:nvPr/>
        </p:nvSpPr>
        <p:spPr>
          <a:xfrm>
            <a:off x="3086100" y="30003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K(1,1)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V(1,1)</a:t>
            </a:r>
            <a:endParaRPr/>
          </a:p>
        </p:txBody>
      </p:sp>
      <p:sp>
        <p:nvSpPr>
          <p:cNvPr id="911" name="Google Shape;911;g3fa8d4d3c27_0_311"/>
          <p:cNvSpPr/>
          <p:nvPr/>
        </p:nvSpPr>
        <p:spPr>
          <a:xfrm>
            <a:off x="4829175" y="30003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K(1,2)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V(1,2)</a:t>
            </a:r>
            <a:endParaRPr/>
          </a:p>
        </p:txBody>
      </p:sp>
      <p:sp>
        <p:nvSpPr>
          <p:cNvPr id="912" name="Google Shape;912;g3fa8d4d3c27_0_311"/>
          <p:cNvSpPr/>
          <p:nvPr/>
        </p:nvSpPr>
        <p:spPr>
          <a:xfrm>
            <a:off x="6572250" y="30003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K(1,3)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V(1,3)</a:t>
            </a:r>
            <a:endParaRPr/>
          </a:p>
        </p:txBody>
      </p:sp>
      <p:sp>
        <p:nvSpPr>
          <p:cNvPr id="913" name="Google Shape;913;g3fa8d4d3c27_0_311"/>
          <p:cNvSpPr/>
          <p:nvPr/>
        </p:nvSpPr>
        <p:spPr>
          <a:xfrm>
            <a:off x="8315325" y="3000375"/>
            <a:ext cx="1628700" cy="7620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K(1,4)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V(1,4)</a:t>
            </a:r>
            <a:endParaRPr/>
          </a:p>
        </p:txBody>
      </p:sp>
      <p:sp>
        <p:nvSpPr>
          <p:cNvPr id="914" name="Google Shape;914;g3fa8d4d3c27_0_311"/>
          <p:cNvSpPr/>
          <p:nvPr/>
        </p:nvSpPr>
        <p:spPr>
          <a:xfrm>
            <a:off x="609600" y="4095750"/>
            <a:ext cx="2162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Layer 2</a:t>
            </a:r>
            <a:endParaRPr/>
          </a:p>
        </p:txBody>
      </p:sp>
      <p:sp>
        <p:nvSpPr>
          <p:cNvPr id="915" name="Google Shape;915;g3fa8d4d3c27_0_311"/>
          <p:cNvSpPr/>
          <p:nvPr/>
        </p:nvSpPr>
        <p:spPr>
          <a:xfrm>
            <a:off x="3086100" y="393382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K(2,1)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V(2,1)</a:t>
            </a:r>
            <a:endParaRPr/>
          </a:p>
        </p:txBody>
      </p:sp>
      <p:sp>
        <p:nvSpPr>
          <p:cNvPr id="916" name="Google Shape;916;g3fa8d4d3c27_0_311"/>
          <p:cNvSpPr/>
          <p:nvPr/>
        </p:nvSpPr>
        <p:spPr>
          <a:xfrm>
            <a:off x="4829175" y="393382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K(2,2)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V(2,2)</a:t>
            </a:r>
            <a:endParaRPr/>
          </a:p>
        </p:txBody>
      </p:sp>
      <p:sp>
        <p:nvSpPr>
          <p:cNvPr id="917" name="Google Shape;917;g3fa8d4d3c27_0_311"/>
          <p:cNvSpPr/>
          <p:nvPr/>
        </p:nvSpPr>
        <p:spPr>
          <a:xfrm>
            <a:off x="6572250" y="393382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K(2,3)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V(2,3)</a:t>
            </a:r>
            <a:endParaRPr/>
          </a:p>
        </p:txBody>
      </p:sp>
      <p:sp>
        <p:nvSpPr>
          <p:cNvPr id="918" name="Google Shape;918;g3fa8d4d3c27_0_311"/>
          <p:cNvSpPr/>
          <p:nvPr/>
        </p:nvSpPr>
        <p:spPr>
          <a:xfrm>
            <a:off x="8315325" y="3933825"/>
            <a:ext cx="1628700" cy="7620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K(2,4)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V(2,4)</a:t>
            </a:r>
            <a:endParaRPr/>
          </a:p>
        </p:txBody>
      </p:sp>
      <p:sp>
        <p:nvSpPr>
          <p:cNvPr id="919" name="Google Shape;919;g3fa8d4d3c27_0_311"/>
          <p:cNvSpPr/>
          <p:nvPr/>
        </p:nvSpPr>
        <p:spPr>
          <a:xfrm>
            <a:off x="609600" y="5029200"/>
            <a:ext cx="2162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Layer L</a:t>
            </a:r>
            <a:endParaRPr/>
          </a:p>
        </p:txBody>
      </p:sp>
      <p:sp>
        <p:nvSpPr>
          <p:cNvPr id="920" name="Google Shape;920;g3fa8d4d3c27_0_311"/>
          <p:cNvSpPr/>
          <p:nvPr/>
        </p:nvSpPr>
        <p:spPr>
          <a:xfrm>
            <a:off x="3086100" y="48672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K(L,1)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V(L,1)</a:t>
            </a:r>
            <a:endParaRPr/>
          </a:p>
        </p:txBody>
      </p:sp>
      <p:sp>
        <p:nvSpPr>
          <p:cNvPr id="921" name="Google Shape;921;g3fa8d4d3c27_0_311"/>
          <p:cNvSpPr/>
          <p:nvPr/>
        </p:nvSpPr>
        <p:spPr>
          <a:xfrm>
            <a:off x="4829175" y="48672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K(L,2)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V(L,2)</a:t>
            </a:r>
            <a:endParaRPr/>
          </a:p>
        </p:txBody>
      </p:sp>
      <p:sp>
        <p:nvSpPr>
          <p:cNvPr id="922" name="Google Shape;922;g3fa8d4d3c27_0_311"/>
          <p:cNvSpPr/>
          <p:nvPr/>
        </p:nvSpPr>
        <p:spPr>
          <a:xfrm>
            <a:off x="6572250" y="4867275"/>
            <a:ext cx="1628700" cy="7620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K(L,3)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V(L,3)</a:t>
            </a:r>
            <a:endParaRPr/>
          </a:p>
        </p:txBody>
      </p:sp>
      <p:sp>
        <p:nvSpPr>
          <p:cNvPr id="923" name="Google Shape;923;g3fa8d4d3c27_0_311"/>
          <p:cNvSpPr/>
          <p:nvPr/>
        </p:nvSpPr>
        <p:spPr>
          <a:xfrm>
            <a:off x="8315325" y="4867275"/>
            <a:ext cx="1628700" cy="7620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K(L,4)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V(L,4)</a:t>
            </a:r>
            <a:endParaRPr/>
          </a:p>
        </p:txBody>
      </p:sp>
      <p:sp>
        <p:nvSpPr>
          <p:cNvPr id="924" name="Google Shape;924;g3fa8d4d3c27_0_311"/>
          <p:cNvSpPr/>
          <p:nvPr/>
        </p:nvSpPr>
        <p:spPr>
          <a:xfrm>
            <a:off x="609600" y="5962650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Each layer has its own projection weights and hidden states, so its cache entries differ.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fa8d4d3c27_0_342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931" name="Google Shape;931;g3fa8d4d3c27_0_342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How large does the KV cache become?</a:t>
            </a:r>
            <a:endParaRPr/>
          </a:p>
        </p:txBody>
      </p:sp>
      <p:cxnSp>
        <p:nvCxnSpPr>
          <p:cNvPr id="932" name="Google Shape;932;g3fa8d4d3c27_0_342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g3fa8d4d3c27_0_342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34" name="Google Shape;934;g3fa8d4d3c27_0_342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I14</a:t>
            </a:r>
            <a:endParaRPr/>
          </a:p>
        </p:txBody>
      </p:sp>
      <p:sp>
        <p:nvSpPr>
          <p:cNvPr id="935" name="Google Shape;935;g3fa8d4d3c27_0_342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Face, How caching works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Shazeer, Fast Transformer Decoding</a:t>
            </a:r>
            <a:endParaRPr/>
          </a:p>
        </p:txBody>
      </p:sp>
      <p:sp>
        <p:nvSpPr>
          <p:cNvPr id="936" name="Google Shape;936;g3fa8d4d3c27_0_342"/>
          <p:cNvSpPr/>
          <p:nvPr/>
        </p:nvSpPr>
        <p:spPr>
          <a:xfrm>
            <a:off x="609600" y="166687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MHA stores K and V per layer as [B, H, T, d]. B is the number of requests.</a:t>
            </a:r>
            <a:endParaRPr/>
          </a:p>
        </p:txBody>
      </p:sp>
      <p:sp>
        <p:nvSpPr>
          <p:cNvPr id="937" name="Google Shape;937;g3fa8d4d3c27_0_342"/>
          <p:cNvSpPr/>
          <p:nvPr/>
        </p:nvSpPr>
        <p:spPr>
          <a:xfrm>
            <a:off x="609600" y="2324100"/>
            <a:ext cx="10972800" cy="7335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EA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KV bytes = 2 × L × B × T × H × d × </a:t>
            </a:r>
            <a:r>
              <a:rPr b="1" lang="en-US" sz="2700">
                <a:solidFill>
                  <a:srgbClr val="173F71"/>
                </a:solidFill>
              </a:rPr>
              <a:t>precision</a:t>
            </a:r>
            <a:endParaRPr/>
          </a:p>
        </p:txBody>
      </p:sp>
      <p:sp>
        <p:nvSpPr>
          <p:cNvPr id="938" name="Google Shape;938;g3fa8d4d3c27_0_342"/>
          <p:cNvSpPr/>
          <p:nvPr/>
        </p:nvSpPr>
        <p:spPr>
          <a:xfrm>
            <a:off x="609600" y="3324225"/>
            <a:ext cx="109728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32 layers, 32 heads, d = 128, BF16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Per token per request    2 × 32 × 32 × 128 × 2 = 512 KiB</a:t>
            </a:r>
            <a:endParaRPr/>
          </a:p>
        </p:txBody>
      </p:sp>
      <p:graphicFrame>
        <p:nvGraphicFramePr>
          <p:cNvPr id="939" name="Google Shape;939;g3fa8d4d3c27_0_342"/>
          <p:cNvGraphicFramePr/>
          <p:nvPr/>
        </p:nvGraphicFramePr>
        <p:xfrm>
          <a:off x="609600" y="442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4724400"/>
                <a:gridCol w="3124200"/>
                <a:gridCol w="31242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 length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request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Eight requests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4,096 tokens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8,192 tokens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940" name="Google Shape;940;g3fa8d4d3c27_0_342"/>
          <p:cNvSpPr/>
          <p:nvPr/>
        </p:nvSpPr>
        <p:spPr>
          <a:xfrm>
            <a:off x="609600" y="5924550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Full attention, equal lengths, no allocation overhead. Weight quantization leaves KV bytes unchanged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unless KV precision also changes. GQA, MQA and MLA reduce the attention state in different ways.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a8d4d3c27_0_386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947" name="Google Shape;947;g3fa8d4d3c27_0_386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FLOPs in prefill and one decoding step</a:t>
            </a:r>
            <a:endParaRPr/>
          </a:p>
        </p:txBody>
      </p:sp>
      <p:cxnSp>
        <p:nvCxnSpPr>
          <p:cNvPr id="948" name="Google Shape;948;g3fa8d4d3c27_0_386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g3fa8d4d3c27_0_386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50" name="Google Shape;950;g3fa8d4d3c27_0_386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I05</a:t>
            </a:r>
            <a:endParaRPr/>
          </a:p>
        </p:txBody>
      </p:sp>
      <p:sp>
        <p:nvSpPr>
          <p:cNvPr id="951" name="Google Shape;951;g3fa8d4d3c27_0_386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Shazeer, Fast Transformer Decoding</a:t>
            </a:r>
            <a:endParaRPr/>
          </a:p>
        </p:txBody>
      </p:sp>
      <p:sp>
        <p:nvSpPr>
          <p:cNvPr id="952" name="Google Shape;952;g3fa8d4d3c27_0_386"/>
          <p:cNvSpPr/>
          <p:nvPr/>
        </p:nvSpPr>
        <p:spPr>
          <a:xfrm>
            <a:off x="609600" y="166687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layer, one request. Decoding uses cached earlier K and V.</a:t>
            </a:r>
            <a:endParaRPr/>
          </a:p>
        </p:txBody>
      </p:sp>
      <p:graphicFrame>
        <p:nvGraphicFramePr>
          <p:cNvPr id="953" name="Google Shape;953;g3fa8d4d3c27_0_386"/>
          <p:cNvGraphicFramePr/>
          <p:nvPr/>
        </p:nvGraphicFramePr>
        <p:xfrm>
          <a:off x="609600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476625"/>
                <a:gridCol w="3514725"/>
                <a:gridCol w="3981450"/>
              </a:tblGrid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Prefill, P input tokens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Decode, T context tokens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Q, K and V projections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6PD²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6D²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QKᵀ and attention × 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2P(P + 1)D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4TD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projection WO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2PD²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SwiGLU FFN, width 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6PDF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0" lang="en-US" sz="210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6DF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954" name="Google Shape;954;g3fa8d4d3c27_0_386"/>
          <p:cNvSpPr/>
          <p:nvPr/>
        </p:nvSpPr>
        <p:spPr>
          <a:xfrm>
            <a:off x="609600" y="537210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 multiply-add counts as 2 FLOPs. Multiply by the number of layers 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 includes the new token. Attention counts useful causal pairs.</a:t>
            </a:r>
            <a:endParaRPr/>
          </a:p>
        </p:txBody>
      </p:sp>
      <p:sp>
        <p:nvSpPr>
          <p:cNvPr id="955" name="Google Shape;955;g3fa8d4d3c27_0_386"/>
          <p:cNvSpPr/>
          <p:nvPr/>
        </p:nvSpPr>
        <p:spPr>
          <a:xfrm>
            <a:off x="609600" y="6143625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Counts exclude softmax, normalization and elementwise work. Full-square attention adds masked work.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a8d4d3c27_0_400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962" name="Google Shape;962;g3fa8d4d3c27_0_400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Data I/O in prefill and one decoding step</a:t>
            </a:r>
            <a:endParaRPr/>
          </a:p>
        </p:txBody>
      </p:sp>
      <p:cxnSp>
        <p:nvCxnSpPr>
          <p:cNvPr id="963" name="Google Shape;963;g3fa8d4d3c27_0_40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g3fa8d4d3c27_0_400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65" name="Google Shape;965;g3fa8d4d3c27_0_400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I06</a:t>
            </a:r>
            <a:endParaRPr/>
          </a:p>
        </p:txBody>
      </p:sp>
      <p:sp>
        <p:nvSpPr>
          <p:cNvPr id="966" name="Google Shape;966;g3fa8d4d3c27_0_400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Shazeer, Fast Transformer Decoding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Dao et al., FlashAttention</a:t>
            </a:r>
            <a:endParaRPr/>
          </a:p>
        </p:txBody>
      </p:sp>
      <p:sp>
        <p:nvSpPr>
          <p:cNvPr id="967" name="Google Shape;967;g3fa8d4d3c27_0_400"/>
          <p:cNvSpPr/>
          <p:nvPr/>
        </p:nvSpPr>
        <p:spPr>
          <a:xfrm>
            <a:off x="609600" y="166687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One layer, one request. I/O here means traffic to and from GPU HBM.</a:t>
            </a:r>
            <a:endParaRPr/>
          </a:p>
        </p:txBody>
      </p:sp>
      <p:graphicFrame>
        <p:nvGraphicFramePr>
          <p:cNvPr id="968" name="Google Shape;968;g3fa8d4d3c27_0_400"/>
          <p:cNvGraphicFramePr/>
          <p:nvPr/>
        </p:nvGraphicFramePr>
        <p:xfrm>
          <a:off x="609600" y="24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5410200"/>
                <a:gridCol w="2781300"/>
                <a:gridCol w="278130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movement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projection + FFN weights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Nℓ × bW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Nℓ × bW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earlier cached K/V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earlier cache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2(T − 1)D × bKV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Write new K/V to the cache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2PD × bKV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 × bKV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9" name="Google Shape;969;g3fa8d4d3c27_0_400"/>
          <p:cNvSpPr/>
          <p:nvPr/>
        </p:nvSpPr>
        <p:spPr>
          <a:xfrm>
            <a:off x="609600" y="501967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Nℓ = 4D² + 3DF weights per layer. bW and bKV are bytes per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This is a minimum of one weight read and one read/write per cache element.</a:t>
            </a:r>
            <a:endParaRPr/>
          </a:p>
        </p:txBody>
      </p:sp>
      <p:cxnSp>
        <p:nvCxnSpPr>
          <p:cNvPr id="970" name="Google Shape;970;g3fa8d4d3c27_0_400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g3fa8d4d3c27_0_400"/>
          <p:cNvSpPr/>
          <p:nvPr/>
        </p:nvSpPr>
        <p:spPr>
          <a:xfrm>
            <a:off x="609600" y="5838825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Activations and attention intermediates add traffic. Materializing P × P attention matrices adds quadratic I/O.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fa8d4d3c27_0_41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978" name="Google Shape;978;g3fa8d4d3c27_0_41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worked cost estimate</a:t>
            </a:r>
            <a:endParaRPr/>
          </a:p>
        </p:txBody>
      </p:sp>
      <p:cxnSp>
        <p:nvCxnSpPr>
          <p:cNvPr id="979" name="Google Shape;979;g3fa8d4d3c27_0_41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g3fa8d4d3c27_0_41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81" name="Google Shape;981;g3fa8d4d3c27_0_41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I07</a:t>
            </a:r>
            <a:endParaRPr/>
          </a:p>
        </p:txBody>
      </p:sp>
      <p:sp>
        <p:nvSpPr>
          <p:cNvPr id="982" name="Google Shape;982;g3fa8d4d3c27_0_415"/>
          <p:cNvSpPr/>
          <p:nvPr/>
        </p:nvSpPr>
        <p:spPr>
          <a:xfrm>
            <a:off x="609600" y="1666875"/>
            <a:ext cx="10972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32 layers, MHA, D = 4,096, H = 32, F = 11,008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 = T = 4,096, batch 1, BF16 weights and KV (2 bytes each)</a:t>
            </a:r>
            <a:endParaRPr/>
          </a:p>
        </p:txBody>
      </p:sp>
      <p:graphicFrame>
        <p:nvGraphicFramePr>
          <p:cNvPr id="983" name="Google Shape;983;g3fa8d4d3c27_0_415"/>
          <p:cNvGraphicFramePr/>
          <p:nvPr/>
        </p:nvGraphicFramePr>
        <p:xfrm>
          <a:off x="609600" y="260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5638800"/>
                <a:gridCol w="2667000"/>
                <a:gridCol w="26670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Across the Transformer blocks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decode step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Projection + FFN parameters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6.48 billion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6.48 billion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FLOPs, including causal attention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57.45 TFLOPs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15.10 GFLOPs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 reads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12.95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12.95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KV writes / old KV reads + writes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2.15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2.15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 + KV traffic floor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15.10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15.10 GB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4" name="Google Shape;984;g3fa8d4d3c27_0_415"/>
          <p:cNvSpPr/>
          <p:nvPr/>
        </p:nvSpPr>
        <p:spPr>
          <a:xfrm>
            <a:off x="609600" y="588645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Calculated model, not a benchmark. Decimal GB. Embeddings, vocabulary head, other activations,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intermediates and runtime overhead are excluded. Equal P and T compare two separate stage inputs.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fa8d4d3c27_0_42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PREFILL, DECODING AND KV CACHE</a:t>
            </a:r>
            <a:endParaRPr/>
          </a:p>
        </p:txBody>
      </p:sp>
      <p:sp>
        <p:nvSpPr>
          <p:cNvPr id="991" name="Google Shape;991;g3fa8d4d3c27_0_42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Compute bound and memory bandwidth bound</a:t>
            </a:r>
            <a:endParaRPr/>
          </a:p>
        </p:txBody>
      </p:sp>
      <p:cxnSp>
        <p:nvCxnSpPr>
          <p:cNvPr id="992" name="Google Shape;992;g3fa8d4d3c27_0_42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3" name="Google Shape;993;g3fa8d4d3c27_0_42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994" name="Google Shape;994;g3fa8d4d3c27_0_42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I08</a:t>
            </a:r>
            <a:endParaRPr/>
          </a:p>
        </p:txBody>
      </p:sp>
      <p:sp>
        <p:nvSpPr>
          <p:cNvPr id="995" name="Google Shape;995;g3fa8d4d3c27_0_42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 A100 datasheet, 80GB SXM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JAX Scaling Book, Transformer Inference</a:t>
            </a:r>
            <a:endParaRPr/>
          </a:p>
        </p:txBody>
      </p:sp>
      <p:sp>
        <p:nvSpPr>
          <p:cNvPr id="996" name="Google Shape;996;g3fa8d4d3c27_0_427"/>
          <p:cNvSpPr/>
          <p:nvPr/>
        </p:nvSpPr>
        <p:spPr>
          <a:xfrm>
            <a:off x="609600" y="1666875"/>
            <a:ext cx="1097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A100 80GB SXM, dense BF16 peak 312 TFLOP/s, HBM 2,039 GB/s</a:t>
            </a:r>
            <a:endParaRPr/>
          </a:p>
        </p:txBody>
      </p:sp>
      <p:sp>
        <p:nvSpPr>
          <p:cNvPr id="997" name="Google Shape;997;g3fa8d4d3c27_0_427"/>
          <p:cNvSpPr/>
          <p:nvPr/>
        </p:nvSpPr>
        <p:spPr>
          <a:xfrm>
            <a:off x="609600" y="218122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Time ≥ max(FLOPs / compute rate, bytes / bandwidth)</a:t>
            </a:r>
            <a:endParaRPr/>
          </a:p>
        </p:txBody>
      </p:sp>
      <p:sp>
        <p:nvSpPr>
          <p:cNvPr id="998" name="Google Shape;998;g3fa8d4d3c27_0_427"/>
          <p:cNvSpPr/>
          <p:nvPr/>
        </p:nvSpPr>
        <p:spPr>
          <a:xfrm>
            <a:off x="609600" y="2857500"/>
            <a:ext cx="5219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4,096-token prefill (ms)</a:t>
            </a:r>
            <a:endParaRPr/>
          </a:p>
        </p:txBody>
      </p:sp>
      <p:sp>
        <p:nvSpPr>
          <p:cNvPr id="999" name="Google Shape;999;g3fa8d4d3c27_0_427"/>
          <p:cNvSpPr/>
          <p:nvPr/>
        </p:nvSpPr>
        <p:spPr>
          <a:xfrm>
            <a:off x="6362700" y="2857500"/>
            <a:ext cx="5219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One decode step (ms)</a:t>
            </a:r>
            <a:endParaRPr/>
          </a:p>
        </p:txBody>
      </p:sp>
      <p:pic>
        <p:nvPicPr>
          <p:cNvPr id="1000" name="Google Shape;1000;g3fa8d4d3c27_0_4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267075"/>
            <a:ext cx="5219700" cy="22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g3fa8d4d3c27_0_4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2700" y="3267075"/>
            <a:ext cx="5219700" cy="22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g3fa8d4d3c27_0_427"/>
          <p:cNvSpPr/>
          <p:nvPr/>
        </p:nvSpPr>
        <p:spPr>
          <a:xfrm>
            <a:off x="609600" y="5534025"/>
            <a:ext cx="1097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Calculated floors from the previous slide. The plots use different scales. Actual I/O and latency are higher.</a:t>
            </a:r>
            <a:endParaRPr/>
          </a:p>
        </p:txBody>
      </p:sp>
      <p:sp>
        <p:nvSpPr>
          <p:cNvPr id="1003" name="Google Shape;1003;g3fa8d4d3c27_0_427"/>
          <p:cNvSpPr/>
          <p:nvPr/>
        </p:nvSpPr>
        <p:spPr>
          <a:xfrm>
            <a:off x="609600" y="5895975"/>
            <a:ext cx="10972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Long prefill is often compute bound. Small-batch decoding is often bandwidth bound.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Short prompts, batch size and kernels can change the bottleneck.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fa8d4d3c27_0_65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ATTENTION ARCHITECTURES</a:t>
            </a:r>
            <a:endParaRPr/>
          </a:p>
        </p:txBody>
      </p:sp>
      <p:sp>
        <p:nvSpPr>
          <p:cNvPr id="1010" name="Google Shape;1010;g3fa8d4d3c27_0_65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Multi-head attention (MHA)</a:t>
            </a:r>
            <a:endParaRPr/>
          </a:p>
        </p:txBody>
      </p:sp>
      <p:cxnSp>
        <p:nvCxnSpPr>
          <p:cNvPr id="1011" name="Google Shape;1011;g3fa8d4d3c27_0_65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2" name="Google Shape;1012;g3fa8d4d3c27_0_65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013" name="Google Shape;1013;g3fa8d4d3c27_0_65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A01</a:t>
            </a:r>
            <a:endParaRPr/>
          </a:p>
        </p:txBody>
      </p:sp>
      <p:sp>
        <p:nvSpPr>
          <p:cNvPr id="1014" name="Google Shape;1014;g3fa8d4d3c27_0_659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Vaswani et al., Attention Is All You Need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Meta, The Llama 3 Herd of Models, Table 3</a:t>
            </a:r>
            <a:endParaRPr/>
          </a:p>
        </p:txBody>
      </p:sp>
      <p:sp>
        <p:nvSpPr>
          <p:cNvPr id="1015" name="Google Shape;1015;g3fa8d4d3c27_0_659"/>
          <p:cNvSpPr/>
          <p:nvPr/>
        </p:nvSpPr>
        <p:spPr>
          <a:xfrm>
            <a:off x="609600" y="3238500"/>
            <a:ext cx="1238400" cy="7431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[B, S, D]</a:t>
            </a:r>
            <a:endParaRPr/>
          </a:p>
        </p:txBody>
      </p:sp>
      <p:sp>
        <p:nvSpPr>
          <p:cNvPr id="1016" name="Google Shape;1016;g3fa8d4d3c27_0_659"/>
          <p:cNvSpPr/>
          <p:nvPr/>
        </p:nvSpPr>
        <p:spPr>
          <a:xfrm>
            <a:off x="2171700" y="3238500"/>
            <a:ext cx="1371600" cy="7431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X̃</a:t>
            </a:r>
            <a:endParaRPr/>
          </a:p>
        </p:txBody>
      </p:sp>
      <p:sp>
        <p:nvSpPr>
          <p:cNvPr id="1017" name="Google Shape;1017;g3fa8d4d3c27_0_659"/>
          <p:cNvSpPr/>
          <p:nvPr/>
        </p:nvSpPr>
        <p:spPr>
          <a:xfrm>
            <a:off x="3981450" y="2076450"/>
            <a:ext cx="2047800" cy="714300"/>
          </a:xfrm>
          <a:prstGeom prst="rect">
            <a:avLst/>
          </a:prstGeom>
          <a:solidFill>
            <a:srgbClr val="EEE7FA"/>
          </a:solidFill>
          <a:ln cap="flat" cmpd="sng" w="14275">
            <a:solidFill>
              <a:srgbClr val="856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 = X̃WQ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 query heads</a:t>
            </a:r>
            <a:endParaRPr/>
          </a:p>
        </p:txBody>
      </p:sp>
      <p:sp>
        <p:nvSpPr>
          <p:cNvPr id="1018" name="Google Shape;1018;g3fa8d4d3c27_0_659"/>
          <p:cNvSpPr/>
          <p:nvPr/>
        </p:nvSpPr>
        <p:spPr>
          <a:xfrm>
            <a:off x="3981450" y="3333750"/>
            <a:ext cx="2047800" cy="714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K = X̃WK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 key heads</a:t>
            </a:r>
            <a:endParaRPr/>
          </a:p>
        </p:txBody>
      </p:sp>
      <p:sp>
        <p:nvSpPr>
          <p:cNvPr id="1019" name="Google Shape;1019;g3fa8d4d3c27_0_659"/>
          <p:cNvSpPr/>
          <p:nvPr/>
        </p:nvSpPr>
        <p:spPr>
          <a:xfrm>
            <a:off x="3981450" y="4772025"/>
            <a:ext cx="2047800" cy="7143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V = X̃WV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 value heads</a:t>
            </a:r>
            <a:endParaRPr/>
          </a:p>
        </p:txBody>
      </p:sp>
      <p:cxnSp>
        <p:nvCxnSpPr>
          <p:cNvPr id="1020" name="Google Shape;1020;g3fa8d4d3c27_0_659"/>
          <p:cNvCxnSpPr>
            <a:stCxn id="1015" idx="3"/>
            <a:endCxn id="1016" idx="1"/>
          </p:cNvCxnSpPr>
          <p:nvPr/>
        </p:nvCxnSpPr>
        <p:spPr>
          <a:xfrm>
            <a:off x="1848000" y="3610050"/>
            <a:ext cx="3237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21" name="Google Shape;1021;g3fa8d4d3c27_0_659"/>
          <p:cNvCxnSpPr>
            <a:stCxn id="1016" idx="3"/>
            <a:endCxn id="1017" idx="1"/>
          </p:cNvCxnSpPr>
          <p:nvPr/>
        </p:nvCxnSpPr>
        <p:spPr>
          <a:xfrm flipH="1" rot="10800000">
            <a:off x="3543300" y="2433750"/>
            <a:ext cx="438300" cy="1176300"/>
          </a:xfrm>
          <a:prstGeom prst="bentConnector3">
            <a:avLst>
              <a:gd fmla="val 49983" name="adj1"/>
            </a:avLst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22" name="Google Shape;1022;g3fa8d4d3c27_0_659"/>
          <p:cNvCxnSpPr>
            <a:stCxn id="1016" idx="3"/>
            <a:endCxn id="1018" idx="1"/>
          </p:cNvCxnSpPr>
          <p:nvPr/>
        </p:nvCxnSpPr>
        <p:spPr>
          <a:xfrm>
            <a:off x="3543300" y="3610050"/>
            <a:ext cx="438300" cy="810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23" name="Google Shape;1023;g3fa8d4d3c27_0_659"/>
          <p:cNvCxnSpPr>
            <a:stCxn id="1016" idx="3"/>
            <a:endCxn id="1019" idx="1"/>
          </p:cNvCxnSpPr>
          <p:nvPr/>
        </p:nvCxnSpPr>
        <p:spPr>
          <a:xfrm>
            <a:off x="3543300" y="3610050"/>
            <a:ext cx="438300" cy="1519200"/>
          </a:xfrm>
          <a:prstGeom prst="bentConnector3">
            <a:avLst>
              <a:gd fmla="val 49983" name="adj1"/>
            </a:avLst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24" name="Google Shape;1024;g3fa8d4d3c27_0_659"/>
          <p:cNvSpPr/>
          <p:nvPr/>
        </p:nvSpPr>
        <p:spPr>
          <a:xfrm>
            <a:off x="6600825" y="2076450"/>
            <a:ext cx="19050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QKᵀ</a:t>
            </a:r>
            <a:endParaRPr/>
          </a:p>
        </p:txBody>
      </p:sp>
      <p:sp>
        <p:nvSpPr>
          <p:cNvPr id="1025" name="Google Shape;1025;g3fa8d4d3c27_0_659"/>
          <p:cNvSpPr/>
          <p:nvPr/>
        </p:nvSpPr>
        <p:spPr>
          <a:xfrm>
            <a:off x="6600825" y="2990850"/>
            <a:ext cx="19050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÷ √d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+ causal mask</a:t>
            </a:r>
            <a:endParaRPr/>
          </a:p>
        </p:txBody>
      </p:sp>
      <p:sp>
        <p:nvSpPr>
          <p:cNvPr id="1026" name="Google Shape;1026;g3fa8d4d3c27_0_659"/>
          <p:cNvSpPr/>
          <p:nvPr/>
        </p:nvSpPr>
        <p:spPr>
          <a:xfrm>
            <a:off x="6600825" y="3905250"/>
            <a:ext cx="19050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over keys</a:t>
            </a:r>
            <a:endParaRPr/>
          </a:p>
        </p:txBody>
      </p:sp>
      <p:sp>
        <p:nvSpPr>
          <p:cNvPr id="1027" name="Google Shape;1027;g3fa8d4d3c27_0_659"/>
          <p:cNvSpPr/>
          <p:nvPr/>
        </p:nvSpPr>
        <p:spPr>
          <a:xfrm>
            <a:off x="6600825" y="4857750"/>
            <a:ext cx="19050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Attention × V</a:t>
            </a:r>
            <a:endParaRPr/>
          </a:p>
        </p:txBody>
      </p:sp>
      <p:cxnSp>
        <p:nvCxnSpPr>
          <p:cNvPr id="1028" name="Google Shape;1028;g3fa8d4d3c27_0_659"/>
          <p:cNvCxnSpPr>
            <a:stCxn id="1017" idx="3"/>
            <a:endCxn id="1024" idx="1"/>
          </p:cNvCxnSpPr>
          <p:nvPr/>
        </p:nvCxnSpPr>
        <p:spPr>
          <a:xfrm flipH="1" rot="10800000">
            <a:off x="6029250" y="2386200"/>
            <a:ext cx="571500" cy="474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29" name="Google Shape;1029;g3fa8d4d3c27_0_659"/>
          <p:cNvSpPr/>
          <p:nvPr/>
        </p:nvSpPr>
        <p:spPr>
          <a:xfrm>
            <a:off x="6026944" y="36837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3fa8d4d3c27_0_659"/>
          <p:cNvSpPr/>
          <p:nvPr/>
        </p:nvSpPr>
        <p:spPr>
          <a:xfrm>
            <a:off x="6303169" y="3683794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fa8d4d3c27_0_659"/>
          <p:cNvSpPr/>
          <p:nvPr/>
        </p:nvSpPr>
        <p:spPr>
          <a:xfrm>
            <a:off x="6303169" y="26074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fa8d4d3c27_0_659"/>
          <p:cNvSpPr/>
          <p:nvPr/>
        </p:nvSpPr>
        <p:spPr>
          <a:xfrm>
            <a:off x="6588919" y="26074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3" name="Google Shape;1033;g3fa8d4d3c27_0_659"/>
          <p:cNvCxnSpPr>
            <a:stCxn id="1029" idx="3"/>
            <a:endCxn id="1030" idx="1"/>
          </p:cNvCxnSpPr>
          <p:nvPr/>
        </p:nvCxnSpPr>
        <p:spPr>
          <a:xfrm>
            <a:off x="6031744" y="3686194"/>
            <a:ext cx="2715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g3fa8d4d3c27_0_659"/>
          <p:cNvCxnSpPr>
            <a:stCxn id="1030" idx="0"/>
            <a:endCxn id="1031" idx="2"/>
          </p:cNvCxnSpPr>
          <p:nvPr/>
        </p:nvCxnSpPr>
        <p:spPr>
          <a:xfrm rot="10800000">
            <a:off x="6305569" y="2612194"/>
            <a:ext cx="0" cy="107160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g3fa8d4d3c27_0_659"/>
          <p:cNvCxnSpPr>
            <a:stCxn id="1031" idx="3"/>
            <a:endCxn id="1032" idx="1"/>
          </p:cNvCxnSpPr>
          <p:nvPr/>
        </p:nvCxnSpPr>
        <p:spPr>
          <a:xfrm>
            <a:off x="6307969" y="2609869"/>
            <a:ext cx="281100" cy="0"/>
          </a:xfrm>
          <a:prstGeom prst="straightConnector1">
            <a:avLst/>
          </a:prstGeom>
          <a:noFill/>
          <a:ln cap="flat" cmpd="sng" w="17125">
            <a:solidFill>
              <a:srgbClr val="49A27D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36" name="Google Shape;1036;g3fa8d4d3c27_0_659"/>
          <p:cNvCxnSpPr>
            <a:stCxn id="1024" idx="2"/>
            <a:endCxn id="1025" idx="0"/>
          </p:cNvCxnSpPr>
          <p:nvPr/>
        </p:nvCxnSpPr>
        <p:spPr>
          <a:xfrm>
            <a:off x="7553325" y="2695650"/>
            <a:ext cx="0" cy="2952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37" name="Google Shape;1037;g3fa8d4d3c27_0_659"/>
          <p:cNvCxnSpPr>
            <a:stCxn id="1025" idx="2"/>
            <a:endCxn id="1026" idx="0"/>
          </p:cNvCxnSpPr>
          <p:nvPr/>
        </p:nvCxnSpPr>
        <p:spPr>
          <a:xfrm>
            <a:off x="7553325" y="3610050"/>
            <a:ext cx="0" cy="2952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38" name="Google Shape;1038;g3fa8d4d3c27_0_659"/>
          <p:cNvCxnSpPr>
            <a:stCxn id="1026" idx="2"/>
            <a:endCxn id="1027" idx="0"/>
          </p:cNvCxnSpPr>
          <p:nvPr/>
        </p:nvCxnSpPr>
        <p:spPr>
          <a:xfrm>
            <a:off x="7553325" y="4524450"/>
            <a:ext cx="0" cy="333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39" name="Google Shape;1039;g3fa8d4d3c27_0_659"/>
          <p:cNvCxnSpPr>
            <a:stCxn id="1019" idx="3"/>
            <a:endCxn id="1027" idx="1"/>
          </p:cNvCxnSpPr>
          <p:nvPr/>
        </p:nvCxnSpPr>
        <p:spPr>
          <a:xfrm>
            <a:off x="6029250" y="5129175"/>
            <a:ext cx="571500" cy="381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40" name="Google Shape;1040;g3fa8d4d3c27_0_659"/>
          <p:cNvSpPr/>
          <p:nvPr/>
        </p:nvSpPr>
        <p:spPr>
          <a:xfrm>
            <a:off x="9258300" y="4857750"/>
            <a:ext cx="20478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Concat heads</a:t>
            </a:r>
            <a:endParaRPr/>
          </a:p>
        </p:txBody>
      </p:sp>
      <p:sp>
        <p:nvSpPr>
          <p:cNvPr id="1041" name="Google Shape;1041;g3fa8d4d3c27_0_659"/>
          <p:cNvSpPr/>
          <p:nvPr/>
        </p:nvSpPr>
        <p:spPr>
          <a:xfrm>
            <a:off x="9258300" y="3905250"/>
            <a:ext cx="2047800" cy="6192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Output × WO</a:t>
            </a:r>
            <a:endParaRPr/>
          </a:p>
        </p:txBody>
      </p:sp>
      <p:sp>
        <p:nvSpPr>
          <p:cNvPr id="1042" name="Google Shape;1042;g3fa8d4d3c27_0_659"/>
          <p:cNvSpPr/>
          <p:nvPr/>
        </p:nvSpPr>
        <p:spPr>
          <a:xfrm>
            <a:off x="9258300" y="2952750"/>
            <a:ext cx="2047800" cy="6192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+ X</a:t>
            </a:r>
            <a:endParaRPr/>
          </a:p>
        </p:txBody>
      </p:sp>
      <p:sp>
        <p:nvSpPr>
          <p:cNvPr id="1043" name="Google Shape;1043;g3fa8d4d3c27_0_659"/>
          <p:cNvSpPr/>
          <p:nvPr/>
        </p:nvSpPr>
        <p:spPr>
          <a:xfrm>
            <a:off x="9258300" y="2000250"/>
            <a:ext cx="2047800" cy="619200"/>
          </a:xfrm>
          <a:prstGeom prst="rect">
            <a:avLst/>
          </a:prstGeom>
          <a:solidFill>
            <a:srgbClr val="F0F2F4"/>
          </a:solidFill>
          <a:ln cap="flat" cmpd="sng" w="142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Y  [B, S, D]</a:t>
            </a:r>
            <a:endParaRPr/>
          </a:p>
        </p:txBody>
      </p:sp>
      <p:cxnSp>
        <p:nvCxnSpPr>
          <p:cNvPr id="1044" name="Google Shape;1044;g3fa8d4d3c27_0_659"/>
          <p:cNvCxnSpPr>
            <a:stCxn id="1027" idx="3"/>
            <a:endCxn id="1040" idx="1"/>
          </p:cNvCxnSpPr>
          <p:nvPr/>
        </p:nvCxnSpPr>
        <p:spPr>
          <a:xfrm>
            <a:off x="8505825" y="5167350"/>
            <a:ext cx="752400" cy="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45" name="Google Shape;1045;g3fa8d4d3c27_0_659"/>
          <p:cNvCxnSpPr>
            <a:stCxn id="1040" idx="0"/>
            <a:endCxn id="1041" idx="2"/>
          </p:cNvCxnSpPr>
          <p:nvPr/>
        </p:nvCxnSpPr>
        <p:spPr>
          <a:xfrm rot="10800000">
            <a:off x="10282200" y="4524450"/>
            <a:ext cx="0" cy="333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46" name="Google Shape;1046;g3fa8d4d3c27_0_659"/>
          <p:cNvCxnSpPr>
            <a:stCxn id="1041" idx="0"/>
            <a:endCxn id="1042" idx="2"/>
          </p:cNvCxnSpPr>
          <p:nvPr/>
        </p:nvCxnSpPr>
        <p:spPr>
          <a:xfrm rot="10800000">
            <a:off x="10282200" y="3571950"/>
            <a:ext cx="0" cy="333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047" name="Google Shape;1047;g3fa8d4d3c27_0_659"/>
          <p:cNvCxnSpPr>
            <a:stCxn id="1042" idx="0"/>
            <a:endCxn id="1043" idx="2"/>
          </p:cNvCxnSpPr>
          <p:nvPr/>
        </p:nvCxnSpPr>
        <p:spPr>
          <a:xfrm rot="10800000">
            <a:off x="10282200" y="2619450"/>
            <a:ext cx="0" cy="333300"/>
          </a:xfrm>
          <a:prstGeom prst="straightConnector1">
            <a:avLst/>
          </a:prstGeom>
          <a:noFill/>
          <a:ln cap="flat" cmpd="sng" w="17125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48" name="Google Shape;1048;g3fa8d4d3c27_0_659"/>
          <p:cNvSpPr/>
          <p:nvPr/>
        </p:nvSpPr>
        <p:spPr>
          <a:xfrm>
            <a:off x="1226344" y="32361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g3fa8d4d3c27_0_659"/>
          <p:cNvSpPr/>
          <p:nvPr/>
        </p:nvSpPr>
        <p:spPr>
          <a:xfrm>
            <a:off x="1226344" y="16740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fa8d4d3c27_0_659"/>
          <p:cNvSpPr/>
          <p:nvPr/>
        </p:nvSpPr>
        <p:spPr>
          <a:xfrm>
            <a:off x="11732419" y="167401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fa8d4d3c27_0_659"/>
          <p:cNvSpPr/>
          <p:nvPr/>
        </p:nvSpPr>
        <p:spPr>
          <a:xfrm>
            <a:off x="11732419" y="32551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fa8d4d3c27_0_659"/>
          <p:cNvSpPr/>
          <p:nvPr/>
        </p:nvSpPr>
        <p:spPr>
          <a:xfrm>
            <a:off x="11303794" y="3255169"/>
            <a:ext cx="4800" cy="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3" name="Google Shape;1053;g3fa8d4d3c27_0_659"/>
          <p:cNvCxnSpPr>
            <a:stCxn id="1048" idx="0"/>
            <a:endCxn id="1049" idx="2"/>
          </p:cNvCxnSpPr>
          <p:nvPr/>
        </p:nvCxnSpPr>
        <p:spPr>
          <a:xfrm rot="10800000">
            <a:off x="1228744" y="1678819"/>
            <a:ext cx="0" cy="1557300"/>
          </a:xfrm>
          <a:prstGeom prst="straightConnector1">
            <a:avLst/>
          </a:prstGeom>
          <a:noFill/>
          <a:ln cap="flat" cmpd="sng" w="171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g3fa8d4d3c27_0_659"/>
          <p:cNvCxnSpPr>
            <a:stCxn id="1049" idx="3"/>
            <a:endCxn id="1050" idx="1"/>
          </p:cNvCxnSpPr>
          <p:nvPr/>
        </p:nvCxnSpPr>
        <p:spPr>
          <a:xfrm>
            <a:off x="1231144" y="1676419"/>
            <a:ext cx="10501200" cy="0"/>
          </a:xfrm>
          <a:prstGeom prst="straightConnector1">
            <a:avLst/>
          </a:prstGeom>
          <a:noFill/>
          <a:ln cap="flat" cmpd="sng" w="171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g3fa8d4d3c27_0_659"/>
          <p:cNvCxnSpPr>
            <a:stCxn id="1050" idx="2"/>
            <a:endCxn id="1051" idx="0"/>
          </p:cNvCxnSpPr>
          <p:nvPr/>
        </p:nvCxnSpPr>
        <p:spPr>
          <a:xfrm>
            <a:off x="11734819" y="1678819"/>
            <a:ext cx="0" cy="1576500"/>
          </a:xfrm>
          <a:prstGeom prst="straightConnector1">
            <a:avLst/>
          </a:prstGeom>
          <a:noFill/>
          <a:ln cap="flat" cmpd="sng" w="171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g3fa8d4d3c27_0_659"/>
          <p:cNvCxnSpPr>
            <a:stCxn id="1051" idx="1"/>
            <a:endCxn id="1052" idx="3"/>
          </p:cNvCxnSpPr>
          <p:nvPr/>
        </p:nvCxnSpPr>
        <p:spPr>
          <a:xfrm rot="10800000">
            <a:off x="11308519" y="3257569"/>
            <a:ext cx="423900" cy="0"/>
          </a:xfrm>
          <a:prstGeom prst="straightConnector1">
            <a:avLst/>
          </a:prstGeom>
          <a:noFill/>
          <a:ln cap="flat" cmpd="sng" w="17125">
            <a:solidFill>
              <a:srgbClr val="FF9B5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057" name="Google Shape;1057;g3fa8d4d3c27_0_659"/>
          <p:cNvSpPr/>
          <p:nvPr/>
        </p:nvSpPr>
        <p:spPr>
          <a:xfrm>
            <a:off x="7543800" y="1438275"/>
            <a:ext cx="200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9B52"/>
                </a:solidFill>
                <a:latin typeface="Arial"/>
                <a:ea typeface="Arial"/>
                <a:cs typeface="Arial"/>
                <a:sym typeface="Arial"/>
              </a:rPr>
              <a:t>Residual path</a:t>
            </a:r>
            <a:endParaRPr/>
          </a:p>
        </p:txBody>
      </p:sp>
      <p:sp>
        <p:nvSpPr>
          <p:cNvPr id="1058" name="Google Shape;1058;g3fa8d4d3c27_0_659"/>
          <p:cNvSpPr/>
          <p:nvPr/>
        </p:nvSpPr>
        <p:spPr>
          <a:xfrm>
            <a:off x="609600" y="5876925"/>
            <a:ext cx="10972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 requests, S input tokens, H heads, d = D/H. Each head runs its own attention.</a:t>
            </a:r>
            <a:endParaRPr/>
          </a:p>
        </p:txBody>
      </p:sp>
      <p:sp>
        <p:nvSpPr>
          <p:cNvPr id="1059" name="Google Shape;1059;g3fa8d4d3c27_0_659"/>
          <p:cNvSpPr/>
          <p:nvPr/>
        </p:nvSpPr>
        <p:spPr>
          <a:xfrm>
            <a:off x="609600" y="6219825"/>
            <a:ext cx="10972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Attention sublayer only. RoPE omitted. The FFN follows this residual in a complete Transformer block.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fa8d4d3c27_0_748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ATTENTION ARCHITECTURES</a:t>
            </a:r>
            <a:endParaRPr/>
          </a:p>
        </p:txBody>
      </p:sp>
      <p:sp>
        <p:nvSpPr>
          <p:cNvPr id="1066" name="Google Shape;1066;g3fa8d4d3c27_0_748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MQA and GQA</a:t>
            </a:r>
            <a:endParaRPr/>
          </a:p>
        </p:txBody>
      </p:sp>
      <p:cxnSp>
        <p:nvCxnSpPr>
          <p:cNvPr id="1067" name="Google Shape;1067;g3fa8d4d3c27_0_748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8" name="Google Shape;1068;g3fa8d4d3c27_0_748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069" name="Google Shape;1069;g3fa8d4d3c27_0_748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A02</a:t>
            </a:r>
            <a:endParaRPr/>
          </a:p>
        </p:txBody>
      </p:sp>
      <p:sp>
        <p:nvSpPr>
          <p:cNvPr id="1070" name="Google Shape;1070;g3fa8d4d3c27_0_748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Shazeer, Fast Transformer Decoding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Ainslie et al., GQA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H query heads, G K/V heads, d = D/H. S = 1 in decoding. T includes cached tokens.</a:t>
            </a:r>
            <a:endParaRPr/>
          </a:p>
        </p:txBody>
      </p:sp>
      <p:pic>
        <p:nvPicPr>
          <p:cNvPr id="1071" name="Google Shape;1071;g3fa8d4d3c27_0_748" title="MQA_GQA_Architecture_Redesign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38252"/>
            <a:ext cx="12192000" cy="509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fa8d4d3c27_0_73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ATTENTION ARCHITECTURES</a:t>
            </a:r>
            <a:endParaRPr/>
          </a:p>
        </p:txBody>
      </p:sp>
      <p:sp>
        <p:nvSpPr>
          <p:cNvPr id="1078" name="Google Shape;1078;g3fa8d4d3c27_0_73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</a:rPr>
              <a:t>C</a:t>
            </a: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ache savings exceed FLOP savings</a:t>
            </a:r>
            <a:endParaRPr/>
          </a:p>
        </p:txBody>
      </p:sp>
      <p:cxnSp>
        <p:nvCxnSpPr>
          <p:cNvPr id="1079" name="Google Shape;1079;g3fa8d4d3c27_0_73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0" name="Google Shape;1080;g3fa8d4d3c27_0_73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081" name="Google Shape;1081;g3fa8d4d3c27_0_73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A04</a:t>
            </a:r>
            <a:endParaRPr/>
          </a:p>
        </p:txBody>
      </p:sp>
      <p:sp>
        <p:nvSpPr>
          <p:cNvPr id="1082" name="Google Shape;1082;g3fa8d4d3c27_0_731"/>
          <p:cNvSpPr/>
          <p:nvPr/>
        </p:nvSpPr>
        <p:spPr>
          <a:xfrm>
            <a:off x="609600" y="165735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Same dimensions as the exercise. Only the K/V head count changes.</a:t>
            </a:r>
            <a:endParaRPr/>
          </a:p>
        </p:txBody>
      </p:sp>
      <p:graphicFrame>
        <p:nvGraphicFramePr>
          <p:cNvPr id="1083" name="Google Shape;1083;g3fa8d4d3c27_0_731"/>
          <p:cNvGraphicFramePr/>
          <p:nvPr/>
        </p:nvGraphicFramePr>
        <p:xfrm>
          <a:off x="609600" y="23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4000500"/>
                <a:gridCol w="2324100"/>
                <a:gridCol w="2324100"/>
                <a:gridCol w="2324100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Measure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MHA, G=64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GQA, G=8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MQA, G=1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Projection weights / 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 MiB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288 MiB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260 MiB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Projection weight saving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43.75%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49.22%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 FLOPs / 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2.474 TF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1.512 TF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1.392 TF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 FLOPs / layer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671.09 MF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436.21 MF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406.85 MF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KV cache / 80 layers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1.25 GiB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 MiB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4" name="Google Shape;1084;g3fa8d4d3c27_0_731"/>
          <p:cNvSpPr/>
          <p:nvPr/>
        </p:nvSpPr>
        <p:spPr>
          <a:xfrm>
            <a:off x="609600" y="5324475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GQA-8</a:t>
            </a:r>
            <a:endParaRPr/>
          </a:p>
        </p:txBody>
      </p:sp>
      <p:sp>
        <p:nvSpPr>
          <p:cNvPr id="1085" name="Google Shape;1085;g3fa8d4d3c27_0_731"/>
          <p:cNvSpPr/>
          <p:nvPr/>
        </p:nvSpPr>
        <p:spPr>
          <a:xfrm>
            <a:off x="2476500" y="5324475"/>
            <a:ext cx="91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8× smaller KV cache, 35% fewer decode attention FLOPs</a:t>
            </a:r>
            <a:endParaRPr/>
          </a:p>
        </p:txBody>
      </p:sp>
      <p:sp>
        <p:nvSpPr>
          <p:cNvPr id="1086" name="Google Shape;1086;g3fa8d4d3c27_0_731"/>
          <p:cNvSpPr/>
          <p:nvPr/>
        </p:nvSpPr>
        <p:spPr>
          <a:xfrm>
            <a:off x="609600" y="584835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QKᵀ and attention × V still run for all 64 query heads.</a:t>
            </a:r>
            <a:endParaRPr/>
          </a:p>
        </p:txBody>
      </p:sp>
      <p:sp>
        <p:nvSpPr>
          <p:cNvPr id="1087" name="Google Shape;1087;g3fa8d4d3c27_0_731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Calculated matmul FLOPs include Q/K/V/O projections and attention. Excludes FFN, norms, RoPE and softmax.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fa8d4d3c27_0_44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094" name="Google Shape;1094;g3fa8d4d3c27_0_44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Memory: closer is faster, but smaller</a:t>
            </a:r>
            <a:endParaRPr/>
          </a:p>
        </p:txBody>
      </p:sp>
      <p:cxnSp>
        <p:nvCxnSpPr>
          <p:cNvPr id="1095" name="Google Shape;1095;g3fa8d4d3c27_0_44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6" name="Google Shape;1096;g3fa8d4d3c27_0_44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097" name="Google Shape;1097;g3fa8d4d3c27_0_44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F01</a:t>
            </a:r>
            <a:endParaRPr/>
          </a:p>
        </p:txBody>
      </p:sp>
      <p:sp>
        <p:nvSpPr>
          <p:cNvPr id="1098" name="Google Shape;1098;g3fa8d4d3c27_0_44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CMU 15-213, Memory Hierarchy (2015)</a:t>
            </a:r>
            <a:endParaRPr/>
          </a:p>
        </p:txBody>
      </p:sp>
      <p:sp>
        <p:nvSpPr>
          <p:cNvPr id="1099" name="Google Shape;1099;g3fa8d4d3c27_0_447"/>
          <p:cNvSpPr/>
          <p:nvPr/>
        </p:nvSpPr>
        <p:spPr>
          <a:xfrm>
            <a:off x="609600" y="164782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CPU teaching example: registers → caches → DRAM → storage</a:t>
            </a:r>
            <a:endParaRPr/>
          </a:p>
        </p:txBody>
      </p:sp>
      <p:graphicFrame>
        <p:nvGraphicFramePr>
          <p:cNvPr id="1100" name="Google Shape;1100;g3fa8d4d3c27_0_447"/>
          <p:cNvGraphicFramePr/>
          <p:nvPr/>
        </p:nvGraphicFramePr>
        <p:xfrm>
          <a:off x="609600" y="227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048000"/>
                <a:gridCol w="3857625"/>
                <a:gridCol w="4067175"/>
              </a:tblGrid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 data lives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Illustrative access cost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Already in the core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Operands for instructions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L1 cache (SRAM)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~4 CPU cycles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small, very fast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 cache (SRAM)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~10 CPU cycles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Larger on-chip cache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memory (DRAM)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~100 CPU cycles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Working data and model weights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SSD storage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µs ≈ 150,000 cycles*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Persistent files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 disk storage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~10,000,000 cycles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Persistent files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1101" name="Google Shape;1101;g3fa8d4d3c27_0_447"/>
          <p:cNvSpPr/>
          <p:nvPr/>
        </p:nvSpPr>
        <p:spPr>
          <a:xfrm>
            <a:off x="609600" y="5800725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*SSD conversion assumes a 3 GHz CPU. These are teaching estimates,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not a specification for a modern CPU or GPU.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fa8d4d3c27_0_460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108" name="Google Shape;1108;g3fa8d4d3c27_0_460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One addition can spend most time waiting</a:t>
            </a:r>
            <a:endParaRPr/>
          </a:p>
        </p:txBody>
      </p:sp>
      <p:cxnSp>
        <p:nvCxnSpPr>
          <p:cNvPr id="1109" name="Google Shape;1109;g3fa8d4d3c27_0_46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g3fa8d4d3c27_0_460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111" name="Google Shape;1111;g3fa8d4d3c27_0_460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F02</a:t>
            </a:r>
            <a:endParaRPr/>
          </a:p>
        </p:txBody>
      </p:sp>
      <p:sp>
        <p:nvSpPr>
          <p:cNvPr id="1112" name="Google Shape;1112;g3fa8d4d3c27_0_460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CMU 15-213, Memory Hierarchy (2015)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GPU Performance Background</a:t>
            </a:r>
            <a:endParaRPr/>
          </a:p>
        </p:txBody>
      </p:sp>
      <p:sp>
        <p:nvSpPr>
          <p:cNvPr id="1113" name="Google Shape;1113;g3fa8d4d3c27_0_460"/>
          <p:cNvSpPr/>
          <p:nvPr/>
        </p:nvSpPr>
        <p:spPr>
          <a:xfrm>
            <a:off x="609600" y="164782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Toy dependency: load one operand, then perform a 1-cycle integer add.</a:t>
            </a:r>
            <a:endParaRPr/>
          </a:p>
        </p:txBody>
      </p:sp>
      <p:sp>
        <p:nvSpPr>
          <p:cNvPr id="1114" name="Google Shape;1114;g3fa8d4d3c27_0_460"/>
          <p:cNvSpPr/>
          <p:nvPr/>
        </p:nvSpPr>
        <p:spPr>
          <a:xfrm>
            <a:off x="609600" y="2476500"/>
            <a:ext cx="26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Operand from L1</a:t>
            </a:r>
            <a:endParaRPr/>
          </a:p>
        </p:txBody>
      </p:sp>
      <p:sp>
        <p:nvSpPr>
          <p:cNvPr id="1115" name="Google Shape;1115;g3fa8d4d3c27_0_460"/>
          <p:cNvSpPr/>
          <p:nvPr/>
        </p:nvSpPr>
        <p:spPr>
          <a:xfrm>
            <a:off x="3381375" y="2371725"/>
            <a:ext cx="3162300" cy="571500"/>
          </a:xfrm>
          <a:prstGeom prst="rect">
            <a:avLst/>
          </a:prstGeom>
          <a:solidFill>
            <a:srgbClr val="EAF5FB"/>
          </a:solidFill>
          <a:ln cap="flat" cmpd="sng" w="1427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Load: 4 cycles</a:t>
            </a:r>
            <a:endParaRPr/>
          </a:p>
        </p:txBody>
      </p:sp>
      <p:sp>
        <p:nvSpPr>
          <p:cNvPr id="1116" name="Google Shape;1116;g3fa8d4d3c27_0_460"/>
          <p:cNvSpPr/>
          <p:nvPr/>
        </p:nvSpPr>
        <p:spPr>
          <a:xfrm>
            <a:off x="6734175" y="2371725"/>
            <a:ext cx="1219200" cy="5715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Add: 1</a:t>
            </a:r>
            <a:endParaRPr/>
          </a:p>
        </p:txBody>
      </p:sp>
      <p:sp>
        <p:nvSpPr>
          <p:cNvPr id="1117" name="Google Shape;1117;g3fa8d4d3c27_0_460"/>
          <p:cNvSpPr/>
          <p:nvPr/>
        </p:nvSpPr>
        <p:spPr>
          <a:xfrm>
            <a:off x="8772525" y="2419350"/>
            <a:ext cx="2809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5 cycles</a:t>
            </a:r>
            <a:endParaRPr/>
          </a:p>
        </p:txBody>
      </p:sp>
      <p:sp>
        <p:nvSpPr>
          <p:cNvPr id="1118" name="Google Shape;1118;g3fa8d4d3c27_0_460"/>
          <p:cNvSpPr/>
          <p:nvPr/>
        </p:nvSpPr>
        <p:spPr>
          <a:xfrm>
            <a:off x="609600" y="3381375"/>
            <a:ext cx="2714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A27D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Operand from DRAM</a:t>
            </a:r>
            <a:endParaRPr/>
          </a:p>
        </p:txBody>
      </p:sp>
      <p:sp>
        <p:nvSpPr>
          <p:cNvPr id="1119" name="Google Shape;1119;g3fa8d4d3c27_0_460"/>
          <p:cNvSpPr/>
          <p:nvPr/>
        </p:nvSpPr>
        <p:spPr>
          <a:xfrm>
            <a:off x="3381375" y="3333750"/>
            <a:ext cx="3162300" cy="571500"/>
          </a:xfrm>
          <a:prstGeom prst="rect">
            <a:avLst/>
          </a:prstGeom>
          <a:solidFill>
            <a:srgbClr val="DDF0E7"/>
          </a:solidFill>
          <a:ln cap="flat" cmpd="sng" w="14275">
            <a:solidFill>
              <a:srgbClr val="49A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Load: 100 cycles</a:t>
            </a:r>
            <a:endParaRPr/>
          </a:p>
        </p:txBody>
      </p:sp>
      <p:sp>
        <p:nvSpPr>
          <p:cNvPr id="1120" name="Google Shape;1120;g3fa8d4d3c27_0_460"/>
          <p:cNvSpPr/>
          <p:nvPr/>
        </p:nvSpPr>
        <p:spPr>
          <a:xfrm>
            <a:off x="6734175" y="3333750"/>
            <a:ext cx="1219200" cy="571500"/>
          </a:xfrm>
          <a:prstGeom prst="rect">
            <a:avLst/>
          </a:prstGeom>
          <a:solidFill>
            <a:srgbClr val="FFE4CF"/>
          </a:solidFill>
          <a:ln cap="flat" cmpd="sng" w="1427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8575" lIns="47625" spcFirstLastPara="1" rIns="4762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Add: 1</a:t>
            </a:r>
            <a:endParaRPr/>
          </a:p>
        </p:txBody>
      </p:sp>
      <p:sp>
        <p:nvSpPr>
          <p:cNvPr id="1121" name="Google Shape;1121;g3fa8d4d3c27_0_460"/>
          <p:cNvSpPr/>
          <p:nvPr/>
        </p:nvSpPr>
        <p:spPr>
          <a:xfrm>
            <a:off x="8772525" y="3381375"/>
            <a:ext cx="2809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925"/>
              <a:buFont typeface="Arial"/>
              <a:buNone/>
            </a:pPr>
            <a:r>
              <a:rPr b="1" lang="en-US" sz="29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101 cycles</a:t>
            </a:r>
            <a:endParaRPr/>
          </a:p>
        </p:txBody>
      </p:sp>
      <p:sp>
        <p:nvSpPr>
          <p:cNvPr id="1122" name="Google Shape;1122;g3fa8d4d3c27_0_460"/>
          <p:cNvSpPr/>
          <p:nvPr/>
        </p:nvSpPr>
        <p:spPr>
          <a:xfrm>
            <a:off x="609600" y="423862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dependent add must wait until its operand arrives.</a:t>
            </a:r>
            <a:endParaRPr/>
          </a:p>
        </p:txBody>
      </p:sp>
      <p:sp>
        <p:nvSpPr>
          <p:cNvPr id="1123" name="Google Shape;1123;g3fa8d4d3c27_0_460"/>
          <p:cNvSpPr/>
          <p:nvPr/>
        </p:nvSpPr>
        <p:spPr>
          <a:xfrm>
            <a:off x="609600" y="4867275"/>
            <a:ext cx="171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24" name="Google Shape;1124;g3fa8d4d3c27_0_460"/>
          <p:cNvSpPr/>
          <p:nvPr/>
        </p:nvSpPr>
        <p:spPr>
          <a:xfrm>
            <a:off x="876300" y="4867275"/>
            <a:ext cx="107061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Reuse data near the compute units to avoid fetching it repeatedly.</a:t>
            </a:r>
            <a:endParaRPr/>
          </a:p>
        </p:txBody>
      </p:sp>
      <p:sp>
        <p:nvSpPr>
          <p:cNvPr id="1125" name="Google Shape;1125;g3fa8d4d3c27_0_460"/>
          <p:cNvSpPr/>
          <p:nvPr/>
        </p:nvSpPr>
        <p:spPr>
          <a:xfrm>
            <a:off x="609600" y="5381625"/>
            <a:ext cx="171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26" name="Google Shape;1126;g3fa8d4d3c27_0_460"/>
          <p:cNvSpPr/>
          <p:nvPr/>
        </p:nvSpPr>
        <p:spPr>
          <a:xfrm>
            <a:off x="876300" y="5381625"/>
            <a:ext cx="107061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025"/>
              <a:buFont typeface="Arial"/>
              <a:buNone/>
            </a:pPr>
            <a:r>
              <a:rPr b="0" lang="en-US" sz="20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Overlap independent work to hide latency; bandwidth still limits bytes/s.</a:t>
            </a:r>
            <a:endParaRPr/>
          </a:p>
        </p:txBody>
      </p:sp>
      <p:sp>
        <p:nvSpPr>
          <p:cNvPr id="1127" name="Google Shape;1127;g3fa8d4d3c27_0_460"/>
          <p:cNvSpPr/>
          <p:nvPr/>
        </p:nvSpPr>
        <p:spPr>
          <a:xfrm>
            <a:off x="609600" y="6124575"/>
            <a:ext cx="1097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Illustrative serial path, not to scale. Pipelines, prefetching and parallel work are omitted.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fa8d4d3c27_0_48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134" name="Google Shape;1134;g3fa8d4d3c27_0_48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GPU moves tiles to many compute units</a:t>
            </a:r>
            <a:endParaRPr/>
          </a:p>
        </p:txBody>
      </p:sp>
      <p:cxnSp>
        <p:nvCxnSpPr>
          <p:cNvPr id="1135" name="Google Shape;1135;g3fa8d4d3c27_0_48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6" name="Google Shape;1136;g3fa8d4d3c27_0_48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137" name="Google Shape;1137;g3fa8d4d3c27_0_48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F03</a:t>
            </a:r>
            <a:endParaRPr/>
          </a:p>
        </p:txBody>
      </p:sp>
      <p:sp>
        <p:nvSpPr>
          <p:cNvPr id="1138" name="Google Shape;1138;g3fa8d4d3c27_0_485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GPU Performance Background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NVIDIA, Ampere Architecture</a:t>
            </a:r>
            <a:endParaRPr/>
          </a:p>
        </p:txBody>
      </p:sp>
      <p:sp>
        <p:nvSpPr>
          <p:cNvPr id="1139" name="Google Shape;1139;g3fa8d4d3c27_0_485"/>
          <p:cNvSpPr/>
          <p:nvPr/>
        </p:nvSpPr>
        <p:spPr>
          <a:xfrm>
            <a:off x="609600" y="1647825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NVIDIA A100 example: 108 streaming multiprocessors (SMs)</a:t>
            </a:r>
            <a:endParaRPr/>
          </a:p>
        </p:txBody>
      </p:sp>
      <p:pic>
        <p:nvPicPr>
          <p:cNvPr id="1140" name="Google Shape;1140;g3fa8d4d3c27_0_4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2238375"/>
            <a:ext cx="4667251" cy="347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g3fa8d4d3c27_0_485"/>
          <p:cNvSpPr/>
          <p:nvPr/>
        </p:nvSpPr>
        <p:spPr>
          <a:xfrm>
            <a:off x="609600" y="5676900"/>
            <a:ext cx="58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HBM = high-bandwidth GPU DRAM</a:t>
            </a:r>
            <a:endParaRPr/>
          </a:p>
        </p:txBody>
      </p:sp>
      <p:sp>
        <p:nvSpPr>
          <p:cNvPr id="1142" name="Google Shape;1142;g3fa8d4d3c27_0_485"/>
          <p:cNvSpPr/>
          <p:nvPr/>
        </p:nvSpPr>
        <p:spPr>
          <a:xfrm>
            <a:off x="6677025" y="2305050"/>
            <a:ext cx="171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43" name="Google Shape;1143;g3fa8d4d3c27_0_485"/>
          <p:cNvSpPr/>
          <p:nvPr/>
        </p:nvSpPr>
        <p:spPr>
          <a:xfrm>
            <a:off x="6943725" y="2305050"/>
            <a:ext cx="4638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Read tiles from HBM through L2 into fast on-chip storage.</a:t>
            </a:r>
            <a:endParaRPr/>
          </a:p>
        </p:txBody>
      </p:sp>
      <p:sp>
        <p:nvSpPr>
          <p:cNvPr id="1144" name="Google Shape;1144;g3fa8d4d3c27_0_485"/>
          <p:cNvSpPr/>
          <p:nvPr/>
        </p:nvSpPr>
        <p:spPr>
          <a:xfrm>
            <a:off x="6677025" y="3333750"/>
            <a:ext cx="171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45" name="Google Shape;1145;g3fa8d4d3c27_0_485"/>
          <p:cNvSpPr/>
          <p:nvPr/>
        </p:nvSpPr>
        <p:spPr>
          <a:xfrm>
            <a:off x="6943725" y="3333750"/>
            <a:ext cx="4638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SMs compute: tensor cores handle matrix products; other units do reductions.</a:t>
            </a:r>
            <a:endParaRPr/>
          </a:p>
        </p:txBody>
      </p:sp>
      <p:sp>
        <p:nvSpPr>
          <p:cNvPr id="1146" name="Google Shape;1146;g3fa8d4d3c27_0_485"/>
          <p:cNvSpPr/>
          <p:nvPr/>
        </p:nvSpPr>
        <p:spPr>
          <a:xfrm>
            <a:off x="6677025" y="4524375"/>
            <a:ext cx="171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47" name="Google Shape;1147;g3fa8d4d3c27_0_485"/>
          <p:cNvSpPr/>
          <p:nvPr/>
        </p:nvSpPr>
        <p:spPr>
          <a:xfrm>
            <a:off x="6943725" y="4524375"/>
            <a:ext cx="4638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2100"/>
              <a:buFont typeface="Arial"/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Warps contain 32 threads. Ready warps run while others wait for data.</a:t>
            </a:r>
            <a:endParaRPr/>
          </a:p>
        </p:txBody>
      </p:sp>
      <p:sp>
        <p:nvSpPr>
          <p:cNvPr id="1148" name="Google Shape;1148;g3fa8d4d3c27_0_485"/>
          <p:cNvSpPr/>
          <p:nvPr/>
        </p:nvSpPr>
        <p:spPr>
          <a:xfrm>
            <a:off x="609600" y="6067425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Reuse a tile in shared SRAM / registers before loading the next tile.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fa8d4d3c27_0_505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155" name="Google Shape;1155;g3fa8d4d3c27_0_505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Latency versus throughput</a:t>
            </a:r>
            <a:endParaRPr/>
          </a:p>
        </p:txBody>
      </p:sp>
      <p:cxnSp>
        <p:nvCxnSpPr>
          <p:cNvPr id="1156" name="Google Shape;1156;g3fa8d4d3c27_0_505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7" name="Google Shape;1157;g3fa8d4d3c27_0_505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158" name="Google Shape;1158;g3fa8d4d3c27_0_505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F04</a:t>
            </a:r>
            <a:endParaRPr/>
          </a:p>
        </p:txBody>
      </p:sp>
      <p:sp>
        <p:nvSpPr>
          <p:cNvPr id="1159" name="Google Shape;1159;g3fa8d4d3c27_0_505"/>
          <p:cNvSpPr/>
          <p:nvPr/>
        </p:nvSpPr>
        <p:spPr>
          <a:xfrm>
            <a:off x="609600" y="1647825"/>
            <a:ext cx="10972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Latency: time for one request.   Throughput: completed requests per second.</a:t>
            </a:r>
            <a:endParaRPr/>
          </a:p>
        </p:txBody>
      </p:sp>
      <p:pic>
        <p:nvPicPr>
          <p:cNvPr id="1160" name="Google Shape;1160;g3fa8d4d3c27_0_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419350"/>
            <a:ext cx="10972799" cy="209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1" name="Google Shape;1161;g3fa8d4d3c27_0_505"/>
          <p:cNvGraphicFramePr/>
          <p:nvPr/>
        </p:nvGraphicFramePr>
        <p:xfrm>
          <a:off x="609600" y="467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4429125"/>
                <a:gridCol w="2619375"/>
                <a:gridCol w="3924300"/>
              </a:tblGrid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Fully busy for 1 second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latency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 in 1 second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worker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1,000 / 10 = 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Four concurrent workers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75"/>
                        <a:buFont typeface="Arial"/>
                        <a:buNone/>
                      </a:pPr>
                      <a:r>
                        <a:rPr b="0" lang="en-US" sz="18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× (1,000 / 20) = 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1162" name="Google Shape;1162;g3fa8d4d3c27_0_505"/>
          <p:cNvSpPr/>
          <p:nvPr/>
        </p:nvSpPr>
        <p:spPr>
          <a:xfrm>
            <a:off x="609600" y="6191250"/>
            <a:ext cx="10972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Assume four workers can run concurrently, no queueing and negligible overhead.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a8d4d3c27_0_518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169" name="Google Shape;1169;g3fa8d4d3c27_0_518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Bottleneck 1: MHA score matrices</a:t>
            </a:r>
            <a:endParaRPr/>
          </a:p>
        </p:txBody>
      </p:sp>
      <p:cxnSp>
        <p:nvCxnSpPr>
          <p:cNvPr id="1170" name="Google Shape;1170;g3fa8d4d3c27_0_518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g3fa8d4d3c27_0_518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172" name="Google Shape;1172;g3fa8d4d3c27_0_518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F05</a:t>
            </a:r>
            <a:endParaRPr/>
          </a:p>
        </p:txBody>
      </p:sp>
      <p:sp>
        <p:nvSpPr>
          <p:cNvPr id="1173" name="Google Shape;1173;g3fa8d4d3c27_0_518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Dao et al., FlashAttention (2022)</a:t>
            </a:r>
            <a:endParaRPr/>
          </a:p>
        </p:txBody>
      </p:sp>
      <p:sp>
        <p:nvSpPr>
          <p:cNvPr id="1174" name="Google Shape;1174;g3fa8d4d3c27_0_518"/>
          <p:cNvSpPr/>
          <p:nvPr/>
        </p:nvSpPr>
        <p:spPr>
          <a:xfrm>
            <a:off x="609600" y="164782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32-head MHA, N = 8,192 tokens, BF16: S alone occupies 4 GiB.</a:t>
            </a:r>
            <a:endParaRPr/>
          </a:p>
        </p:txBody>
      </p:sp>
      <p:pic>
        <p:nvPicPr>
          <p:cNvPr id="1175" name="Google Shape;1175;g3fa8d4d3c27_0_5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181225"/>
            <a:ext cx="109728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g3fa8d4d3c27_0_5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5619750"/>
            <a:ext cx="7276921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faa24993c0_0_16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 sz="1800"/>
          </a:p>
        </p:txBody>
      </p:sp>
      <p:sp>
        <p:nvSpPr>
          <p:cNvPr id="1183" name="Google Shape;1183;g3faa24993c0_0_16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</a:rPr>
              <a:t>Tile-wise computation </a:t>
            </a: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and softmax</a:t>
            </a:r>
            <a:endParaRPr sz="1800"/>
          </a:p>
        </p:txBody>
      </p:sp>
      <p:cxnSp>
        <p:nvCxnSpPr>
          <p:cNvPr id="1184" name="Google Shape;1184;g3faa24993c0_0_16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5" name="Google Shape;1185;g3faa24993c0_0_16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 sz="1800"/>
          </a:p>
        </p:txBody>
      </p:sp>
      <p:sp>
        <p:nvSpPr>
          <p:cNvPr id="1186" name="Google Shape;1186;g3faa24993c0_0_16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F05a</a:t>
            </a:r>
            <a:endParaRPr sz="1800"/>
          </a:p>
        </p:txBody>
      </p:sp>
      <p:sp>
        <p:nvSpPr>
          <p:cNvPr id="1187" name="Google Shape;1187;g3faa24993c0_0_169"/>
          <p:cNvSpPr/>
          <p:nvPr/>
        </p:nvSpPr>
        <p:spPr>
          <a:xfrm>
            <a:off x="609600" y="1647825"/>
            <a:ext cx="1097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A softmax row shares one maximum and one denominator across all its key blocks.</a:t>
            </a:r>
            <a:endParaRPr/>
          </a:p>
        </p:txBody>
      </p:sp>
      <p:pic>
        <p:nvPicPr>
          <p:cNvPr id="1188" name="Google Shape;1188;g3faa24993c0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5975"/>
            <a:ext cx="10972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g3faa24993c0_0_169"/>
          <p:cNvSpPr/>
          <p:nvPr/>
        </p:nvSpPr>
        <p:spPr>
          <a:xfrm>
            <a:off x="609600" y="6381750"/>
            <a:ext cx="10972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Row reductions can run in parallel. Online softmax merges statistics across tiles.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fa8d4d3c27_0_53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196" name="Google Shape;1196;g3fa8d4d3c27_0_53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197" name="Google Shape;1197;g3fa8d4d3c27_0_53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F07</a:t>
            </a:r>
            <a:endParaRPr/>
          </a:p>
        </p:txBody>
      </p:sp>
      <p:pic>
        <p:nvPicPr>
          <p:cNvPr id="1198" name="Google Shape;1198;g3fa8d4d3c27_0_531" title="Online_Softmax_Formula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2400" y="916713"/>
            <a:ext cx="12705101" cy="531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fa8d4d3c27_0_55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05" name="Google Shape;1205;g3fa8d4d3c27_0_55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FlashAttention</a:t>
            </a:r>
            <a:endParaRPr/>
          </a:p>
        </p:txBody>
      </p:sp>
      <p:cxnSp>
        <p:nvCxnSpPr>
          <p:cNvPr id="1206" name="Google Shape;1206;g3fa8d4d3c27_0_55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7" name="Google Shape;1207;g3fa8d4d3c27_0_55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08" name="Google Shape;1208;g3fa8d4d3c27_0_55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F08</a:t>
            </a:r>
            <a:endParaRPr/>
          </a:p>
        </p:txBody>
      </p:sp>
      <p:sp>
        <p:nvSpPr>
          <p:cNvPr id="1209" name="Google Shape;1209;g3fa8d4d3c27_0_559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Dao et al., FlashAttention (2022)</a:t>
            </a:r>
            <a:endParaRPr/>
          </a:p>
        </p:txBody>
      </p:sp>
      <p:sp>
        <p:nvSpPr>
          <p:cNvPr id="1210" name="Google Shape;1210;g3fa8d4d3c27_0_559"/>
          <p:cNvSpPr/>
          <p:nvPr/>
        </p:nvSpPr>
        <p:spPr>
          <a:xfrm>
            <a:off x="5762625" y="1647825"/>
            <a:ext cx="58197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Online softmax combines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the results of small blocks.</a:t>
            </a:r>
            <a:endParaRPr/>
          </a:p>
        </p:txBody>
      </p:sp>
      <p:pic>
        <p:nvPicPr>
          <p:cNvPr id="1211" name="Google Shape;1211;g3fa8d4d3c27_0_5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647825"/>
            <a:ext cx="4762501" cy="4579333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g3fa8d4d3c27_0_559"/>
          <p:cNvSpPr/>
          <p:nvPr/>
        </p:nvSpPr>
        <p:spPr>
          <a:xfrm>
            <a:off x="5762625" y="2571750"/>
            <a:ext cx="419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13" name="Google Shape;1213;g3fa8d4d3c27_0_559"/>
          <p:cNvSpPr/>
          <p:nvPr/>
        </p:nvSpPr>
        <p:spPr>
          <a:xfrm>
            <a:off x="6296025" y="2590800"/>
            <a:ext cx="5286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Load one K/V block into SRAM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(red outer loop).</a:t>
            </a:r>
            <a:endParaRPr/>
          </a:p>
        </p:txBody>
      </p:sp>
      <p:sp>
        <p:nvSpPr>
          <p:cNvPr id="1214" name="Google Shape;1214;g3fa8d4d3c27_0_559"/>
          <p:cNvSpPr/>
          <p:nvPr/>
        </p:nvSpPr>
        <p:spPr>
          <a:xfrm>
            <a:off x="5762625" y="3514725"/>
            <a:ext cx="419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15" name="Google Shape;1215;g3fa8d4d3c27_0_559"/>
          <p:cNvSpPr/>
          <p:nvPr/>
        </p:nvSpPr>
        <p:spPr>
          <a:xfrm>
            <a:off x="6296025" y="3533775"/>
            <a:ext cx="5286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Reuse it for blocks of 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(blue inner loop).</a:t>
            </a:r>
            <a:endParaRPr/>
          </a:p>
        </p:txBody>
      </p:sp>
      <p:sp>
        <p:nvSpPr>
          <p:cNvPr id="1216" name="Google Shape;1216;g3fa8d4d3c27_0_559"/>
          <p:cNvSpPr/>
          <p:nvPr/>
        </p:nvSpPr>
        <p:spPr>
          <a:xfrm>
            <a:off x="5762625" y="4457700"/>
            <a:ext cx="419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17" name="Google Shape;1217;g3fa8d4d3c27_0_559"/>
          <p:cNvSpPr/>
          <p:nvPr/>
        </p:nvSpPr>
        <p:spPr>
          <a:xfrm>
            <a:off x="6296025" y="4476750"/>
            <a:ext cx="5286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Compute scores and softmax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(sm) on chip.</a:t>
            </a:r>
            <a:endParaRPr/>
          </a:p>
        </p:txBody>
      </p:sp>
      <p:sp>
        <p:nvSpPr>
          <p:cNvPr id="1218" name="Google Shape;1218;g3fa8d4d3c27_0_559"/>
          <p:cNvSpPr/>
          <p:nvPr/>
        </p:nvSpPr>
        <p:spPr>
          <a:xfrm>
            <a:off x="5762625" y="5400675"/>
            <a:ext cx="419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19" name="Google Shape;1219;g3fa8d4d3c27_0_559"/>
          <p:cNvSpPr/>
          <p:nvPr/>
        </p:nvSpPr>
        <p:spPr>
          <a:xfrm>
            <a:off x="6296025" y="5419725"/>
            <a:ext cx="5286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Rescale and update the 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using online softmax.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fa8d4d3c27_0_57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26" name="Google Shape;1226;g3fa8d4d3c27_0_57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FlashAttention-2 reduces forward latency</a:t>
            </a:r>
            <a:endParaRPr/>
          </a:p>
        </p:txBody>
      </p:sp>
      <p:cxnSp>
        <p:nvCxnSpPr>
          <p:cNvPr id="1227" name="Google Shape;1227;g3fa8d4d3c27_0_57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8" name="Google Shape;1228;g3fa8d4d3c27_0_57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29" name="Google Shape;1229;g3fa8d4d3c27_0_57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F09</a:t>
            </a:r>
            <a:endParaRPr/>
          </a:p>
        </p:txBody>
      </p:sp>
      <p:sp>
        <p:nvSpPr>
          <p:cNvPr id="1230" name="Google Shape;1230;g3fa8d4d3c27_0_579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Face, Transformers v4.39.3 benchmark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Dao, FlashAttention-2 (2023)</a:t>
            </a:r>
            <a:endParaRPr/>
          </a:p>
        </p:txBody>
      </p:sp>
      <p:sp>
        <p:nvSpPr>
          <p:cNvPr id="1231" name="Google Shape;1231;g3fa8d4d3c27_0_579"/>
          <p:cNvSpPr/>
          <p:nvPr/>
        </p:nvSpPr>
        <p:spPr>
          <a:xfrm>
            <a:off x="609600" y="1647825"/>
            <a:ext cx="10972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Llama-2-7B • NVIDIA A100 • batch 1 • 4,096-token unpadded input</a:t>
            </a:r>
            <a:endParaRPr/>
          </a:p>
        </p:txBody>
      </p:sp>
      <p:sp>
        <p:nvSpPr>
          <p:cNvPr id="1232" name="Google Shape;1232;g3fa8d4d3c27_0_579"/>
          <p:cNvSpPr/>
          <p:nvPr/>
        </p:nvSpPr>
        <p:spPr>
          <a:xfrm>
            <a:off x="609600" y="23622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75"/>
              <a:buFont typeface="Arial"/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One forward pass (ms), lower is better</a:t>
            </a:r>
            <a:endParaRPr/>
          </a:p>
        </p:txBody>
      </p:sp>
      <p:pic>
        <p:nvPicPr>
          <p:cNvPr id="1233" name="Google Shape;1233;g3fa8d4d3c27_0_5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847975"/>
            <a:ext cx="75438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g3fa8d4d3c27_0_579"/>
          <p:cNvSpPr/>
          <p:nvPr/>
        </p:nvSpPr>
        <p:spPr>
          <a:xfrm>
            <a:off x="8867775" y="3019425"/>
            <a:ext cx="2714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4650"/>
              <a:buFont typeface="Arial"/>
              <a:buNone/>
            </a:pPr>
            <a:r>
              <a:rPr b="1" lang="en-US" sz="4650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≈1.9×</a:t>
            </a:r>
            <a:endParaRPr/>
          </a:p>
        </p:txBody>
      </p:sp>
      <p:sp>
        <p:nvSpPr>
          <p:cNvPr id="1235" name="Google Shape;1235;g3fa8d4d3c27_0_579"/>
          <p:cNvSpPr/>
          <p:nvPr/>
        </p:nvSpPr>
        <p:spPr>
          <a:xfrm>
            <a:off x="8867775" y="3867150"/>
            <a:ext cx="2714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faster forward pass</a:t>
            </a:r>
            <a:endParaRPr/>
          </a:p>
        </p:txBody>
      </p:sp>
      <p:sp>
        <p:nvSpPr>
          <p:cNvPr id="1236" name="Google Shape;1236;g3fa8d4d3c27_0_579"/>
          <p:cNvSpPr/>
          <p:nvPr/>
        </p:nvSpPr>
        <p:spPr>
          <a:xfrm>
            <a:off x="8867775" y="4752975"/>
            <a:ext cx="2714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≈47% lower latency</a:t>
            </a:r>
            <a:endParaRPr/>
          </a:p>
        </p:txBody>
      </p:sp>
      <p:sp>
        <p:nvSpPr>
          <p:cNvPr id="1237" name="Google Shape;1237;g3fa8d4d3c27_0_579"/>
          <p:cNvSpPr/>
          <p:nvPr/>
        </p:nvSpPr>
        <p:spPr>
          <a:xfrm>
            <a:off x="609600" y="5848350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Rounded readings from the published chart: about 750 ms → 400 ms.</a:t>
            </a:r>
            <a:endParaRPr/>
          </a:p>
        </p:txBody>
      </p:sp>
      <p:sp>
        <p:nvSpPr>
          <p:cNvPr id="1238" name="Google Shape;1238;g3fa8d4d3c27_0_579"/>
          <p:cNvSpPr/>
          <p:nvPr/>
        </p:nvSpPr>
        <p:spPr>
          <a:xfrm>
            <a:off x="609600" y="6229350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This measures a long-prompt forward pass; generation and request queueing are excluded.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a8d4d3c27_0_597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45" name="Google Shape;1245;g3fa8d4d3c27_0_597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Bottleneck 2: the growing MHA KV cache</a:t>
            </a:r>
            <a:endParaRPr/>
          </a:p>
        </p:txBody>
      </p:sp>
      <p:cxnSp>
        <p:nvCxnSpPr>
          <p:cNvPr id="1246" name="Google Shape;1246;g3fa8d4d3c27_0_59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7" name="Google Shape;1247;g3fa8d4d3c27_0_597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48" name="Google Shape;1248;g3fa8d4d3c27_0_597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F06</a:t>
            </a:r>
            <a:endParaRPr/>
          </a:p>
        </p:txBody>
      </p:sp>
      <p:sp>
        <p:nvSpPr>
          <p:cNvPr id="1249" name="Google Shape;1249;g3fa8d4d3c27_0_597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Kwon et al., PagedAttention (2023)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PagedAttention launch results (2023)</a:t>
            </a:r>
            <a:endParaRPr/>
          </a:p>
        </p:txBody>
      </p:sp>
      <p:sp>
        <p:nvSpPr>
          <p:cNvPr id="1250" name="Google Shape;1250;g3fa8d4d3c27_0_597"/>
          <p:cNvSpPr/>
          <p:nvPr/>
        </p:nvSpPr>
        <p:spPr>
          <a:xfrm>
            <a:off x="609600" y="1647825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Each new token adds K/V. Its query reads the request’s full cached history.</a:t>
            </a:r>
            <a:endParaRPr/>
          </a:p>
        </p:txBody>
      </p:sp>
      <p:pic>
        <p:nvPicPr>
          <p:cNvPr id="1251" name="Google Shape;1251;g3fa8d4d3c27_0_5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181225"/>
            <a:ext cx="109728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g3fa8d4d3c27_0_5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5591175"/>
            <a:ext cx="34378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fa8d4d3c27_0_597"/>
          <p:cNvSpPr/>
          <p:nvPr/>
        </p:nvSpPr>
        <p:spPr>
          <a:xfrm>
            <a:off x="6115050" y="5619750"/>
            <a:ext cx="5467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L layers, H heads, d values/head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b bytes/value, Tᵢ tokens in request i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fa8d4d3c27_0_611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60" name="Google Shape;1260;g3fa8d4d3c27_0_611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PagedAttention allocates KV blocks as needed</a:t>
            </a:r>
            <a:endParaRPr/>
          </a:p>
        </p:txBody>
      </p:sp>
      <p:cxnSp>
        <p:nvCxnSpPr>
          <p:cNvPr id="1261" name="Google Shape;1261;g3fa8d4d3c27_0_611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2" name="Google Shape;1262;g3fa8d4d3c27_0_611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63" name="Google Shape;1263;g3fa8d4d3c27_0_611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F10</a:t>
            </a:r>
            <a:endParaRPr/>
          </a:p>
        </p:txBody>
      </p:sp>
      <p:sp>
        <p:nvSpPr>
          <p:cNvPr id="1264" name="Google Shape;1264;g3fa8d4d3c27_0_611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PagedAttention launch results (2023)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Kwon et al., PagedAttention (2023)</a:t>
            </a:r>
            <a:endParaRPr/>
          </a:p>
        </p:txBody>
      </p:sp>
      <p:sp>
        <p:nvSpPr>
          <p:cNvPr id="1265" name="Google Shape;1265;g3fa8d4d3c27_0_611"/>
          <p:cNvSpPr/>
          <p:nvPr/>
        </p:nvSpPr>
        <p:spPr>
          <a:xfrm>
            <a:off x="609600" y="164782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Follow the growing sequence, its block table and the physical GPU blocks.</a:t>
            </a:r>
            <a:endParaRPr/>
          </a:p>
        </p:txBody>
      </p:sp>
      <p:pic>
        <p:nvPicPr>
          <p:cNvPr id="1266" name="Google Shape;1266;g3fa8d4d3c27_0_6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2171700"/>
            <a:ext cx="10515600" cy="4293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fa8d4d3c27_0_623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73" name="Google Shape;1273;g3fa8d4d3c27_0_623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PagedAttention reads scattered KV blocks</a:t>
            </a:r>
            <a:endParaRPr/>
          </a:p>
        </p:txBody>
      </p:sp>
      <p:cxnSp>
        <p:nvCxnSpPr>
          <p:cNvPr id="1274" name="Google Shape;1274;g3fa8d4d3c27_0_62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5" name="Google Shape;1275;g3fa8d4d3c27_0_623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76" name="Google Shape;1276;g3fa8d4d3c27_0_623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F11</a:t>
            </a:r>
            <a:endParaRPr/>
          </a:p>
        </p:txBody>
      </p:sp>
      <p:sp>
        <p:nvSpPr>
          <p:cNvPr id="1277" name="Google Shape;1277;g3fa8d4d3c27_0_623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PagedAttention launch results (2023)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Kwon et al., PagedAttention (2023)</a:t>
            </a:r>
            <a:endParaRPr/>
          </a:p>
        </p:txBody>
      </p:sp>
      <p:pic>
        <p:nvPicPr>
          <p:cNvPr id="1278" name="Google Shape;1278;g3fa8d4d3c27_0_6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00200"/>
            <a:ext cx="8077201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g3fa8d4d3c27_0_623"/>
          <p:cNvSpPr/>
          <p:nvPr/>
        </p:nvSpPr>
        <p:spPr>
          <a:xfrm>
            <a:off x="9058275" y="2143125"/>
            <a:ext cx="25242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1  Locate blocks</a:t>
            </a:r>
            <a:endParaRPr/>
          </a:p>
        </p:txBody>
      </p:sp>
      <p:sp>
        <p:nvSpPr>
          <p:cNvPr id="1280" name="Google Shape;1280;g3fa8d4d3c27_0_623"/>
          <p:cNvSpPr/>
          <p:nvPr/>
        </p:nvSpPr>
        <p:spPr>
          <a:xfrm>
            <a:off x="9058275" y="2638425"/>
            <a:ext cx="25242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Follow this request’s block table.</a:t>
            </a:r>
            <a:endParaRPr/>
          </a:p>
        </p:txBody>
      </p:sp>
      <p:sp>
        <p:nvSpPr>
          <p:cNvPr id="1281" name="Google Shape;1281;g3fa8d4d3c27_0_623"/>
          <p:cNvSpPr/>
          <p:nvPr/>
        </p:nvSpPr>
        <p:spPr>
          <a:xfrm>
            <a:off x="9058275" y="3686175"/>
            <a:ext cx="25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2  Read K/V</a:t>
            </a:r>
            <a:endParaRPr/>
          </a:p>
        </p:txBody>
      </p:sp>
      <p:sp>
        <p:nvSpPr>
          <p:cNvPr id="1282" name="Google Shape;1282;g3fa8d4d3c27_0_623"/>
          <p:cNvSpPr/>
          <p:nvPr/>
        </p:nvSpPr>
        <p:spPr>
          <a:xfrm>
            <a:off x="9058275" y="4181475"/>
            <a:ext cx="25242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Normalize scores across all blocks and combine V.</a:t>
            </a:r>
            <a:endParaRPr/>
          </a:p>
        </p:txBody>
      </p:sp>
      <p:sp>
        <p:nvSpPr>
          <p:cNvPr id="1283" name="Google Shape;1283;g3fa8d4d3c27_0_623"/>
          <p:cNvSpPr/>
          <p:nvPr/>
        </p:nvSpPr>
        <p:spPr>
          <a:xfrm>
            <a:off x="609600" y="62103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Block labels 0, 1 and 2 denote logical order; their physical locations can differ.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fa8d4d3c27_0_639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FLASHATTENTION AND PAGEDATTENTION</a:t>
            </a:r>
            <a:endParaRPr/>
          </a:p>
        </p:txBody>
      </p:sp>
      <p:sp>
        <p:nvSpPr>
          <p:cNvPr id="1290" name="Google Shape;1290;g3fa8d4d3c27_0_639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Paged KV storage enables higher throughput</a:t>
            </a:r>
            <a:endParaRPr/>
          </a:p>
        </p:txBody>
      </p:sp>
      <p:cxnSp>
        <p:nvCxnSpPr>
          <p:cNvPr id="1291" name="Google Shape;1291;g3fa8d4d3c27_0_63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2" name="Google Shape;1292;g3fa8d4d3c27_0_639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/>
          </a:p>
        </p:txBody>
      </p:sp>
      <p:sp>
        <p:nvSpPr>
          <p:cNvPr id="1293" name="Google Shape;1293;g3fa8d4d3c27_0_639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F12</a:t>
            </a:r>
            <a:endParaRPr/>
          </a:p>
        </p:txBody>
      </p:sp>
      <p:sp>
        <p:nvSpPr>
          <p:cNvPr id="1294" name="Google Shape;1294;g3fa8d4d3c27_0_639"/>
          <p:cNvSpPr/>
          <p:nvPr/>
        </p:nvSpPr>
        <p:spPr>
          <a:xfrm>
            <a:off x="609600" y="6486525"/>
            <a:ext cx="1097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vLLM, PagedAttention launch results (2023)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/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Kwon et al., PagedAttention (2023)</a:t>
            </a:r>
            <a:endParaRPr/>
          </a:p>
        </p:txBody>
      </p:sp>
      <p:sp>
        <p:nvSpPr>
          <p:cNvPr id="1295" name="Google Shape;1295;g3fa8d4d3c27_0_639"/>
          <p:cNvSpPr/>
          <p:nvPr/>
        </p:nvSpPr>
        <p:spPr>
          <a:xfrm>
            <a:off x="609600" y="1647825"/>
            <a:ext cx="10972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LLaMA-13B • A100 40 GB • ShareGPT request lengths • one completion</a:t>
            </a:r>
            <a:endParaRPr/>
          </a:p>
        </p:txBody>
      </p:sp>
      <p:sp>
        <p:nvSpPr>
          <p:cNvPr id="1296" name="Google Shape;1296;g3fa8d4d3c27_0_639"/>
          <p:cNvSpPr/>
          <p:nvPr/>
        </p:nvSpPr>
        <p:spPr>
          <a:xfrm>
            <a:off x="609600" y="2362200"/>
            <a:ext cx="819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875"/>
              <a:buFont typeface="Arial"/>
              <a:buNone/>
            </a:pPr>
            <a:r>
              <a:rPr b="0" lang="en-US" sz="18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Serving throughput (requests/min), higher is better</a:t>
            </a:r>
            <a:endParaRPr/>
          </a:p>
        </p:txBody>
      </p:sp>
      <p:pic>
        <p:nvPicPr>
          <p:cNvPr id="1297" name="Google Shape;1297;g3fa8d4d3c27_0_6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847975"/>
            <a:ext cx="75438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g3fa8d4d3c27_0_639"/>
          <p:cNvSpPr/>
          <p:nvPr/>
        </p:nvSpPr>
        <p:spPr>
          <a:xfrm>
            <a:off x="8867775" y="3019425"/>
            <a:ext cx="2714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A27D"/>
              </a:buClr>
              <a:buSzPts val="4650"/>
              <a:buFont typeface="Arial"/>
              <a:buNone/>
            </a:pPr>
            <a:r>
              <a:rPr b="1" lang="en-US" sz="4650">
                <a:solidFill>
                  <a:srgbClr val="49A27D"/>
                </a:solidFill>
                <a:latin typeface="Arial"/>
                <a:ea typeface="Arial"/>
                <a:cs typeface="Arial"/>
                <a:sym typeface="Arial"/>
              </a:rPr>
              <a:t>2.5×</a:t>
            </a:r>
            <a:endParaRPr/>
          </a:p>
        </p:txBody>
      </p:sp>
      <p:sp>
        <p:nvSpPr>
          <p:cNvPr id="1299" name="Google Shape;1299;g3fa8d4d3c27_0_639"/>
          <p:cNvSpPr/>
          <p:nvPr/>
        </p:nvSpPr>
        <p:spPr>
          <a:xfrm>
            <a:off x="8867775" y="3867150"/>
            <a:ext cx="2714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throughput vs TGI</a:t>
            </a:r>
            <a:endParaRPr/>
          </a:p>
        </p:txBody>
      </p:sp>
      <p:sp>
        <p:nvSpPr>
          <p:cNvPr id="1300" name="Google Shape;1300;g3fa8d4d3c27_0_639"/>
          <p:cNvSpPr/>
          <p:nvPr/>
        </p:nvSpPr>
        <p:spPr>
          <a:xfrm>
            <a:off x="8867775" y="4876800"/>
            <a:ext cx="2714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154.2 / 61.8</a:t>
            </a:r>
            <a:endParaRPr/>
          </a:p>
        </p:txBody>
      </p:sp>
      <p:sp>
        <p:nvSpPr>
          <p:cNvPr id="1301" name="Google Shape;1301;g3fa8d4d3c27_0_639"/>
          <p:cNvSpPr/>
          <p:nvPr/>
        </p:nvSpPr>
        <p:spPr>
          <a:xfrm>
            <a:off x="609600" y="5848350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7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Less KV waste → more requests fit → larger effective batches.</a:t>
            </a:r>
            <a:endParaRPr/>
          </a:p>
        </p:txBody>
      </p:sp>
      <p:sp>
        <p:nvSpPr>
          <p:cNvPr id="1302" name="Google Shape;1302;g3fa8d4d3c27_0_639"/>
          <p:cNvSpPr/>
          <p:nvPr/>
        </p:nvSpPr>
        <p:spPr>
          <a:xfrm>
            <a:off x="609600" y="6229350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5D69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Published 2023 engine comparison. Includes scheduling and kernels, beyond PagedAttention alone.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8" name="Google Shape;1308;g3fa8d4d3c27_0_7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Google Shape;1314;g3fa8d4d3c27_0_7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47"/>
          <p:cNvSpPr/>
          <p:nvPr/>
        </p:nvSpPr>
        <p:spPr>
          <a:xfrm>
            <a:off x="609600" y="238125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MIXTURE-OF-EXPERTS</a:t>
            </a:r>
            <a:endParaRPr/>
          </a:p>
        </p:txBody>
      </p:sp>
      <p:sp>
        <p:nvSpPr>
          <p:cNvPr id="1321" name="Google Shape;1321;p47"/>
          <p:cNvSpPr/>
          <p:nvPr/>
        </p:nvSpPr>
        <p:spPr>
          <a:xfrm>
            <a:off x="609600" y="657225"/>
            <a:ext cx="109728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Total and active parameters</a:t>
            </a:r>
            <a:endParaRPr/>
          </a:p>
        </p:txBody>
      </p:sp>
      <p:cxnSp>
        <p:nvCxnSpPr>
          <p:cNvPr id="1322" name="Google Shape;1322;p47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3" name="Google Shape;1323;p47"/>
          <p:cNvSpPr/>
          <p:nvPr/>
        </p:nvSpPr>
        <p:spPr>
          <a:xfrm>
            <a:off x="609600" y="663892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Lecture 2</a:t>
            </a:r>
            <a:endParaRPr/>
          </a:p>
        </p:txBody>
      </p:sp>
      <p:sp>
        <p:nvSpPr>
          <p:cNvPr id="1324" name="Google Shape;1324;p47"/>
          <p:cNvSpPr/>
          <p:nvPr/>
        </p:nvSpPr>
        <p:spPr>
          <a:xfrm>
            <a:off x="10858500" y="6638925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sp>
        <p:nvSpPr>
          <p:cNvPr id="1325" name="Google Shape;1325;p47"/>
          <p:cNvSpPr/>
          <p:nvPr/>
        </p:nvSpPr>
        <p:spPr>
          <a:xfrm>
            <a:off x="609600" y="6457950"/>
            <a:ext cx="1097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Jiang et al., Mixtral of Experts (2024)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·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DeepSeek-V3 report (2024/2025)</a:t>
            </a:r>
            <a:endParaRPr/>
          </a:p>
        </p:txBody>
      </p:sp>
      <p:graphicFrame>
        <p:nvGraphicFramePr>
          <p:cNvPr id="1326" name="Google Shape;1326;p47"/>
          <p:cNvGraphicFramePr/>
          <p:nvPr/>
        </p:nvGraphicFramePr>
        <p:xfrm>
          <a:off x="6096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4495800"/>
                <a:gridCol w="3238500"/>
                <a:gridCol w="3238500"/>
              </a:tblGrid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1" lang="en-US" sz="24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Published model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1" lang="en-US" sz="24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parameters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1" lang="en-US" sz="247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per token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Mixtral 8×7B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46.7B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12.9B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DeepSeek-V3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671B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75"/>
                        <a:buFont typeface="Arial"/>
                        <a:buNone/>
                      </a:pPr>
                      <a:r>
                        <a:rPr b="0" lang="en-US" sz="247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1327" name="Google Shape;1327;p47"/>
          <p:cNvSpPr/>
          <p:nvPr/>
        </p:nvSpPr>
        <p:spPr>
          <a:xfrm>
            <a:off x="609600" y="4714875"/>
            <a:ext cx="228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28" name="Google Shape;1328;p47"/>
          <p:cNvSpPr/>
          <p:nvPr/>
        </p:nvSpPr>
        <p:spPr>
          <a:xfrm>
            <a:off x="933450" y="4714875"/>
            <a:ext cx="10648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Total parameters influence stored weight capacity.</a:t>
            </a:r>
            <a:endParaRPr/>
          </a:p>
        </p:txBody>
      </p:sp>
      <p:sp>
        <p:nvSpPr>
          <p:cNvPr id="1329" name="Google Shape;1329;p47"/>
          <p:cNvSpPr/>
          <p:nvPr/>
        </p:nvSpPr>
        <p:spPr>
          <a:xfrm>
            <a:off x="609600" y="5305425"/>
            <a:ext cx="228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30" name="Google Shape;1330;p47"/>
          <p:cNvSpPr/>
          <p:nvPr/>
        </p:nvSpPr>
        <p:spPr>
          <a:xfrm>
            <a:off x="933450" y="5305425"/>
            <a:ext cx="10648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Active parameters help describe per-token work.</a:t>
            </a:r>
            <a:endParaRPr/>
          </a:p>
        </p:txBody>
      </p:sp>
      <p:sp>
        <p:nvSpPr>
          <p:cNvPr id="1331" name="Google Shape;1331;p47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Mixtral 8×7B shares attention and other components, so its total is not simply 8 × 7B.</a:t>
            </a:r>
            <a:endParaRPr/>
          </a:p>
        </p:txBody>
      </p:sp>
      <p:cxnSp>
        <p:nvCxnSpPr>
          <p:cNvPr id="1332" name="Google Shape;1332;p47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9"/>
          <p:cNvSpPr/>
          <p:nvPr/>
        </p:nvSpPr>
        <p:spPr>
          <a:xfrm>
            <a:off x="609600" y="238125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MIXTURE-OF-EXPERTS</a:t>
            </a:r>
            <a:endParaRPr/>
          </a:p>
        </p:txBody>
      </p:sp>
      <p:sp>
        <p:nvSpPr>
          <p:cNvPr id="1339" name="Google Shape;1339;p49"/>
          <p:cNvSpPr/>
          <p:nvPr/>
        </p:nvSpPr>
        <p:spPr>
          <a:xfrm>
            <a:off x="609600" y="657225"/>
            <a:ext cx="109728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Expert parallelism moves token vectors</a:t>
            </a:r>
            <a:endParaRPr/>
          </a:p>
        </p:txBody>
      </p:sp>
      <p:cxnSp>
        <p:nvCxnSpPr>
          <p:cNvPr id="1340" name="Google Shape;1340;p49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1" name="Google Shape;1341;p49"/>
          <p:cNvSpPr/>
          <p:nvPr/>
        </p:nvSpPr>
        <p:spPr>
          <a:xfrm>
            <a:off x="609600" y="663892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Lecture 2</a:t>
            </a:r>
            <a:endParaRPr/>
          </a:p>
        </p:txBody>
      </p:sp>
      <p:sp>
        <p:nvSpPr>
          <p:cNvPr id="1342" name="Google Shape;1342;p49"/>
          <p:cNvSpPr/>
          <p:nvPr/>
        </p:nvSpPr>
        <p:spPr>
          <a:xfrm>
            <a:off x="10858500" y="6638925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1343" name="Google Shape;1343;p49"/>
          <p:cNvSpPr/>
          <p:nvPr/>
        </p:nvSpPr>
        <p:spPr>
          <a:xfrm>
            <a:off x="609600" y="6457950"/>
            <a:ext cx="1097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 optimization and tuning</a:t>
            </a: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   ·   </a:t>
            </a: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DeepSeek-V3 report (2024/2025)</a:t>
            </a:r>
            <a:endParaRPr/>
          </a:p>
        </p:txBody>
      </p:sp>
      <p:sp>
        <p:nvSpPr>
          <p:cNvPr id="1344" name="Google Shape;1344;p49"/>
          <p:cNvSpPr/>
          <p:nvPr/>
        </p:nvSpPr>
        <p:spPr>
          <a:xfrm>
            <a:off x="4676775" y="1733550"/>
            <a:ext cx="2838450" cy="752475"/>
          </a:xfrm>
          <a:prstGeom prst="rect">
            <a:avLst/>
          </a:prstGeom>
          <a:solidFill>
            <a:srgbClr val="F0F2F4"/>
          </a:solidFill>
          <a:ln cap="flat" cmpd="sng" w="133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1345" name="Google Shape;1345;p49"/>
          <p:cNvSpPr/>
          <p:nvPr/>
        </p:nvSpPr>
        <p:spPr>
          <a:xfrm>
            <a:off x="1085850" y="3276600"/>
            <a:ext cx="4010025" cy="1000125"/>
          </a:xfrm>
          <a:prstGeom prst="rect">
            <a:avLst/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Device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Experts 1 and 2</a:t>
            </a:r>
            <a:endParaRPr/>
          </a:p>
        </p:txBody>
      </p:sp>
      <p:sp>
        <p:nvSpPr>
          <p:cNvPr id="1346" name="Google Shape;1346;p49"/>
          <p:cNvSpPr/>
          <p:nvPr/>
        </p:nvSpPr>
        <p:spPr>
          <a:xfrm>
            <a:off x="7096125" y="3276600"/>
            <a:ext cx="4010025" cy="1000125"/>
          </a:xfrm>
          <a:prstGeom prst="rect">
            <a:avLst/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Device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Experts 3 and 4</a:t>
            </a:r>
            <a:endParaRPr/>
          </a:p>
        </p:txBody>
      </p:sp>
      <p:sp>
        <p:nvSpPr>
          <p:cNvPr id="1347" name="Google Shape;1347;p49"/>
          <p:cNvSpPr/>
          <p:nvPr/>
        </p:nvSpPr>
        <p:spPr>
          <a:xfrm>
            <a:off x="3724275" y="5010150"/>
            <a:ext cx="4743450" cy="638175"/>
          </a:xfrm>
          <a:prstGeom prst="rect">
            <a:avLst/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Combine expert outputs</a:t>
            </a:r>
            <a:endParaRPr/>
          </a:p>
        </p:txBody>
      </p:sp>
      <p:cxnSp>
        <p:nvCxnSpPr>
          <p:cNvPr id="1348" name="Google Shape;1348;p49"/>
          <p:cNvCxnSpPr>
            <a:stCxn id="1344" idx="2"/>
            <a:endCxn id="1345" idx="0"/>
          </p:cNvCxnSpPr>
          <p:nvPr/>
        </p:nvCxnSpPr>
        <p:spPr>
          <a:xfrm flipH="1">
            <a:off x="3090900" y="2486025"/>
            <a:ext cx="3005100" cy="790500"/>
          </a:xfrm>
          <a:prstGeom prst="straightConnector1">
            <a:avLst/>
          </a:prstGeom>
          <a:noFill/>
          <a:ln cap="flat" cmpd="sng" w="19050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49" name="Google Shape;1349;p49"/>
          <p:cNvCxnSpPr>
            <a:stCxn id="1344" idx="2"/>
            <a:endCxn id="1346" idx="0"/>
          </p:cNvCxnSpPr>
          <p:nvPr/>
        </p:nvCxnSpPr>
        <p:spPr>
          <a:xfrm>
            <a:off x="6096000" y="2486025"/>
            <a:ext cx="3005100" cy="790500"/>
          </a:xfrm>
          <a:prstGeom prst="straightConnector1">
            <a:avLst/>
          </a:prstGeom>
          <a:noFill/>
          <a:ln cap="flat" cmpd="sng" w="19050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50" name="Google Shape;1350;p49"/>
          <p:cNvCxnSpPr>
            <a:stCxn id="1345" idx="2"/>
            <a:endCxn id="1347" idx="0"/>
          </p:cNvCxnSpPr>
          <p:nvPr/>
        </p:nvCxnSpPr>
        <p:spPr>
          <a:xfrm>
            <a:off x="3090863" y="4276725"/>
            <a:ext cx="3005100" cy="733500"/>
          </a:xfrm>
          <a:prstGeom prst="straightConnector1">
            <a:avLst/>
          </a:prstGeom>
          <a:noFill/>
          <a:ln cap="flat" cmpd="sng" w="19050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51" name="Google Shape;1351;p49"/>
          <p:cNvCxnSpPr>
            <a:stCxn id="1346" idx="2"/>
            <a:endCxn id="1347" idx="0"/>
          </p:cNvCxnSpPr>
          <p:nvPr/>
        </p:nvCxnSpPr>
        <p:spPr>
          <a:xfrm flipH="1">
            <a:off x="6096038" y="4276725"/>
            <a:ext cx="3005100" cy="733500"/>
          </a:xfrm>
          <a:prstGeom prst="straightConnector1">
            <a:avLst/>
          </a:prstGeom>
          <a:noFill/>
          <a:ln cap="flat" cmpd="sng" w="19050">
            <a:solidFill>
              <a:srgbClr val="87909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352" name="Google Shape;1352;p49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Communication and uneven expert load can limit speed even when active computation is small.</a:t>
            </a:r>
            <a:endParaRPr/>
          </a:p>
        </p:txBody>
      </p:sp>
      <p:cxnSp>
        <p:nvCxnSpPr>
          <p:cNvPr id="1353" name="Google Shape;1353;p49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0"/>
          <p:cNvSpPr/>
          <p:nvPr/>
        </p:nvSpPr>
        <p:spPr>
          <a:xfrm>
            <a:off x="609600" y="238125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MIXTURE-OF-EXPERTS</a:t>
            </a:r>
            <a:endParaRPr/>
          </a:p>
        </p:txBody>
      </p:sp>
      <p:sp>
        <p:nvSpPr>
          <p:cNvPr id="1360" name="Google Shape;1360;p50"/>
          <p:cNvSpPr/>
          <p:nvPr/>
        </p:nvSpPr>
        <p:spPr>
          <a:xfrm>
            <a:off x="609600" y="657225"/>
            <a:ext cx="109728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Serving an MoE model</a:t>
            </a:r>
            <a:endParaRPr/>
          </a:p>
        </p:txBody>
      </p:sp>
      <p:cxnSp>
        <p:nvCxnSpPr>
          <p:cNvPr id="1361" name="Google Shape;1361;p50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2" name="Google Shape;1362;p50"/>
          <p:cNvSpPr/>
          <p:nvPr/>
        </p:nvSpPr>
        <p:spPr>
          <a:xfrm>
            <a:off x="609600" y="663892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Lecture 2</a:t>
            </a:r>
            <a:endParaRPr/>
          </a:p>
        </p:txBody>
      </p:sp>
      <p:sp>
        <p:nvSpPr>
          <p:cNvPr id="1363" name="Google Shape;1363;p50"/>
          <p:cNvSpPr/>
          <p:nvPr/>
        </p:nvSpPr>
        <p:spPr>
          <a:xfrm>
            <a:off x="10858500" y="6638925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graphicFrame>
        <p:nvGraphicFramePr>
          <p:cNvPr id="1364" name="Google Shape;1364;p50"/>
          <p:cNvGraphicFramePr/>
          <p:nvPr/>
        </p:nvGraphicFramePr>
        <p:xfrm>
          <a:off x="609600" y="18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5429250"/>
                <a:gridCol w="5543550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issue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to inspect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Many distinct experts in one batch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Expert coverage and weight traffic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Popular experts receive more tokens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balance and overloaded devices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Experts spread across devices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Interconnect bandwidth and communication time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Experts offloaded to host memory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Transfer volume, reuse and scheduling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cxnSp>
        <p:nvCxnSpPr>
          <p:cNvPr id="1365" name="Google Shape;1365;p50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faa24993c0_0_0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CONTINUOUS BATCHING</a:t>
            </a:r>
            <a:endParaRPr/>
          </a:p>
        </p:txBody>
      </p:sp>
      <p:sp>
        <p:nvSpPr>
          <p:cNvPr id="1372" name="Google Shape;1372;g3faa24993c0_0_0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Continuous batching: refill freed slots</a:t>
            </a:r>
            <a:endParaRPr/>
          </a:p>
        </p:txBody>
      </p:sp>
      <p:sp>
        <p:nvSpPr>
          <p:cNvPr id="1373" name="Google Shape;1373;g3faa24993c0_0_0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Reuse a free slot at the next iteration boundary; other requests continue.</a:t>
            </a:r>
            <a:endParaRPr/>
          </a:p>
        </p:txBody>
      </p:sp>
      <p:sp>
        <p:nvSpPr>
          <p:cNvPr id="1374" name="Google Shape;1374;g3faa24993c0_0_0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5" name="Google Shape;1375;g3faa24993c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g3faa24993c0_0_0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Schedule at token-step boundaries, not only after an entire batch finishes.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Steps are schematic: step time may change with the batch, so this is not a measured speedup.</a:t>
            </a:r>
            <a:endParaRPr/>
          </a:p>
        </p:txBody>
      </p:sp>
      <p:sp>
        <p:nvSpPr>
          <p:cNvPr id="1377" name="Google Shape;1377;g3faa24993c0_0_0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Orca, OSDI 2022. Illustrative request lengths; not a latency benchmark.</a:t>
            </a:r>
            <a:endParaRPr/>
          </a:p>
        </p:txBody>
      </p:sp>
      <p:sp>
        <p:nvSpPr>
          <p:cNvPr id="1378" name="Google Shape;1378;g3faa24993c0_0_0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faa24993c0_0_12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CONTINUOUS BATCHING</a:t>
            </a:r>
            <a:endParaRPr/>
          </a:p>
        </p:txBody>
      </p:sp>
      <p:sp>
        <p:nvSpPr>
          <p:cNvPr id="1385" name="Google Shape;1385;g3faa24993c0_0_12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Continuous batching: one decode iteration</a:t>
            </a:r>
            <a:endParaRPr/>
          </a:p>
        </p:txBody>
      </p:sp>
      <p:sp>
        <p:nvSpPr>
          <p:cNvPr id="1386" name="Google Shape;1386;g3faa24993c0_0_12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Batch the new token states for computation; keep each request’s attention history separate.</a:t>
            </a:r>
            <a:endParaRPr/>
          </a:p>
        </p:txBody>
      </p:sp>
      <p:sp>
        <p:nvSpPr>
          <p:cNvPr id="1387" name="Google Shape;1387;g3faa24993c0_0_12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8" name="Google Shape;1388;g3faa24993c0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g3faa24993c0_0_12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Weights are shared; token positions, attention history and K/V writes remain request-specific.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Released K/V blocks and scheduler budgets determine whether a waiting request can enter.</a:t>
            </a:r>
            <a:endParaRPr/>
          </a:p>
        </p:txBody>
      </p:sp>
      <p:sp>
        <p:nvSpPr>
          <p:cNvPr id="1390" name="Google Shape;1390;g3faa24993c0_0_12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Orca (2022); vLLM optimization documentation. D = hidden width; EOS = end-of-sequence.</a:t>
            </a:r>
            <a:endParaRPr/>
          </a:p>
        </p:txBody>
      </p:sp>
      <p:sp>
        <p:nvSpPr>
          <p:cNvPr id="1391" name="Google Shape;1391;g3faa24993c0_0_12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faa24993c0_0_26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CHUNKED PREFILL</a:t>
            </a:r>
            <a:endParaRPr/>
          </a:p>
        </p:txBody>
      </p:sp>
      <p:sp>
        <p:nvSpPr>
          <p:cNvPr id="1398" name="Google Shape;1398;g3faa24993c0_0_26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Chunked prefill: share each serving step</a:t>
            </a:r>
            <a:endParaRPr/>
          </a:p>
        </p:txBody>
      </p:sp>
      <p:sp>
        <p:nvSpPr>
          <p:cNvPr id="1399" name="Google Shape;1399;g3faa24993c0_0_26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Split a long prompt into pieces so ongoing requests can keep receiving tokens.</a:t>
            </a:r>
            <a:endParaRPr/>
          </a:p>
        </p:txBody>
      </p:sp>
      <p:sp>
        <p:nvSpPr>
          <p:cNvPr id="1400" name="Google Shape;1400;g3faa24993c0_0_26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1" name="Google Shape;1401;g3faa24993c0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g3faa24993c0_0_26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Decode-first example: reserve 2 tokens for A/B, then use the remaining 4-token budget for P.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Chunk size trades prompt completion time against decode interruptions; tokens are not a time budget.</a:t>
            </a:r>
            <a:endParaRPr/>
          </a:p>
        </p:txBody>
      </p:sp>
      <p:sp>
        <p:nvSpPr>
          <p:cNvPr id="1403" name="Google Shape;1403;g3faa24993c0_0_26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SARATHI (2023); Sarathi-Serve, OSDI 2024; vLLM optimization documentation. Schematic schedule.</a:t>
            </a:r>
            <a:endParaRPr/>
          </a:p>
        </p:txBody>
      </p:sp>
      <p:sp>
        <p:nvSpPr>
          <p:cNvPr id="1404" name="Google Shape;1404;g3faa24993c0_0_26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faa24993c0_0_38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CHUNKED PREFILL</a:t>
            </a:r>
            <a:endParaRPr/>
          </a:p>
        </p:txBody>
      </p:sp>
      <p:sp>
        <p:nvSpPr>
          <p:cNvPr id="1411" name="Google Shape;1411;g3faa24993c0_0_38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Chunked prefill: keep the full causal history</a:t>
            </a:r>
            <a:endParaRPr/>
          </a:p>
        </p:txBody>
      </p:sp>
      <p:sp>
        <p:nvSpPr>
          <p:cNvPr id="1412" name="Google Shape;1412;g3faa24993c0_0_38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Chunking changes when computation runs—not which earlier tokens a query can attend to.</a:t>
            </a:r>
            <a:endParaRPr/>
          </a:p>
        </p:txBody>
      </p:sp>
      <p:sp>
        <p:nvSpPr>
          <p:cNvPr id="1413" name="Google Shape;1413;g3faa24993c0_0_38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4" name="Google Shape;1414;g3faa24993c0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g3faa24993c0_0_38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Do not restart attention at each chunk. Reuse earlier K/V, preserve positions, and keep the causal mask.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Only new tokens run through the layers; append their K/V to the same request’s per-layer cache.</a:t>
            </a:r>
            <a:endParaRPr/>
          </a:p>
        </p:txBody>
      </p:sp>
      <p:sp>
        <p:nvSpPr>
          <p:cNvPr id="1416" name="Google Shape;1416;g3faa24993c0_0_38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SARATHI (2023); Sarathi-Serve (2024). Equation shows one attention head; d = head dimension.</a:t>
            </a:r>
            <a:endParaRPr/>
          </a:p>
        </p:txBody>
      </p:sp>
      <p:sp>
        <p:nvSpPr>
          <p:cNvPr id="1417" name="Google Shape;1417;g3faa24993c0_0_38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52"/>
          <p:cNvSpPr/>
          <p:nvPr/>
        </p:nvSpPr>
        <p:spPr>
          <a:xfrm>
            <a:off x="609600" y="238125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HIGH-PERFORMANCE SERVING</a:t>
            </a:r>
            <a:endParaRPr/>
          </a:p>
        </p:txBody>
      </p:sp>
      <p:sp>
        <p:nvSpPr>
          <p:cNvPr id="1424" name="Google Shape;1424;p52"/>
          <p:cNvSpPr/>
          <p:nvPr/>
        </p:nvSpPr>
        <p:spPr>
          <a:xfrm>
            <a:off x="609600" y="657225"/>
            <a:ext cx="109728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Prefix caching</a:t>
            </a:r>
            <a:endParaRPr/>
          </a:p>
        </p:txBody>
      </p:sp>
      <p:cxnSp>
        <p:nvCxnSpPr>
          <p:cNvPr id="1425" name="Google Shape;1425;p52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6" name="Google Shape;1426;p52"/>
          <p:cNvSpPr/>
          <p:nvPr/>
        </p:nvSpPr>
        <p:spPr>
          <a:xfrm>
            <a:off x="609600" y="663892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Lecture 2</a:t>
            </a:r>
            <a:endParaRPr/>
          </a:p>
        </p:txBody>
      </p:sp>
      <p:sp>
        <p:nvSpPr>
          <p:cNvPr id="1427" name="Google Shape;1427;p52"/>
          <p:cNvSpPr/>
          <p:nvPr/>
        </p:nvSpPr>
        <p:spPr>
          <a:xfrm>
            <a:off x="10858500" y="6638925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1428" name="Google Shape;1428;p52"/>
          <p:cNvSpPr/>
          <p:nvPr/>
        </p:nvSpPr>
        <p:spPr>
          <a:xfrm>
            <a:off x="609600" y="6457950"/>
            <a:ext cx="10972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sng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vLLM automatic prefix caching</a:t>
            </a:r>
            <a:endParaRPr/>
          </a:p>
        </p:txBody>
      </p:sp>
      <p:sp>
        <p:nvSpPr>
          <p:cNvPr id="1429" name="Google Shape;1429;p52"/>
          <p:cNvSpPr/>
          <p:nvPr/>
        </p:nvSpPr>
        <p:spPr>
          <a:xfrm>
            <a:off x="609600" y="167640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Two requests share an exact token prefix</a:t>
            </a:r>
            <a:endParaRPr/>
          </a:p>
        </p:txBody>
      </p:sp>
      <p:sp>
        <p:nvSpPr>
          <p:cNvPr id="1430" name="Google Shape;1430;p52"/>
          <p:cNvSpPr/>
          <p:nvPr/>
        </p:nvSpPr>
        <p:spPr>
          <a:xfrm>
            <a:off x="609600" y="2495550"/>
            <a:ext cx="7381875" cy="762000"/>
          </a:xfrm>
          <a:prstGeom prst="rect">
            <a:avLst/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System prompt + shared document</a:t>
            </a:r>
            <a:endParaRPr/>
          </a:p>
        </p:txBody>
      </p:sp>
      <p:sp>
        <p:nvSpPr>
          <p:cNvPr id="1431" name="Google Shape;1431;p52"/>
          <p:cNvSpPr/>
          <p:nvPr/>
        </p:nvSpPr>
        <p:spPr>
          <a:xfrm>
            <a:off x="8572500" y="2495550"/>
            <a:ext cx="2847975" cy="762000"/>
          </a:xfrm>
          <a:prstGeom prst="rect">
            <a:avLst/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Question A</a:t>
            </a:r>
            <a:endParaRPr/>
          </a:p>
        </p:txBody>
      </p:sp>
      <p:sp>
        <p:nvSpPr>
          <p:cNvPr id="1432" name="Google Shape;1432;p52"/>
          <p:cNvSpPr/>
          <p:nvPr/>
        </p:nvSpPr>
        <p:spPr>
          <a:xfrm>
            <a:off x="609600" y="3648075"/>
            <a:ext cx="7381875" cy="762000"/>
          </a:xfrm>
          <a:prstGeom prst="rect">
            <a:avLst/>
          </a:prstGeom>
          <a:solidFill>
            <a:srgbClr val="EAF5FB"/>
          </a:solidFill>
          <a:ln cap="flat" cmpd="sng" w="13325">
            <a:solidFill>
              <a:srgbClr val="3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System prompt + shared document</a:t>
            </a:r>
            <a:endParaRPr/>
          </a:p>
        </p:txBody>
      </p:sp>
      <p:sp>
        <p:nvSpPr>
          <p:cNvPr id="1433" name="Google Shape;1433;p52"/>
          <p:cNvSpPr/>
          <p:nvPr/>
        </p:nvSpPr>
        <p:spPr>
          <a:xfrm>
            <a:off x="8572500" y="3648075"/>
            <a:ext cx="2847975" cy="762000"/>
          </a:xfrm>
          <a:prstGeom prst="rect">
            <a:avLst/>
          </a:prstGeom>
          <a:solidFill>
            <a:srgbClr val="FFFFFF"/>
          </a:solidFill>
          <a:ln cap="flat" cmpd="sng" w="13325">
            <a:solidFill>
              <a:srgbClr val="FF9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76200" spcFirstLastPara="1" rIns="76200" wrap="square" tIns="5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Question B</a:t>
            </a:r>
            <a:endParaRPr/>
          </a:p>
        </p:txBody>
      </p:sp>
      <p:sp>
        <p:nvSpPr>
          <p:cNvPr id="1434" name="Google Shape;1434;p52"/>
          <p:cNvSpPr/>
          <p:nvPr/>
        </p:nvSpPr>
        <p:spPr>
          <a:xfrm>
            <a:off x="609600" y="49625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535D69"/>
                </a:solidFill>
                <a:latin typeface="Arial"/>
                <a:ea typeface="Arial"/>
                <a:cs typeface="Arial"/>
                <a:sym typeface="Arial"/>
              </a:rPr>
              <a:t>Reuse the shared prefix’s KV state when the cache contains a valid match.</a:t>
            </a:r>
            <a:endParaRPr/>
          </a:p>
        </p:txBody>
      </p:sp>
      <p:sp>
        <p:nvSpPr>
          <p:cNvPr id="1435" name="Google Shape;1435;p52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Prefix caching saves repeated prefill work. Each new answer still requires decoding.</a:t>
            </a:r>
            <a:endParaRPr/>
          </a:p>
        </p:txBody>
      </p:sp>
      <p:cxnSp>
        <p:nvCxnSpPr>
          <p:cNvPr id="1436" name="Google Shape;1436;p52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faa24993c0_0_52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SPECULATIVE DECODING</a:t>
            </a:r>
            <a:endParaRPr/>
          </a:p>
        </p:txBody>
      </p:sp>
      <p:sp>
        <p:nvSpPr>
          <p:cNvPr id="1443" name="Google Shape;1443;g3faa24993c0_0_52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Speculative decoding: draft, then verify</a:t>
            </a:r>
            <a:endParaRPr/>
          </a:p>
        </p:txBody>
      </p:sp>
      <p:sp>
        <p:nvSpPr>
          <p:cNvPr id="1444" name="Google Shape;1444;g3faa24993c0_0_52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A small model proposes three tokens; the large model checks them in one causal forward pass.</a:t>
            </a:r>
            <a:endParaRPr/>
          </a:p>
        </p:txBody>
      </p:sp>
      <p:sp>
        <p:nvSpPr>
          <p:cNvPr id="1445" name="Google Shape;1445;g3faa24993c0_0_52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6" name="Google Shape;1446;g3faa24993c0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g3faa24993c0_0_52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Drafting is autoregressive. The target checks all positions together without future-token leakage.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Each model owns its K/V cache. An edge draft adds a network round trip per speculative round.</a:t>
            </a:r>
            <a:endParaRPr/>
          </a:p>
        </p:txBody>
      </p:sp>
      <p:sp>
        <p:nvSpPr>
          <p:cNvPr id="1448" name="Google Shape;1448;g3faa24993c0_0_52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Leviathan et al., ICML 2023; Hugging Face, Assisted Generation (2023). Greedy, shared-tokenizer example.</a:t>
            </a:r>
            <a:endParaRPr/>
          </a:p>
        </p:txBody>
      </p:sp>
      <p:sp>
        <p:nvSpPr>
          <p:cNvPr id="1449" name="Google Shape;1449;g3faa24993c0_0_52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faa24993c0_0_64"/>
          <p:cNvSpPr/>
          <p:nvPr/>
        </p:nvSpPr>
        <p:spPr>
          <a:xfrm>
            <a:off x="609600" y="228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87FE7"/>
                </a:solidFill>
                <a:latin typeface="Arial"/>
                <a:ea typeface="Arial"/>
                <a:cs typeface="Arial"/>
                <a:sym typeface="Arial"/>
              </a:rPr>
              <a:t>SPECULATIVE DECODING</a:t>
            </a:r>
            <a:endParaRPr/>
          </a:p>
        </p:txBody>
      </p:sp>
      <p:sp>
        <p:nvSpPr>
          <p:cNvPr id="1456" name="Google Shape;1456;g3faa24993c0_0_64"/>
          <p:cNvSpPr/>
          <p:nvPr/>
        </p:nvSpPr>
        <p:spPr>
          <a:xfrm>
            <a:off x="609600" y="581025"/>
            <a:ext cx="10972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Speculative decoding: accept or roll back</a:t>
            </a:r>
            <a:endParaRPr/>
          </a:p>
        </p:txBody>
      </p:sp>
      <p:sp>
        <p:nvSpPr>
          <p:cNvPr id="1457" name="Google Shape;1457;g3faa24993c0_0_64"/>
          <p:cNvSpPr/>
          <p:nvPr/>
        </p:nvSpPr>
        <p:spPr>
          <a:xfrm>
            <a:off x="609600" y="1266825"/>
            <a:ext cx="109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Greedy example: accept matching tokens in order and stop at the first mismatch.</a:t>
            </a:r>
            <a:endParaRPr/>
          </a:p>
        </p:txBody>
      </p:sp>
      <p:sp>
        <p:nvSpPr>
          <p:cNvPr id="1458" name="Google Shape;1458;g3faa24993c0_0_64"/>
          <p:cNvSpPr/>
          <p:nvPr/>
        </p:nvSpPr>
        <p:spPr>
          <a:xfrm>
            <a:off x="609600" y="1724025"/>
            <a:ext cx="10972800" cy="1050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g3faa24993c0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85950"/>
            <a:ext cx="109728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g3faa24993c0_0_64"/>
          <p:cNvSpPr/>
          <p:nvPr/>
        </p:nvSpPr>
        <p:spPr>
          <a:xfrm>
            <a:off x="609600" y="6000750"/>
            <a:ext cx="10972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Commit only the accepted prefix; return the verified result so the draft resumes from the same context.</a:t>
            </a:r>
            <a:endParaRPr/>
          </a:p>
          <a:p>
            <a:pPr indent="-1143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526172"/>
              </a:buClr>
              <a:buSzPts val="1650"/>
              <a:buFont typeface="Arial"/>
              <a:buChar char="•"/>
            </a:pPr>
            <a:r>
              <a:rPr b="0" lang="en-US" sz="1650">
                <a:solidFill>
                  <a:srgbClr val="526172"/>
                </a:solidFill>
                <a:latin typeface="Arial"/>
                <a:ea typeface="Arial"/>
                <a:cs typeface="Arial"/>
                <a:sym typeface="Arial"/>
              </a:rPr>
              <a:t>Shown: exact greedy decoding. Sampling requires probability-based acceptance and corrected resampling.</a:t>
            </a:r>
            <a:endParaRPr/>
          </a:p>
        </p:txBody>
      </p:sp>
      <p:sp>
        <p:nvSpPr>
          <p:cNvPr id="1461" name="Google Shape;1461;g3faa24993c0_0_64"/>
          <p:cNvSpPr/>
          <p:nvPr/>
        </p:nvSpPr>
        <p:spPr>
          <a:xfrm>
            <a:off x="609600" y="6686550"/>
            <a:ext cx="103824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Leviathan et al. (2023); Chen et al. (2023); Hugging Face, Assisted Generation (2023).</a:t>
            </a:r>
            <a:endParaRPr/>
          </a:p>
        </p:txBody>
      </p:sp>
      <p:sp>
        <p:nvSpPr>
          <p:cNvPr id="1462" name="Google Shape;1462;g3faa24993c0_0_64"/>
          <p:cNvSpPr/>
          <p:nvPr/>
        </p:nvSpPr>
        <p:spPr>
          <a:xfrm>
            <a:off x="11372850" y="6657975"/>
            <a:ext cx="209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8190A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faa24993c0_0_153"/>
          <p:cNvSpPr/>
          <p:nvPr/>
        </p:nvSpPr>
        <p:spPr>
          <a:xfrm>
            <a:off x="609600" y="238125"/>
            <a:ext cx="1097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EFFICIENT LLM INFERENCE</a:t>
            </a:r>
            <a:endParaRPr sz="1800"/>
          </a:p>
        </p:txBody>
      </p:sp>
      <p:sp>
        <p:nvSpPr>
          <p:cNvPr id="1469" name="Google Shape;1469;g3faa24993c0_0_153"/>
          <p:cNvSpPr/>
          <p:nvPr/>
        </p:nvSpPr>
        <p:spPr>
          <a:xfrm>
            <a:off x="609600" y="6572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0E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Lecture 2 recap</a:t>
            </a:r>
            <a:endParaRPr sz="1800"/>
          </a:p>
        </p:txBody>
      </p:sp>
      <p:cxnSp>
        <p:nvCxnSpPr>
          <p:cNvPr id="1470" name="Google Shape;1470;g3faa24993c0_0_15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1237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1" name="Google Shape;1471;g3faa24993c0_0_153"/>
          <p:cNvSpPr/>
          <p:nvPr/>
        </p:nvSpPr>
        <p:spPr>
          <a:xfrm>
            <a:off x="609600" y="6686550"/>
            <a:ext cx="7429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· Lecture 2</a:t>
            </a:r>
            <a:endParaRPr sz="1800"/>
          </a:p>
        </p:txBody>
      </p:sp>
      <p:sp>
        <p:nvSpPr>
          <p:cNvPr id="1472" name="Google Shape;1472;g3faa24993c0_0_153"/>
          <p:cNvSpPr/>
          <p:nvPr/>
        </p:nvSpPr>
        <p:spPr>
          <a:xfrm>
            <a:off x="10858500" y="6686550"/>
            <a:ext cx="72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7909B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800"/>
          </a:p>
        </p:txBody>
      </p:sp>
      <p:sp>
        <p:nvSpPr>
          <p:cNvPr id="1473" name="Google Shape;1473;g3faa24993c0_0_153"/>
          <p:cNvSpPr/>
          <p:nvPr/>
        </p:nvSpPr>
        <p:spPr>
          <a:xfrm>
            <a:off x="609600" y="16573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How each technique changes inference</a:t>
            </a:r>
            <a:endParaRPr/>
          </a:p>
        </p:txBody>
      </p:sp>
      <p:graphicFrame>
        <p:nvGraphicFramePr>
          <p:cNvPr id="1474" name="Google Shape;1474;g3faa24993c0_0_153"/>
          <p:cNvGraphicFramePr/>
          <p:nvPr/>
        </p:nvGraphicFramePr>
        <p:xfrm>
          <a:off x="6096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3457575"/>
                <a:gridCol w="7515225"/>
              </a:tblGrid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Quantization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Fewer bits reduce storage and reads.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Higher precision protects sensitive operations.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 / decode / KV cache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 processes the prompt. Decoding reuses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earlier K/V at every layer and processes each new token.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MQA / GQA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Shared K/V heads reduce per-layer KV cache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cache traffic during decoding.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FlashAttention /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PagedAttention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FlashAttention avoids large attention intermediates.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PagedAttention manages persistent K/V in blocks.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token activates selected FFN experts.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expert weights still need storage.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Speculative decoding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small model drafts. The target verifies,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0" lang="en-US" sz="1950" u="none" cap="none" strike="noStrike">
                          <a:solidFill>
                            <a:srgbClr val="535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 accepts a prefix or corrects a rejected token.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63"/>
          <p:cNvSpPr/>
          <p:nvPr/>
        </p:nvSpPr>
        <p:spPr>
          <a:xfrm>
            <a:off x="609600" y="238125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D8DFF"/>
                </a:solidFill>
                <a:latin typeface="Arial"/>
                <a:ea typeface="Arial"/>
                <a:cs typeface="Arial"/>
                <a:sym typeface="Arial"/>
              </a:rPr>
              <a:t>LECTURE CHECKPOINT</a:t>
            </a:r>
            <a:endParaRPr/>
          </a:p>
        </p:txBody>
      </p:sp>
      <p:sp>
        <p:nvSpPr>
          <p:cNvPr id="1481" name="Google Shape;1481;p63"/>
          <p:cNvSpPr/>
          <p:nvPr/>
        </p:nvSpPr>
        <p:spPr>
          <a:xfrm>
            <a:off x="609600" y="657225"/>
            <a:ext cx="109728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0C0E"/>
                </a:solidFill>
                <a:latin typeface="Arial"/>
                <a:ea typeface="Arial"/>
                <a:cs typeface="Arial"/>
                <a:sym typeface="Arial"/>
              </a:rPr>
              <a:t>A deployment decision you can defend</a:t>
            </a:r>
            <a:endParaRPr/>
          </a:p>
        </p:txBody>
      </p:sp>
      <p:cxnSp>
        <p:nvCxnSpPr>
          <p:cNvPr id="1482" name="Google Shape;1482;p63"/>
          <p:cNvCxnSpPr/>
          <p:nvPr/>
        </p:nvCxnSpPr>
        <p:spPr>
          <a:xfrm>
            <a:off x="609600" y="1390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3" name="Google Shape;1483;p63"/>
          <p:cNvSpPr/>
          <p:nvPr/>
        </p:nvSpPr>
        <p:spPr>
          <a:xfrm>
            <a:off x="609600" y="663892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COMP7608B  ·  Lecture 2</a:t>
            </a:r>
            <a:endParaRPr/>
          </a:p>
        </p:txBody>
      </p:sp>
      <p:sp>
        <p:nvSpPr>
          <p:cNvPr id="1484" name="Google Shape;1484;p63"/>
          <p:cNvSpPr/>
          <p:nvPr/>
        </p:nvSpPr>
        <p:spPr>
          <a:xfrm>
            <a:off x="10858500" y="6638925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87909B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</p:txBody>
      </p:sp>
      <p:graphicFrame>
        <p:nvGraphicFramePr>
          <p:cNvPr id="1485" name="Google Shape;1485;p63"/>
          <p:cNvGraphicFramePr/>
          <p:nvPr/>
        </p:nvGraphicFramePr>
        <p:xfrm>
          <a:off x="6096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{1345B79C-F39D-4314-A7C5-CD6427D78287}</a:tableStyleId>
              </a:tblPr>
              <a:tblGrid>
                <a:gridCol w="4533900"/>
                <a:gridCol w="643890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1" lang="en-US" sz="2025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to use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73F7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the workload fit?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 bytes plus KV and runtime memory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the bottleneck?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Prefill / decode timing and resource use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Which technique addresses it?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Precision, architecture, kernel or scheduling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Did the change help?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Quality, latency and useful throughput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A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others reproduce it?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25"/>
                        <a:buFont typeface="Arial"/>
                        <a:buNone/>
                      </a:pPr>
                      <a:r>
                        <a:rPr b="0" lang="en-US" sz="2025" u="none" cap="none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Pinned model, runtime and test workload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6" name="Google Shape;1486;p63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73F71"/>
                </a:solidFill>
                <a:latin typeface="Arial"/>
                <a:ea typeface="Arial"/>
                <a:cs typeface="Arial"/>
                <a:sym typeface="Arial"/>
              </a:rPr>
              <a:t>Next lecture · training and fine-tuning the parameters whose execution we have now studied.</a:t>
            </a:r>
            <a:endParaRPr/>
          </a:p>
        </p:txBody>
      </p:sp>
      <p:cxnSp>
        <p:nvCxnSpPr>
          <p:cNvPr id="1487" name="Google Shape;1487;p63"/>
          <p:cNvCxnSpPr/>
          <p:nvPr/>
        </p:nvCxnSpPr>
        <p:spPr>
          <a:xfrm>
            <a:off x="609600" y="5762625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C9CE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