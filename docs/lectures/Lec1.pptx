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hpIgCTgSu9UOEA+GByuFuPihdT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customschemas.google.com/relationships/presentationmetadata" Target="metadata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41227a5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fa41227a5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7" name="Google Shape;67;g3fa41227a5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1" name="Google Shape;4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9" name="Google Shape;45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2" name="Google Shape;49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5" name="Google Shape;54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a509150ae_0_4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g3fa509150ae_0_4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82" name="Google Shape;582;g3fa509150ae_0_4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a509150ae_0_4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g3fa509150ae_0_4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10" name="Google Shape;610;g3fa509150ae_0_4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a509150ae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g3fa509150ae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57" name="Google Shape;657;g3fa509150ae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a509150ae_0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g3fa509150ae_0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2" name="Google Shape;692;g3fa509150ae_0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a509150ae_0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5" name="Google Shape;745;g3fa509150ae_0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46" name="Google Shape;746;g3fa509150ae_0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fa509150ae_0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0" name="Google Shape;780;g3fa509150ae_0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1" name="Google Shape;781;g3fa509150ae_0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a509150ae_0_1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g3fa509150ae_0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14" name="Google Shape;814;g3fa509150ae_0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a509150ae_0_2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0" name="Google Shape;860;g3fa509150ae_0_2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1" name="Google Shape;861;g3fa509150ae_0_2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a509150ae_0_2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0" name="Google Shape;910;g3fa509150ae_0_2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11" name="Google Shape;911;g3fa509150ae_0_2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fa509150ae_0_2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7" name="Google Shape;957;g3fa509150ae_0_2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58" name="Google Shape;958;g3fa509150ae_0_2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fa509150ae_0_3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2" name="Google Shape;992;g3fa509150ae_0_3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93" name="Google Shape;993;g3fa509150ae_0_3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fa509150ae_0_5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4" name="Google Shape;1034;g3fa509150ae_0_5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5" name="Google Shape;1035;g3fa509150ae_0_5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3" name="Google Shape;10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94" name="Google Shape;10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5" name="Google Shape;112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26" name="Google Shape;112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9" name="Google Shape;1149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50" name="Google Shape;1150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3" name="Google Shape;116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64" name="Google Shape;116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3" name="Google Shape;121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14" name="Google Shape;121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9" name="Google Shape;125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0" name="Google Shape;126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5" name="Google Shape;128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86" name="Google Shape;1286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1" name="Google Shape;1341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42" name="Google Shape;134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8" name="Google Shape;136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69" name="Google Shape;136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6" name="Google Shape;140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07" name="Google Shape;140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5" name="Google Shape;150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06" name="Google Shape;150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9" name="Google Shape;156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70" name="Google Shape;157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2" name="Google Shape;1592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93" name="Google Shape;1593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1" name="Google Shape;1661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62" name="Google Shape;1662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0" name="Google Shape;173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31" name="Google Shape;173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3" name="Google Shape;1763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64" name="Google Shape;1764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8" name="Google Shape;1828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29" name="Google Shape;1829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0" name="Google Shape;1890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91" name="Google Shape;1891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7" name="Google Shape;1967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68" name="Google Shape;1968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4" name="Google Shape;2014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15" name="Google Shape;2015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8" name="Google Shape;2058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59" name="Google Shape;2059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41" name="Google Shape;2141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4" name="Google Shape;2194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95" name="Google Shape;2195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2" name="Google Shape;2262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63" name="Google Shape;2263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1" name="Google Shape;2321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22" name="Google Shape;2322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7" name="Google Shape;2367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68" name="Google Shape;2368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7" name="Google Shape;2407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08" name="Google Shape;2408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7" name="Google Shape;2457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58" name="Google Shape;2458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8" name="Google Shape;2508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09" name="Google Shape;2509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3" name="Google Shape;2563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64" name="Google Shape;2564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8" name="Google Shape;2638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39" name="Google Shape;2639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8" name="Google Shape;2698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99" name="Google Shape;2699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1" name="Google Shape;2741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42" name="Google Shape;2742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3" name="Google Shape;2783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84" name="Google Shape;2784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6" name="Google Shape;2866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67" name="Google Shape;2867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2" name="Google Shape;2912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13" name="Google Shape;2913;p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8" name="Google Shape;2948;p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49" name="Google Shape;2949;p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p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5" name="Google Shape;3005;p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06" name="Google Shape;3006;p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2" name="Google Shape;3042;p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43" name="Google Shape;3043;p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0" name="Google Shape;3080;p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81" name="Google Shape;3081;p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hyperlink" Target="https://arxiv.org/abs/2001.08361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jmlr.org/papers/v3/bengio03a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rxiv.org/abs/1607.06450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arxiv.org/abs/1910.07467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arxiv.org/abs/2002.04745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arxiv.org/abs/2002.05202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docs.pytorch.org/docs/stable/generated/torch.nn.SiLU.html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huggingface.co/Qwen/Qwen2.5-7B/blob/main/config.json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doi.org/10.1002/j.1538-7305.1951.tb01366.x" TargetMode="External"/><Relationship Id="rId4" Type="http://schemas.openxmlformats.org/officeDocument/2006/relationships/hyperlink" Target="https://www.jmlr.org/papers/v3/bengio03a.html" TargetMode="External"/><Relationship Id="rId11" Type="http://schemas.openxmlformats.org/officeDocument/2006/relationships/hyperlink" Target="https://stanford-cs336.github.io/spring2025/" TargetMode="External"/><Relationship Id="rId10" Type="http://schemas.openxmlformats.org/officeDocument/2006/relationships/hyperlink" Target="https://aclanthology.org/P16-1162/" TargetMode="External"/><Relationship Id="rId9" Type="http://schemas.openxmlformats.org/officeDocument/2006/relationships/hyperlink" Target="https://arxiv.org/abs/2203.15556" TargetMode="External"/><Relationship Id="rId5" Type="http://schemas.openxmlformats.org/officeDocument/2006/relationships/hyperlink" Target="https://arxiv.org/abs/1301.3781" TargetMode="External"/><Relationship Id="rId6" Type="http://schemas.openxmlformats.org/officeDocument/2006/relationships/hyperlink" Target="https://arxiv.org/abs/1706.03762" TargetMode="External"/><Relationship Id="rId7" Type="http://schemas.openxmlformats.org/officeDocument/2006/relationships/hyperlink" Target="https://cdn.openai.com/research-covers/language-unsupervised/language_understanding_paper.pdf" TargetMode="External"/><Relationship Id="rId8" Type="http://schemas.openxmlformats.org/officeDocument/2006/relationships/hyperlink" Target="https://arxiv.org/abs/2001.08361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arxiv.org/abs/1910.07467" TargetMode="External"/><Relationship Id="rId4" Type="http://schemas.openxmlformats.org/officeDocument/2006/relationships/hyperlink" Target="https://arxiv.org/abs/2104.09864" TargetMode="External"/><Relationship Id="rId11" Type="http://schemas.openxmlformats.org/officeDocument/2006/relationships/hyperlink" Target="https://huggingface.co/Qwen/Qwen2.5-7B/blob/main/config.json" TargetMode="External"/><Relationship Id="rId10" Type="http://schemas.openxmlformats.org/officeDocument/2006/relationships/hyperlink" Target="https://huggingface.co/microsoft/Phi-3-mini-4k-instruct/blob/main/config.json" TargetMode="External"/><Relationship Id="rId9" Type="http://schemas.openxmlformats.org/officeDocument/2006/relationships/hyperlink" Target="https://huggingface.co/mistralai/Mistral-7B-v0.1/blob/main/config.json" TargetMode="External"/><Relationship Id="rId5" Type="http://schemas.openxmlformats.org/officeDocument/2006/relationships/hyperlink" Target="https://arxiv.org/abs/2002.04745" TargetMode="External"/><Relationship Id="rId6" Type="http://schemas.openxmlformats.org/officeDocument/2006/relationships/hyperlink" Target="https://arxiv.org/abs/2002.05202" TargetMode="External"/><Relationship Id="rId7" Type="http://schemas.openxmlformats.org/officeDocument/2006/relationships/hyperlink" Target="https://arxiv.org/abs/1904.09751" TargetMode="External"/><Relationship Id="rId8" Type="http://schemas.openxmlformats.org/officeDocument/2006/relationships/hyperlink" Target="https://aclanthology.org/2023.emnlp-main.29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95300" y="438150"/>
            <a:ext cx="2019300" cy="304800"/>
          </a:xfrm>
          <a:prstGeom prst="roundRect">
            <a:avLst>
              <a:gd fmla="val 50000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8650" y="485775"/>
            <a:ext cx="1752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95300" y="1257300"/>
            <a:ext cx="5334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Large 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95300" y="1981200"/>
            <a:ext cx="533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Foundations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95300" y="4095750"/>
            <a:ext cx="47625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95300" y="4324350"/>
            <a:ext cx="4762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Wenbo Sun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School of Computing and Data Science · HKU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95300" y="6181725"/>
            <a:ext cx="3714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2026–27 · Semester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1191875" y="624840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7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96000" y="342900"/>
            <a:ext cx="5619900" cy="5734200"/>
          </a:xfrm>
          <a:prstGeom prst="roundRect">
            <a:avLst>
              <a:gd fmla="val 47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819900" y="609600"/>
            <a:ext cx="4172100" cy="285900"/>
          </a:xfrm>
          <a:prstGeom prst="roundRect">
            <a:avLst>
              <a:gd fmla="val 50000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953250" y="657225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DECODER-ONLY TRANSFORMER · ONE NEXT-TOKEN PASS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334250" y="6248400"/>
            <a:ext cx="314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Architecture adapted from Hashimoto, CS336 Lecture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3097" y="990600"/>
            <a:ext cx="2745557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WELCOME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Your instructor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" y="1657350"/>
            <a:ext cx="523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 PERSPECTIVE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1981200"/>
            <a:ext cx="5238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Research and industry shape this course.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85800" y="2895600"/>
            <a:ext cx="5238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TU Delft PhD work — efficient LLM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Database-system design for AI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Fintech, Beijing — algorithm engineer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Two years managing algorithmic trading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515100" y="1676400"/>
            <a:ext cx="4934100" cy="3524400"/>
          </a:xfrm>
          <a:prstGeom prst="roundRect">
            <a:avLst>
              <a:gd fmla="val 5946" name="adj"/>
            </a:avLst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19900" y="1962150"/>
            <a:ext cx="4324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HOW THIS SHAPES THE 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38950" y="2486025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38950" y="2486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239000" y="2457450"/>
            <a:ext cx="386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Understand the computation precisely enough to implement and measure it.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838950" y="3267075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838950" y="32670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39000" y="3276600"/>
            <a:ext cx="3867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Treat memory, hardware and deployment constraints as design inputs.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838950" y="4314825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838950" y="43148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239000" y="4286250"/>
            <a:ext cx="386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Explain architecture choices clearly to engineers, managers and users.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The course connects mathematical mechanisms with the constraints of real systems.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41227a50_0_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WELCOME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a41227a50_0_0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About You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g3fa41227a50_0_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2" name="Google Shape;72;g3fa41227a50_0_0" title="Untitled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750" y="1390650"/>
            <a:ext cx="5362575" cy="5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Two connected parts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865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EAF5FB"/>
          </a:solidFill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52500" y="1943100"/>
            <a:ext cx="453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PART I · 3 or 4 LECTURES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52500" y="2324100"/>
            <a:ext cx="4533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Inside the LLM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52500" y="2914650"/>
            <a:ext cx="4419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95250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Architecture, inference, training, and fine-tuning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10"/>
              </a:spcAft>
              <a:buClr>
                <a:srgbClr val="535D69"/>
              </a:buClr>
              <a:buSzPts val="15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Small implementations; industry efficiency choices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90600" y="43053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9060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238250" y="42481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architecture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90600" y="470535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9060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238250" y="464820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training and fine-tuning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90600" y="51054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9060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238250" y="50482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efficiency and deployment 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32460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FFFFFF"/>
          </a:solidFill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48450" y="1943100"/>
            <a:ext cx="453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PART II · 6 or 7 LECTURES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48450" y="2324100"/>
            <a:ext cx="4533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LLM as a tool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648450" y="2914650"/>
            <a:ext cx="4419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95250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Retrieval, tools, memory, and agent workflows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10"/>
              </a:spcAft>
              <a:buClr>
                <a:srgbClr val="535D69"/>
              </a:buClr>
              <a:buSzPts val="15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Real systems and invited industry practitioners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686550" y="43053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68655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34200" y="42481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RAG and memory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686550" y="470535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68655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34200" y="464820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agent workflows and harnesses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686550" y="51054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68655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934200" y="50482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industry cases and failure modes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Why learn the internals?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85800" y="1657350"/>
            <a:ext cx="5391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WHY LEARN THE INTERNALS?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85800" y="1981200"/>
            <a:ext cx="5391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42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Understanding the computation transfers to new designs.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5800" y="2895600"/>
            <a:ext cx="53913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Interviews may ask for formulas, code, or cost estimates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Implementation reveals what the architecture really does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New model design → identify which operations change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Agent projects expose integration and evaluation problems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496050" y="1676400"/>
            <a:ext cx="485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QUESTIONS YOU SHOULD BE ABLE TO REASON ABOUT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496050" y="2057400"/>
            <a:ext cx="4876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629400" y="2133600"/>
            <a:ext cx="46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Why divide attention scores by √dₕ?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496050" y="2800350"/>
            <a:ext cx="4876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629400" y="2792349"/>
            <a:ext cx="46101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Why does an FFN expand before contracting?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96050" y="3543300"/>
            <a:ext cx="4876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629400" y="3619500"/>
            <a:ext cx="46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Which tensor or matrix dominates cost?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496050" y="4286250"/>
            <a:ext cx="4876800" cy="552600"/>
          </a:xfrm>
          <a:prstGeom prst="roundRect">
            <a:avLst>
              <a:gd fmla="val 2413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629400" y="4278249"/>
            <a:ext cx="46101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would a new architecture change the code?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8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For agentic systems, implementation experience also exposes workflow traps, integration limits and evaluation problems.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Assessment: Group Project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85800" y="1657350"/>
            <a:ext cx="5600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WHAT COUNTS AS A PROJECT?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85800" y="1981200"/>
            <a:ext cx="5600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Build a working agentic application and defend its design.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85800" y="2895600"/>
            <a:ext cx="56007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Start with a user problem and clear motivation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Propose a stack; identify risks and alternatives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Evaluate quality, reliability, latency, or 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Submit runnable code and explain limitations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572250" y="1676400"/>
            <a:ext cx="459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POSSIBLE DIRECTIONS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648450" y="21717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648450" y="21717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896100" y="2114550"/>
            <a:ext cx="4210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financial-news research assistant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648450" y="2695575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648450" y="2695575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896100" y="2638425"/>
            <a:ext cx="4210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domain RAG with source verification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648450" y="321945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648450" y="32194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896100" y="3162300"/>
            <a:ext cx="4210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data-analysis and visualization agent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648450" y="3743325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648450" y="3743325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896100" y="3686175"/>
            <a:ext cx="4210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coding, testing or support workflow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648450" y="42672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648450" y="42672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896100" y="4210050"/>
            <a:ext cx="42102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personal or organizational knowledge assistant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Benchmarking should support a design decision—for example, retrieval quality, latency, cost or tool-use reliability.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47700" y="1771650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47700" y="2419350"/>
            <a:ext cx="3333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PROPOSAL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19150" y="2933700"/>
            <a:ext cx="2991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problem, motivation, provisional stack and risks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362450" y="1771650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362450" y="2419350"/>
            <a:ext cx="3333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33900" y="2933700"/>
            <a:ext cx="2991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show the system and defend its design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077200" y="1771650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077200" y="2419350"/>
            <a:ext cx="3333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REPORT +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248650" y="2933700"/>
            <a:ext cx="2991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architecture, evaluation, limitations and runnable artifact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6"/>
          <p:cNvCxnSpPr/>
          <p:nvPr/>
        </p:nvCxnSpPr>
        <p:spPr>
          <a:xfrm>
            <a:off x="428625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6"/>
          <p:cNvCxnSpPr/>
          <p:nvPr/>
        </p:nvCxnSpPr>
        <p:spPr>
          <a:xfrm>
            <a:off x="800100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895350" y="4400550"/>
            <a:ext cx="10401300" cy="990600"/>
          </a:xfrm>
          <a:prstGeom prst="roundRect">
            <a:avLst>
              <a:gd fmla="val 17308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162050" y="4629150"/>
            <a:ext cx="114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GROUPING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571750" y="4572000"/>
            <a:ext cx="8363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Groups of 3–4. Form your team by 21 September; anyone without a group will be assigned randomly.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44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Detailed presentation arrangements and final deadlines will be announced after the teaching team completes the instructions.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AI assistance and ownership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7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7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85800" y="1657350"/>
            <a:ext cx="561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PERMITTED ASSISTANCE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85800" y="2381250"/>
            <a:ext cx="5619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AI tools and open-source libraries allowed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8" marR="0" rtl="0" algn="l">
              <a:lnSpc>
                <a:spcPct val="100000"/>
              </a:lnSpc>
              <a:spcBef>
                <a:spcPts val="16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Try guided exercises yourself first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8" marR="0" rtl="0" algn="l">
              <a:lnSpc>
                <a:spcPct val="100000"/>
              </a:lnSpc>
              <a:spcBef>
                <a:spcPts val="16"/>
              </a:spcBef>
              <a:spcAft>
                <a:spcPts val="16"/>
              </a:spcAft>
              <a:buClr>
                <a:srgbClr val="535D69"/>
              </a:buClr>
              <a:buSzPts val="18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Explain your code and architecture choices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629400" y="1657350"/>
            <a:ext cx="4686300" cy="3753000"/>
          </a:xfrm>
          <a:prstGeom prst="roundRect">
            <a:avLst>
              <a:gd fmla="val 5946" name="adj"/>
            </a:avLst>
          </a:prstGeom>
          <a:solidFill>
            <a:srgbClr val="FFFFFF"/>
          </a:solidFill>
          <a:ln cap="flat" cmpd="sng" w="19050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953250" y="1943100"/>
            <a:ext cx="4038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WHAT IS NOT ACCEPTABLE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972300" y="2371725"/>
            <a:ext cx="228600" cy="228600"/>
          </a:xfrm>
          <a:prstGeom prst="ellipse">
            <a:avLst/>
          </a:prstGeom>
          <a:solidFill>
            <a:srgbClr val="E45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972300" y="2371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372350" y="2343150"/>
            <a:ext cx="35622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Submitting another group's work or a complete copied project as your own.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972300" y="3343275"/>
            <a:ext cx="228600" cy="228600"/>
          </a:xfrm>
          <a:prstGeom prst="ellipse">
            <a:avLst/>
          </a:prstGeom>
          <a:solidFill>
            <a:srgbClr val="E45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972300" y="33432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372350" y="3314700"/>
            <a:ext cx="35622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Presenting code whose architecture and behavior you cannot explain.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972300" y="4448175"/>
            <a:ext cx="228600" cy="228600"/>
          </a:xfrm>
          <a:prstGeom prst="ellipse">
            <a:avLst/>
          </a:prstGeom>
          <a:solidFill>
            <a:srgbClr val="E45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972300" y="44481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372350" y="4419600"/>
            <a:ext cx="35622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Hiding external sources, datasets, generated content or major dependencies.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16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The presentation may include design questions or a live modification. If ownership is not demonstrated, marks may be deducted.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651129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Let’s play a game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9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9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66750" y="1676400"/>
            <a:ext cx="10858500" cy="1143000"/>
          </a:xfrm>
          <a:prstGeom prst="roundRect">
            <a:avLst>
              <a:gd fmla="val 1833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104900" y="1973199"/>
            <a:ext cx="99822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Starting from the left of a row, say one word, trying to keep the whole sentence meaningful.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001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9334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5527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6860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3053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4386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0579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1912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78105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79438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9563100" y="333375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696450" y="3409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001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334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25527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26860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Hong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3053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4386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Kong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60579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1912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8105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9438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weather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563100" y="4152900"/>
            <a:ext cx="1447800" cy="552600"/>
          </a:xfrm>
          <a:prstGeom prst="roundRect">
            <a:avLst>
              <a:gd fmla="val 24138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696450" y="42291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238250" y="53721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1371600" y="54483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What context helped you choose your next word?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0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85800" y="1657350"/>
            <a:ext cx="5524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FORMAL DEFINITION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85800" y="1981200"/>
            <a:ext cx="5524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87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sequence probability is built from next-token probabilities.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85800" y="2895600"/>
            <a:ext cx="55245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prediction depends on the existing prefix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Chain rule combines the conditional probabilities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Inference evaluates the next-token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Selection turns that distribution into a continuation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534150" y="1866900"/>
            <a:ext cx="4762500" cy="781200"/>
          </a:xfrm>
          <a:prstGeom prst="roundRect">
            <a:avLst>
              <a:gd fmla="val 21951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705600" y="1962150"/>
            <a:ext cx="4419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P(x₁,…,x_T) = ∏ₜ P(xₜ | x₁,…,xₜ₋₁)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477000" y="32575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496050" y="33337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448550" y="32575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467600" y="33337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8420100" y="32575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439150" y="33337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9391650" y="32575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9410700" y="33337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10363200" y="32575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382250" y="33337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477000" y="3962400"/>
            <a:ext cx="3695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0" i="0" lang="en-US" sz="18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0287000" y="3962400"/>
            <a:ext cx="1066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next-token target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model supplies probabilities; decoding selects the next token.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Language Models - 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1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1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85800" y="1657350"/>
            <a:ext cx="4934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TRAINING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85800" y="1981200"/>
            <a:ext cx="4934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Predict the next token at every valid position.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85800" y="2895600"/>
            <a:ext cx="49341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Inputs and targets are shifted by one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The target is the observed next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Future positions are hidden by a causal mask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Known training positions can be processed together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076950" y="1752600"/>
            <a:ext cx="3524400" cy="552600"/>
          </a:xfrm>
          <a:prstGeom prst="roundRect">
            <a:avLst>
              <a:gd fmla="val 22414" name="adj"/>
            </a:avLst>
          </a:prstGeom>
          <a:solidFill>
            <a:srgbClr val="EAF5FB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210300" y="18288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9810750" y="1752600"/>
            <a:ext cx="1562100" cy="552600"/>
          </a:xfrm>
          <a:prstGeom prst="roundRect">
            <a:avLst>
              <a:gd fmla="val 22414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9944100" y="1828800"/>
            <a:ext cx="12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→ 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6076950" y="2552700"/>
            <a:ext cx="3524400" cy="552600"/>
          </a:xfrm>
          <a:prstGeom prst="roundRect">
            <a:avLst>
              <a:gd fmla="val 22414" name="adj"/>
            </a:avLst>
          </a:prstGeom>
          <a:solidFill>
            <a:srgbClr val="EAF5FB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210300" y="26289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Large 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9810750" y="2552700"/>
            <a:ext cx="1562100" cy="552600"/>
          </a:xfrm>
          <a:prstGeom prst="roundRect">
            <a:avLst>
              <a:gd fmla="val 22414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9944100" y="2628900"/>
            <a:ext cx="12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→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6076950" y="3352800"/>
            <a:ext cx="3524400" cy="552600"/>
          </a:xfrm>
          <a:prstGeom prst="roundRect">
            <a:avLst>
              <a:gd fmla="val 22414" name="adj"/>
            </a:avLst>
          </a:prstGeom>
          <a:solidFill>
            <a:srgbClr val="EAF5FB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210300" y="34290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Large 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9810750" y="3352800"/>
            <a:ext cx="1562100" cy="552600"/>
          </a:xfrm>
          <a:prstGeom prst="roundRect">
            <a:avLst>
              <a:gd fmla="val 22414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9944100" y="3429000"/>
            <a:ext cx="12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→ predict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076950" y="4152900"/>
            <a:ext cx="3524400" cy="552600"/>
          </a:xfrm>
          <a:prstGeom prst="roundRect">
            <a:avLst>
              <a:gd fmla="val 22414" name="adj"/>
            </a:avLst>
          </a:prstGeom>
          <a:solidFill>
            <a:srgbClr val="EAF5FB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210300" y="42291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Large language models predict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9810750" y="4152900"/>
            <a:ext cx="1562100" cy="552600"/>
          </a:xfrm>
          <a:prstGeom prst="roundRect">
            <a:avLst>
              <a:gd fmla="val 22414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9944100" y="4229100"/>
            <a:ext cx="12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→ tokens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6153150" y="4972050"/>
            <a:ext cx="5143500" cy="514500"/>
          </a:xfrm>
          <a:prstGeom prst="roundRect">
            <a:avLst>
              <a:gd fmla="val 3333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324600" y="5067300"/>
            <a:ext cx="480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loss = − Σₜ log P(xₜ | x₍&lt;t₎)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7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Starting Point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1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85800" y="1657350"/>
            <a:ext cx="5562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1951 · CLAUDE SHANNON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685800" y="1981200"/>
            <a:ext cx="5562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Likely events are less surprising.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685800" y="2895600"/>
            <a:ext cx="55626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Surprisal measures information in one outcome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Entropy averages surprise over a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Shannon studied prediction of printed English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Next-token training uses a related cross-entropy objective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686550" y="1943100"/>
            <a:ext cx="4286400" cy="647700"/>
          </a:xfrm>
          <a:prstGeom prst="roundRect">
            <a:avLst>
              <a:gd fmla="val 26471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6858000" y="2038350"/>
            <a:ext cx="39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surprisal(x) = −log₂ P(x)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6686550" y="2895600"/>
            <a:ext cx="4286400" cy="647700"/>
          </a:xfrm>
          <a:prstGeom prst="roundRect">
            <a:avLst>
              <a:gd fmla="val 26471" name="adj"/>
            </a:avLst>
          </a:prstGeom>
          <a:solidFill>
            <a:srgbClr val="143E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6858000" y="2990850"/>
            <a:ext cx="39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entropy = 𝔼[surprisal]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6705600" y="4000500"/>
            <a:ext cx="2019300" cy="514500"/>
          </a:xfrm>
          <a:prstGeom prst="roundRect">
            <a:avLst>
              <a:gd fmla="val 24074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838950" y="4076700"/>
            <a:ext cx="1752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P(x)=1/2  →  1 bit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8953500" y="4000500"/>
            <a:ext cx="2019300" cy="514500"/>
          </a:xfrm>
          <a:prstGeom prst="roundRect">
            <a:avLst>
              <a:gd fmla="val 24074" name="adj"/>
            </a:avLst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9086850" y="4076700"/>
            <a:ext cx="1752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P(x)=1/8  →  3 bits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238250" y="556260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Cross-entropy and negative log-likelihood turn this idea into a trainable objective.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Shannon, “Prediction and Entropy of Printed English” (1951)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7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N-grams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1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685800" y="1657350"/>
            <a:ext cx="561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STATISTICAL 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685800" y="1981200"/>
            <a:ext cx="5619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An n-gram sees only the previous n−1 tokens.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85800" y="2895600"/>
            <a:ext cx="561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Trigram example — predict from two preceding tokens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Count frequent local combinations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Rare combinations require smoothing or backoff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Long dependencies remain outside the window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6477000" y="1847850"/>
            <a:ext cx="4934100" cy="705000"/>
          </a:xfrm>
          <a:prstGeom prst="roundRect">
            <a:avLst>
              <a:gd fmla="val 2432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6648450" y="1943100"/>
            <a:ext cx="4591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P(xₜ | x₁,…,xₜ₋₁) ≈ P(xₜ | xₜ₋₂,xₜ₋₁)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6457950" y="31813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6477000" y="32575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448550" y="31813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FFFFFF"/>
          </a:solidFill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467600" y="32575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stock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8439150" y="31813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EAF5FB"/>
          </a:solidFill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8458200" y="32575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market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9429750" y="31813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EAF5FB"/>
          </a:solidFill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9448800" y="32575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closed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10420350" y="3181350"/>
            <a:ext cx="838200" cy="495300"/>
          </a:xfrm>
          <a:prstGeom prst="roundRect">
            <a:avLst>
              <a:gd fmla="val 21154" name="adj"/>
            </a:avLst>
          </a:prstGeom>
          <a:solidFill>
            <a:srgbClr val="EAF5FB"/>
          </a:solidFill>
          <a:ln cap="flat" cmpd="sng" w="19050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0439400" y="3257550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higher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8420100" y="3886200"/>
            <a:ext cx="1848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trigram context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10382250" y="3886200"/>
            <a:ext cx="838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8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N-grams store local statistics explicitly; neural models learn continuous representations that can generalize across similar contexts.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Neural Language Models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4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4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685800" y="1657350"/>
            <a:ext cx="5905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2003 ONWARD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685800" y="1981200"/>
            <a:ext cx="5905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Learn token vectors and a shared predictor.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685800" y="2924175"/>
            <a:ext cx="5905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Bengio et al. — neural prediction with learned word vectors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Similar contexts can share statistical strength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Word2vec later popularised embedding geometry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Modern token embeddings are learned with the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6553200" y="1714500"/>
            <a:ext cx="4457700" cy="590700"/>
          </a:xfrm>
          <a:prstGeom prst="roundRect">
            <a:avLst>
              <a:gd fmla="val 22581" name="adj"/>
            </a:avLst>
          </a:prstGeom>
          <a:solidFill>
            <a:srgbClr val="FFFF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6686550" y="1725549"/>
            <a:ext cx="4191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6553200" y="2571750"/>
            <a:ext cx="4457700" cy="590700"/>
          </a:xfrm>
          <a:prstGeom prst="roundRect">
            <a:avLst>
              <a:gd fmla="val 22581" name="adj"/>
            </a:avLst>
          </a:prstGeom>
          <a:solidFill>
            <a:srgbClr val="FFFFFF"/>
          </a:solidFill>
          <a:ln cap="flat" cmpd="sng" w="14275">
            <a:solidFill>
              <a:srgbClr val="6DCB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6686550" y="2582799"/>
            <a:ext cx="4191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553200" y="3429000"/>
            <a:ext cx="4457700" cy="590700"/>
          </a:xfrm>
          <a:prstGeom prst="roundRect">
            <a:avLst>
              <a:gd fmla="val 22581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6686550" y="3440049"/>
            <a:ext cx="4191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553200" y="4286250"/>
            <a:ext cx="4457700" cy="590700"/>
          </a:xfrm>
          <a:prstGeom prst="roundRect">
            <a:avLst>
              <a:gd fmla="val 22581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6686550" y="4297299"/>
            <a:ext cx="4191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[B,T,V]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1238250" y="556260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14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Modern LLMs learn token embeddings end to end, but embedding lookup is still the first learned operation in inference.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Bengio et al. (2003); Mikolov et al. (2013)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Transformers VS. RNN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1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685800" y="1657350"/>
            <a:ext cx="561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2017 · 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685800" y="1981200"/>
            <a:ext cx="5619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Self-attention removes the recurrent step dependency.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685800" y="2895600"/>
            <a:ext cx="56199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RNN state at step t depends on earlier steps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Transformer training already knows the input sequence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Attention compares positions in parallel within a layer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Dense attention introduces quadratic pairwise 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6667500" y="1714500"/>
            <a:ext cx="424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125"/>
              <a:buFont typeface="Arial"/>
              <a:buNone/>
            </a:pPr>
            <a:r>
              <a:rPr b="1" i="0" lang="en-US" sz="12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RECURRENCE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6705600" y="22098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332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6838950" y="22860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7772400" y="22098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332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7905750" y="22860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8839200" y="22098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332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8972550" y="22860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9906000" y="22098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332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10039350" y="22860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h4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15"/>
          <p:cNvCxnSpPr>
            <a:stCxn id="512" idx="3"/>
            <a:endCxn id="514" idx="1"/>
          </p:cNvCxnSpPr>
          <p:nvPr/>
        </p:nvCxnSpPr>
        <p:spPr>
          <a:xfrm>
            <a:off x="7410600" y="2457450"/>
            <a:ext cx="361800" cy="0"/>
          </a:xfrm>
          <a:prstGeom prst="straightConnector1">
            <a:avLst/>
          </a:prstGeom>
          <a:noFill/>
          <a:ln cap="flat" cmpd="sng" w="19050">
            <a:solidFill>
              <a:srgbClr val="E45A5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1" name="Google Shape;521;p15"/>
          <p:cNvCxnSpPr>
            <a:stCxn id="514" idx="3"/>
            <a:endCxn id="516" idx="1"/>
          </p:cNvCxnSpPr>
          <p:nvPr/>
        </p:nvCxnSpPr>
        <p:spPr>
          <a:xfrm>
            <a:off x="8477400" y="2457450"/>
            <a:ext cx="361800" cy="0"/>
          </a:xfrm>
          <a:prstGeom prst="straightConnector1">
            <a:avLst/>
          </a:prstGeom>
          <a:noFill/>
          <a:ln cap="flat" cmpd="sng" w="19050">
            <a:solidFill>
              <a:srgbClr val="E45A5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2" name="Google Shape;522;p15"/>
          <p:cNvCxnSpPr>
            <a:stCxn id="516" idx="3"/>
            <a:endCxn id="518" idx="1"/>
          </p:cNvCxnSpPr>
          <p:nvPr/>
        </p:nvCxnSpPr>
        <p:spPr>
          <a:xfrm>
            <a:off x="9544200" y="2457450"/>
            <a:ext cx="361800" cy="0"/>
          </a:xfrm>
          <a:prstGeom prst="straightConnector1">
            <a:avLst/>
          </a:prstGeom>
          <a:noFill/>
          <a:ln cap="flat" cmpd="sng" w="19050">
            <a:solidFill>
              <a:srgbClr val="E45A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3" name="Google Shape;523;p15"/>
          <p:cNvSpPr/>
          <p:nvPr/>
        </p:nvSpPr>
        <p:spPr>
          <a:xfrm>
            <a:off x="6667500" y="2876550"/>
            <a:ext cx="4248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step t waits for t−1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6667500" y="3429000"/>
            <a:ext cx="424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6705600" y="39243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6838950" y="40005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7772400" y="39243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7905750" y="40005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8839200" y="39243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8972550" y="40005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9906000" y="3924300"/>
            <a:ext cx="705000" cy="495300"/>
          </a:xfrm>
          <a:prstGeom prst="roundRect">
            <a:avLst>
              <a:gd fmla="val 23077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10039350" y="4000500"/>
            <a:ext cx="4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15"/>
          <p:cNvCxnSpPr/>
          <p:nvPr/>
        </p:nvCxnSpPr>
        <p:spPr>
          <a:xfrm>
            <a:off x="6877050" y="4591050"/>
            <a:ext cx="3562200" cy="0"/>
          </a:xfrm>
          <a:prstGeom prst="straightConnector1">
            <a:avLst/>
          </a:prstGeom>
          <a:noFill/>
          <a:ln cap="flat" cmpd="sng" w="285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15"/>
          <p:cNvCxnSpPr/>
          <p:nvPr/>
        </p:nvCxnSpPr>
        <p:spPr>
          <a:xfrm>
            <a:off x="7058025" y="4419600"/>
            <a:ext cx="0" cy="171600"/>
          </a:xfrm>
          <a:prstGeom prst="straightConnector1">
            <a:avLst/>
          </a:prstGeom>
          <a:noFill/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5"/>
          <p:cNvCxnSpPr/>
          <p:nvPr/>
        </p:nvCxnSpPr>
        <p:spPr>
          <a:xfrm>
            <a:off x="8124825" y="4419600"/>
            <a:ext cx="0" cy="171600"/>
          </a:xfrm>
          <a:prstGeom prst="straightConnector1">
            <a:avLst/>
          </a:prstGeom>
          <a:noFill/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15"/>
          <p:cNvCxnSpPr/>
          <p:nvPr/>
        </p:nvCxnSpPr>
        <p:spPr>
          <a:xfrm>
            <a:off x="9191625" y="4419600"/>
            <a:ext cx="0" cy="171600"/>
          </a:xfrm>
          <a:prstGeom prst="straightConnector1">
            <a:avLst/>
          </a:prstGeom>
          <a:noFill/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15"/>
          <p:cNvCxnSpPr/>
          <p:nvPr/>
        </p:nvCxnSpPr>
        <p:spPr>
          <a:xfrm>
            <a:off x="10258425" y="4419600"/>
            <a:ext cx="0" cy="171600"/>
          </a:xfrm>
          <a:prstGeom prst="straightConnector1">
            <a:avLst/>
          </a:prstGeom>
          <a:noFill/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15"/>
          <p:cNvSpPr/>
          <p:nvPr/>
        </p:nvSpPr>
        <p:spPr>
          <a:xfrm>
            <a:off x="6667500" y="4800600"/>
            <a:ext cx="4248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known positions interact in one layer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1238250" y="556260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35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The Transformer did not make sequence modeling free; it exchanged recurrence for a highly parallel but potentially quadratic interaction.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Vaswani et al. (2017), “Attention Is All You Need”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Generative pretraining and scaling laws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1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1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685800" y="1657350"/>
            <a:ext cx="561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2018–2022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685800" y="1981200"/>
            <a:ext cx="5619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training objective can support many downstream tasks.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647700" y="2952750"/>
            <a:ext cx="5619900" cy="24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GPT — reuse a generatively pretrained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Scaling studies relate loss to data, parameters, and compute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Chinchilla — balance model size with training data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Results depend on the data and training recipe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6496050" y="1838325"/>
            <a:ext cx="666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7391400" y="1714500"/>
            <a:ext cx="381000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7524750" y="1735074"/>
            <a:ext cx="3543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generative pretraining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6496050" y="2714625"/>
            <a:ext cx="666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391400" y="2590800"/>
            <a:ext cx="381000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1427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7524750" y="2611374"/>
            <a:ext cx="3543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Scaling laws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power-law trends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6496050" y="3590925"/>
            <a:ext cx="666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7391400" y="3467100"/>
            <a:ext cx="381000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7524750" y="3487674"/>
            <a:ext cx="3543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Chinchilla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compute-optimal balance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6496050" y="4467225"/>
            <a:ext cx="666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7391400" y="4343400"/>
            <a:ext cx="3810000" cy="609600"/>
          </a:xfrm>
          <a:prstGeom prst="roundRect">
            <a:avLst>
              <a:gd fmla="val 21875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7524750" y="4363974"/>
            <a:ext cx="3543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Post-training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and tools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1238250" y="556260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4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Scaling helps explain why larger training runs can improve loss, but it does not say that the largest model is always best for a particular domain or budget.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Radford et al. (2018); Kaplan et al. (2020); Hoffmann et al. (2022)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a509150ae_0_443"/>
          <p:cNvSpPr/>
          <p:nvPr/>
        </p:nvSpPr>
        <p:spPr>
          <a:xfrm>
            <a:off x="457200" y="190500"/>
            <a:ext cx="333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SCALING LAWS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fa509150ae_0_443"/>
          <p:cNvSpPr/>
          <p:nvPr/>
        </p:nvSpPr>
        <p:spPr>
          <a:xfrm>
            <a:off x="457200" y="6858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Scaling laws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g3fa509150ae_0_44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g3fa509150ae_0_44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a509150ae_0_44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S01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a509150ae_0_44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fa509150ae_0_44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a509150ae_0_44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a509150ae_0_44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fa509150ae_0_44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a509150ae_0_44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a509150ae_0_44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a509150ae_0_44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a509150ae_0_44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a509150ae_0_443"/>
          <p:cNvSpPr/>
          <p:nvPr/>
        </p:nvSpPr>
        <p:spPr>
          <a:xfrm>
            <a:off x="552450" y="1619250"/>
            <a:ext cx="4191000" cy="3981600"/>
          </a:xfrm>
          <a:prstGeom prst="roundRect">
            <a:avLst>
              <a:gd fmla="val 5263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g3fa509150ae_0_4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293" y="1733550"/>
            <a:ext cx="3767314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fa509150ae_0_443"/>
          <p:cNvSpPr/>
          <p:nvPr/>
        </p:nvSpPr>
        <p:spPr>
          <a:xfrm>
            <a:off x="5276850" y="1733550"/>
            <a:ext cx="5962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KAPLAN ET AL. · 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fa509150ae_0_443"/>
          <p:cNvSpPr/>
          <p:nvPr/>
        </p:nvSpPr>
        <p:spPr>
          <a:xfrm>
            <a:off x="5276850" y="2057400"/>
            <a:ext cx="5962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Prediction improves smoothly as training scales 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fa509150ae_0_443"/>
          <p:cNvSpPr/>
          <p:nvPr/>
        </p:nvSpPr>
        <p:spPr>
          <a:xfrm>
            <a:off x="5276850" y="2952750"/>
            <a:ext cx="59628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 — model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 — training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 — training compute (FLOPs)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Power law → similar % loss reduction for each × increase in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a509150ae_0_443"/>
          <p:cNvSpPr/>
          <p:nvPr/>
        </p:nvSpPr>
        <p:spPr>
          <a:xfrm>
            <a:off x="704850" y="5229225"/>
            <a:ext cx="392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Test loss ↓ · log–log axes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a509150ae_0_443"/>
          <p:cNvSpPr/>
          <p:nvPr/>
        </p:nvSpPr>
        <p:spPr>
          <a:xfrm>
            <a:off x="1238250" y="5581650"/>
            <a:ext cx="9715500" cy="6381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fa509150ae_0_443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Use small runs to forecast larger runs.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143E7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Keep model size, data and compute in balance.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a509150ae_0_443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Kaplan et al. (2020), Figure 1, model-size panel. Lower loss = better next-token prediction.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a509150ae_0_470"/>
          <p:cNvSpPr/>
          <p:nvPr/>
        </p:nvSpPr>
        <p:spPr>
          <a:xfrm>
            <a:off x="457200" y="190500"/>
            <a:ext cx="333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SCALING LAWS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a509150ae_0_470"/>
          <p:cNvSpPr/>
          <p:nvPr/>
        </p:nvSpPr>
        <p:spPr>
          <a:xfrm>
            <a:off x="457200" y="6858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Balance model size with training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g3fa509150ae_0_47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g3fa509150ae_0_470"/>
          <p:cNvSpPr/>
          <p:nvPr/>
        </p:nvSpPr>
        <p:spPr>
          <a:xfrm>
            <a:off x="457200" y="6486525"/>
            <a:ext cx="781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Hoffmann et al. (2022), Tables 1 &amp; 6; Sardana et al. (2024)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a509150ae_0_47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S02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a509150ae_0_47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a509150ae_0_47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a509150ae_0_47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a509150ae_0_47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a509150ae_0_47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a509150ae_0_47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a509150ae_0_47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a509150ae_0_47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a509150ae_0_47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a509150ae_0_470"/>
          <p:cNvSpPr/>
          <p:nvPr/>
        </p:nvSpPr>
        <p:spPr>
          <a:xfrm>
            <a:off x="62865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EAF5FB"/>
          </a:solidFill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a509150ae_0_470"/>
          <p:cNvSpPr/>
          <p:nvPr/>
        </p:nvSpPr>
        <p:spPr>
          <a:xfrm>
            <a:off x="952500" y="1943100"/>
            <a:ext cx="4667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FIXED TRAINING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a509150ae_0_470"/>
          <p:cNvSpPr/>
          <p:nvPr/>
        </p:nvSpPr>
        <p:spPr>
          <a:xfrm>
            <a:off x="952500" y="2295525"/>
            <a:ext cx="4533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 ≈ 6 × N ×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a509150ae_0_470"/>
          <p:cNvSpPr/>
          <p:nvPr/>
        </p:nvSpPr>
        <p:spPr>
          <a:xfrm>
            <a:off x="952500" y="2933700"/>
            <a:ext cx="46293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Dense-model training estimate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2× parameters at fixed compute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→ roughly ½ as many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a509150ae_0_470"/>
          <p:cNvSpPr/>
          <p:nvPr/>
        </p:nvSpPr>
        <p:spPr>
          <a:xfrm>
            <a:off x="990600" y="43053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a509150ae_0_470"/>
          <p:cNvSpPr/>
          <p:nvPr/>
        </p:nvSpPr>
        <p:spPr>
          <a:xfrm>
            <a:off x="99060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a509150ae_0_470"/>
          <p:cNvSpPr/>
          <p:nvPr/>
        </p:nvSpPr>
        <p:spPr>
          <a:xfrm>
            <a:off x="1238250" y="42100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More budget → grow N and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a509150ae_0_470"/>
          <p:cNvSpPr/>
          <p:nvPr/>
        </p:nvSpPr>
        <p:spPr>
          <a:xfrm>
            <a:off x="990600" y="470535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a509150ae_0_470"/>
          <p:cNvSpPr/>
          <p:nvPr/>
        </p:nvSpPr>
        <p:spPr>
          <a:xfrm>
            <a:off x="99060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a509150ae_0_470"/>
          <p:cNvSpPr/>
          <p:nvPr/>
        </p:nvSpPr>
        <p:spPr>
          <a:xfrm>
            <a:off x="1238250" y="4619625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2× N and 2× D → ≈4× compute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a509150ae_0_470"/>
          <p:cNvSpPr/>
          <p:nvPr/>
        </p:nvSpPr>
        <p:spPr>
          <a:xfrm>
            <a:off x="990600" y="51054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a509150ae_0_470"/>
          <p:cNvSpPr/>
          <p:nvPr/>
        </p:nvSpPr>
        <p:spPr>
          <a:xfrm>
            <a:off x="99060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a509150ae_0_470"/>
          <p:cNvSpPr/>
          <p:nvPr/>
        </p:nvSpPr>
        <p:spPr>
          <a:xfrm>
            <a:off x="1238250" y="502920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≈20 tokens/parameter: a guide*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a509150ae_0_470"/>
          <p:cNvSpPr/>
          <p:nvPr/>
        </p:nvSpPr>
        <p:spPr>
          <a:xfrm>
            <a:off x="632460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FFFFFF"/>
          </a:solidFill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a509150ae_0_470"/>
          <p:cNvSpPr/>
          <p:nvPr/>
        </p:nvSpPr>
        <p:spPr>
          <a:xfrm>
            <a:off x="6648450" y="1943100"/>
            <a:ext cx="4667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HOFFMANN ET AL. · CHINCHILLA (2022)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a509150ae_0_470"/>
          <p:cNvSpPr/>
          <p:nvPr/>
        </p:nvSpPr>
        <p:spPr>
          <a:xfrm>
            <a:off x="6648450" y="2295525"/>
            <a:ext cx="4533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4× smaller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a509150ae_0_470"/>
          <p:cNvSpPr/>
          <p:nvPr/>
        </p:nvSpPr>
        <p:spPr>
          <a:xfrm>
            <a:off x="6648450" y="3028950"/>
            <a:ext cx="4610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Gopher: 280B · 300B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Chinchilla: 70B · 1.4T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a509150ae_0_470"/>
          <p:cNvSpPr/>
          <p:nvPr/>
        </p:nvSpPr>
        <p:spPr>
          <a:xfrm>
            <a:off x="6686550" y="43053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a509150ae_0_470"/>
          <p:cNvSpPr/>
          <p:nvPr/>
        </p:nvSpPr>
        <p:spPr>
          <a:xfrm>
            <a:off x="668655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a509150ae_0_470"/>
          <p:cNvSpPr/>
          <p:nvPr/>
        </p:nvSpPr>
        <p:spPr>
          <a:xfrm>
            <a:off x="6934200" y="421005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Same training compute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a509150ae_0_470"/>
          <p:cNvSpPr/>
          <p:nvPr/>
        </p:nvSpPr>
        <p:spPr>
          <a:xfrm>
            <a:off x="6686550" y="470535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a509150ae_0_470"/>
          <p:cNvSpPr/>
          <p:nvPr/>
        </p:nvSpPr>
        <p:spPr>
          <a:xfrm>
            <a:off x="668655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a509150ae_0_470"/>
          <p:cNvSpPr/>
          <p:nvPr/>
        </p:nvSpPr>
        <p:spPr>
          <a:xfrm>
            <a:off x="6934200" y="4619625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MMLU 5-shot: 60.0% → 67.6%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a509150ae_0_470"/>
          <p:cNvSpPr/>
          <p:nvPr/>
        </p:nvSpPr>
        <p:spPr>
          <a:xfrm>
            <a:off x="6686550" y="51054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a509150ae_0_470"/>
          <p:cNvSpPr/>
          <p:nvPr/>
        </p:nvSpPr>
        <p:spPr>
          <a:xfrm>
            <a:off x="668655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fa509150ae_0_470"/>
          <p:cNvSpPr/>
          <p:nvPr/>
        </p:nvSpPr>
        <p:spPr>
          <a:xfrm>
            <a:off x="6934200" y="5029200"/>
            <a:ext cx="4095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Less compute per inference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a509150ae_0_470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a509150ae_0_470"/>
          <p:cNvSpPr/>
          <p:nvPr/>
        </p:nvSpPr>
        <p:spPr>
          <a:xfrm>
            <a:off x="1371600" y="5600700"/>
            <a:ext cx="9448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*A training-compute guide, not a universal ratio.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143E7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High serving demand can favour smaller models trained longer.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a509150ae_0_2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a509150ae_0_2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landscape is now a systems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g3fa509150ae_0_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g3fa509150ae_0_2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a509150ae_0_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a509150ae_0_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a509150ae_0_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a509150ae_0_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a509150ae_0_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a509150ae_0_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a509150ae_0_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a509150ae_0_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a509150ae_0_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a509150ae_0_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fa509150ae_0_2"/>
          <p:cNvSpPr/>
          <p:nvPr/>
        </p:nvSpPr>
        <p:spPr>
          <a:xfrm>
            <a:off x="685800" y="1657350"/>
            <a:ext cx="5219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THREE QUESTIONS FOR AN ENGINEER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fa509150ae_0_2"/>
          <p:cNvSpPr/>
          <p:nvPr/>
        </p:nvSpPr>
        <p:spPr>
          <a:xfrm>
            <a:off x="685800" y="2028825"/>
            <a:ext cx="521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can we run, what does it cost, and what can we build?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a509150ae_0_2"/>
          <p:cNvSpPr/>
          <p:nvPr/>
        </p:nvSpPr>
        <p:spPr>
          <a:xfrm>
            <a:off x="685800" y="3352800"/>
            <a:ext cx="5219700" cy="1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875" lvl="0" marL="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Model access and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875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Training and inference budgets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875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Tools, data and agent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a509150ae_0_2"/>
          <p:cNvSpPr/>
          <p:nvPr/>
        </p:nvSpPr>
        <p:spPr>
          <a:xfrm>
            <a:off x="6286500" y="17526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OPEN WEIGHTS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a509150ae_0_2"/>
          <p:cNvSpPr/>
          <p:nvPr/>
        </p:nvSpPr>
        <p:spPr>
          <a:xfrm>
            <a:off x="6286500" y="20193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Qwen 3.5 · Llama 4 · DeepSeek 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8" name="Google Shape;678;g3fa509150ae_0_2"/>
          <p:cNvCxnSpPr/>
          <p:nvPr/>
        </p:nvCxnSpPr>
        <p:spPr>
          <a:xfrm>
            <a:off x="6286500" y="2476500"/>
            <a:ext cx="49722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9" name="Google Shape;679;g3fa509150ae_0_2"/>
          <p:cNvSpPr/>
          <p:nvPr/>
        </p:nvSpPr>
        <p:spPr>
          <a:xfrm>
            <a:off x="6286500" y="26289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MULTIMODAL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a509150ae_0_2"/>
          <p:cNvSpPr/>
          <p:nvPr/>
        </p:nvSpPr>
        <p:spPr>
          <a:xfrm>
            <a:off x="6286500" y="28956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Text, images and documents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g3fa509150ae_0_2"/>
          <p:cNvCxnSpPr/>
          <p:nvPr/>
        </p:nvCxnSpPr>
        <p:spPr>
          <a:xfrm>
            <a:off x="6286500" y="3352800"/>
            <a:ext cx="49722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g3fa509150ae_0_2"/>
          <p:cNvSpPr/>
          <p:nvPr/>
        </p:nvSpPr>
        <p:spPr>
          <a:xfrm>
            <a:off x="6286500" y="35052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067C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REASONING EFFORT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a509150ae_0_2"/>
          <p:cNvSpPr/>
          <p:nvPr/>
        </p:nvSpPr>
        <p:spPr>
          <a:xfrm>
            <a:off x="6286500" y="37719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More inference work before answering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g3fa509150ae_0_2"/>
          <p:cNvCxnSpPr/>
          <p:nvPr/>
        </p:nvCxnSpPr>
        <p:spPr>
          <a:xfrm>
            <a:off x="6286500" y="4229100"/>
            <a:ext cx="49722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g3fa509150ae_0_2"/>
          <p:cNvSpPr/>
          <p:nvPr/>
        </p:nvSpPr>
        <p:spPr>
          <a:xfrm>
            <a:off x="6286500" y="43815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FF9B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AGENT HARNESSES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a509150ae_0_2"/>
          <p:cNvSpPr/>
          <p:nvPr/>
        </p:nvSpPr>
        <p:spPr>
          <a:xfrm>
            <a:off x="6286500" y="4648200"/>
            <a:ext cx="4972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Context, tools, state and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a509150ae_0_2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fa509150ae_0_2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A strong model is the starting point; useful applications need an engineered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a509150ae_0_36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fa509150ae_0_36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Open weights span very different scales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g3fa509150ae_0_3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g3fa509150ae_0_36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a509150ae_0_3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a509150ae_0_3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fa509150ae_0_3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a509150ae_0_3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fa509150ae_0_3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fa509150ae_0_3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3fa509150ae_0_3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3fa509150ae_0_3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fa509150ae_0_3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fa509150ae_0_3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fa509150ae_0_36"/>
          <p:cNvSpPr/>
          <p:nvPr/>
        </p:nvSpPr>
        <p:spPr>
          <a:xfrm>
            <a:off x="685800" y="1533525"/>
            <a:ext cx="1082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SELECTED DOWNLOADABLE MODELS · B = BILLION · T = TRILLION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fa509150ae_0_36"/>
          <p:cNvSpPr/>
          <p:nvPr/>
        </p:nvSpPr>
        <p:spPr>
          <a:xfrm>
            <a:off x="781050" y="1962150"/>
            <a:ext cx="4095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MODEL / FAMILY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fa509150ae_0_36"/>
          <p:cNvSpPr/>
          <p:nvPr/>
        </p:nvSpPr>
        <p:spPr>
          <a:xfrm>
            <a:off x="5010150" y="1962150"/>
            <a:ext cx="184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fa509150ae_0_36"/>
          <p:cNvSpPr/>
          <p:nvPr/>
        </p:nvSpPr>
        <p:spPr>
          <a:xfrm>
            <a:off x="6991350" y="1962150"/>
            <a:ext cx="1657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fa509150ae_0_36"/>
          <p:cNvSpPr/>
          <p:nvPr/>
        </p:nvSpPr>
        <p:spPr>
          <a:xfrm>
            <a:off x="8820150" y="1962150"/>
            <a:ext cx="257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WEIGHT LICENSE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fa509150ae_0_36"/>
          <p:cNvSpPr/>
          <p:nvPr/>
        </p:nvSpPr>
        <p:spPr>
          <a:xfrm>
            <a:off x="666750" y="234315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fa509150ae_0_36"/>
          <p:cNvSpPr/>
          <p:nvPr/>
        </p:nvSpPr>
        <p:spPr>
          <a:xfrm>
            <a:off x="781050" y="236220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Qwen3.5-9B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fa509150ae_0_36"/>
          <p:cNvSpPr/>
          <p:nvPr/>
        </p:nvSpPr>
        <p:spPr>
          <a:xfrm>
            <a:off x="5010150" y="236220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fa509150ae_0_36"/>
          <p:cNvSpPr/>
          <p:nvPr/>
        </p:nvSpPr>
        <p:spPr>
          <a:xfrm>
            <a:off x="6991350" y="236220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9B (dense)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fa509150ae_0_36"/>
          <p:cNvSpPr/>
          <p:nvPr/>
        </p:nvSpPr>
        <p:spPr>
          <a:xfrm>
            <a:off x="8820150" y="236220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Apache 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fa509150ae_0_36"/>
          <p:cNvSpPr/>
          <p:nvPr/>
        </p:nvSpPr>
        <p:spPr>
          <a:xfrm>
            <a:off x="781050" y="2828925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Qwen3.5-35B-A3B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g3fa509150ae_0_36"/>
          <p:cNvSpPr/>
          <p:nvPr/>
        </p:nvSpPr>
        <p:spPr>
          <a:xfrm>
            <a:off x="5010150" y="2828925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35B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fa509150ae_0_36"/>
          <p:cNvSpPr/>
          <p:nvPr/>
        </p:nvSpPr>
        <p:spPr>
          <a:xfrm>
            <a:off x="6991350" y="2828925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3B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fa509150ae_0_36"/>
          <p:cNvSpPr/>
          <p:nvPr/>
        </p:nvSpPr>
        <p:spPr>
          <a:xfrm>
            <a:off x="8820150" y="2828925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Apache 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3fa509150ae_0_36"/>
          <p:cNvSpPr/>
          <p:nvPr/>
        </p:nvSpPr>
        <p:spPr>
          <a:xfrm>
            <a:off x="666750" y="327660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a509150ae_0_36"/>
          <p:cNvSpPr/>
          <p:nvPr/>
        </p:nvSpPr>
        <p:spPr>
          <a:xfrm>
            <a:off x="781050" y="329565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Llama 4 Scout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fa509150ae_0_36"/>
          <p:cNvSpPr/>
          <p:nvPr/>
        </p:nvSpPr>
        <p:spPr>
          <a:xfrm>
            <a:off x="5010150" y="329565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109B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fa509150ae_0_36"/>
          <p:cNvSpPr/>
          <p:nvPr/>
        </p:nvSpPr>
        <p:spPr>
          <a:xfrm>
            <a:off x="6991350" y="329565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17B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3fa509150ae_0_36"/>
          <p:cNvSpPr/>
          <p:nvPr/>
        </p:nvSpPr>
        <p:spPr>
          <a:xfrm>
            <a:off x="8820150" y="329565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Llama 4 terms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fa509150ae_0_36"/>
          <p:cNvSpPr/>
          <p:nvPr/>
        </p:nvSpPr>
        <p:spPr>
          <a:xfrm>
            <a:off x="781050" y="3762375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Llama 4 Maverick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fa509150ae_0_36"/>
          <p:cNvSpPr/>
          <p:nvPr/>
        </p:nvSpPr>
        <p:spPr>
          <a:xfrm>
            <a:off x="5010150" y="3762375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400B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fa509150ae_0_36"/>
          <p:cNvSpPr/>
          <p:nvPr/>
        </p:nvSpPr>
        <p:spPr>
          <a:xfrm>
            <a:off x="6991350" y="3762375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17B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g3fa509150ae_0_36"/>
          <p:cNvSpPr/>
          <p:nvPr/>
        </p:nvSpPr>
        <p:spPr>
          <a:xfrm>
            <a:off x="8820150" y="3762375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Llama 4 terms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fa509150ae_0_36"/>
          <p:cNvSpPr/>
          <p:nvPr/>
        </p:nvSpPr>
        <p:spPr>
          <a:xfrm>
            <a:off x="666750" y="421005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fa509150ae_0_36"/>
          <p:cNvSpPr/>
          <p:nvPr/>
        </p:nvSpPr>
        <p:spPr>
          <a:xfrm>
            <a:off x="781050" y="422910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DeepSeek V4 Flash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a509150ae_0_36"/>
          <p:cNvSpPr/>
          <p:nvPr/>
        </p:nvSpPr>
        <p:spPr>
          <a:xfrm>
            <a:off x="5010150" y="422910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284B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fa509150ae_0_36"/>
          <p:cNvSpPr/>
          <p:nvPr/>
        </p:nvSpPr>
        <p:spPr>
          <a:xfrm>
            <a:off x="6991350" y="422910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13B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fa509150ae_0_36"/>
          <p:cNvSpPr/>
          <p:nvPr/>
        </p:nvSpPr>
        <p:spPr>
          <a:xfrm>
            <a:off x="8820150" y="422910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fa509150ae_0_36"/>
          <p:cNvSpPr/>
          <p:nvPr/>
        </p:nvSpPr>
        <p:spPr>
          <a:xfrm>
            <a:off x="781050" y="4695825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DeepSeek V4 Pro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fa509150ae_0_36"/>
          <p:cNvSpPr/>
          <p:nvPr/>
        </p:nvSpPr>
        <p:spPr>
          <a:xfrm>
            <a:off x="5010150" y="4695825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1.6T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fa509150ae_0_36"/>
          <p:cNvSpPr/>
          <p:nvPr/>
        </p:nvSpPr>
        <p:spPr>
          <a:xfrm>
            <a:off x="6991350" y="4695825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49B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fa509150ae_0_36"/>
          <p:cNvSpPr/>
          <p:nvPr/>
        </p:nvSpPr>
        <p:spPr>
          <a:xfrm>
            <a:off x="8820150" y="4695825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fa509150ae_0_36"/>
          <p:cNvSpPr/>
          <p:nvPr/>
        </p:nvSpPr>
        <p:spPr>
          <a:xfrm>
            <a:off x="685800" y="521970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56616F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Active counts per token; rounded LM sizes. V4 updates add a decoding module. Qwen figures exclude vision.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fa509150ae_0_36"/>
          <p:cNvSpPr/>
          <p:nvPr/>
        </p:nvSpPr>
        <p:spPr>
          <a:xfrm>
            <a:off x="1238250" y="569595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fa509150ae_0_36"/>
          <p:cNvSpPr/>
          <p:nvPr/>
        </p:nvSpPr>
        <p:spPr>
          <a:xfrm>
            <a:off x="1381125" y="5724525"/>
            <a:ext cx="942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7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Open weights let you run a model; they do not necessarily reveal its training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a509150ae_0_89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fa509150ae_0_89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Model size becomes a memory bill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0" name="Google Shape;750;g3fa509150ae_0_89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1" name="Google Shape;751;g3fa509150ae_0_89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fa509150ae_0_89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fa509150ae_0_89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fa509150ae_0_89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fa509150ae_0_89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fa509150ae_0_89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fa509150ae_0_89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fa509150ae_0_89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fa509150ae_0_89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fa509150ae_0_89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a509150ae_0_89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fa509150ae_0_89"/>
          <p:cNvSpPr/>
          <p:nvPr/>
        </p:nvSpPr>
        <p:spPr>
          <a:xfrm>
            <a:off x="6477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18 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fa509150ae_0_89"/>
          <p:cNvSpPr/>
          <p:nvPr/>
        </p:nvSpPr>
        <p:spPr>
          <a:xfrm>
            <a:off x="6477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9B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fa509150ae_0_89"/>
          <p:cNvSpPr/>
          <p:nvPr/>
        </p:nvSpPr>
        <p:spPr>
          <a:xfrm>
            <a:off x="7429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9 billion × 2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 dense-model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fa509150ae_0_89"/>
          <p:cNvSpPr/>
          <p:nvPr/>
        </p:nvSpPr>
        <p:spPr>
          <a:xfrm>
            <a:off x="436245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FF9B52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70 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fa509150ae_0_89"/>
          <p:cNvSpPr/>
          <p:nvPr/>
        </p:nvSpPr>
        <p:spPr>
          <a:xfrm>
            <a:off x="436245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35B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fa509150ae_0_89"/>
          <p:cNvSpPr/>
          <p:nvPr/>
        </p:nvSpPr>
        <p:spPr>
          <a:xfrm>
            <a:off x="445770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35 billion × 2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Even if only 3B are active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fa509150ae_0_89"/>
          <p:cNvSpPr/>
          <p:nvPr/>
        </p:nvSpPr>
        <p:spPr>
          <a:xfrm>
            <a:off x="80772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3.2 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fa509150ae_0_89"/>
          <p:cNvSpPr/>
          <p:nvPr/>
        </p:nvSpPr>
        <p:spPr>
          <a:xfrm>
            <a:off x="80772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1.6T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fa509150ae_0_89"/>
          <p:cNvSpPr/>
          <p:nvPr/>
        </p:nvSpPr>
        <p:spPr>
          <a:xfrm>
            <a:off x="81724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1.6 trillion × 2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 distributed-system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1" name="Google Shape;771;g3fa509150ae_0_89"/>
          <p:cNvCxnSpPr/>
          <p:nvPr/>
        </p:nvCxnSpPr>
        <p:spPr>
          <a:xfrm>
            <a:off x="428625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g3fa509150ae_0_89"/>
          <p:cNvCxnSpPr/>
          <p:nvPr/>
        </p:nvCxnSpPr>
        <p:spPr>
          <a:xfrm>
            <a:off x="800100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3" name="Google Shape;773;g3fa509150ae_0_89"/>
          <p:cNvSpPr/>
          <p:nvPr/>
        </p:nvSpPr>
        <p:spPr>
          <a:xfrm>
            <a:off x="895350" y="4400550"/>
            <a:ext cx="10401300" cy="990600"/>
          </a:xfrm>
          <a:prstGeom prst="roundRect">
            <a:avLst>
              <a:gd fmla="val 17308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fa509150ae_0_89"/>
          <p:cNvSpPr/>
          <p:nvPr/>
        </p:nvSpPr>
        <p:spPr>
          <a:xfrm>
            <a:off x="1162050" y="4629150"/>
            <a:ext cx="152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ASSUMPTION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fa509150ae_0_89"/>
          <p:cNvSpPr/>
          <p:nvPr/>
        </p:nvSpPr>
        <p:spPr>
          <a:xfrm>
            <a:off x="2857500" y="4552950"/>
            <a:ext cx="809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Illustrative 16-bit weight payload only. Actual checkpoints may use fewer bits.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fa509150ae_0_89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fa509150ae_0_89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MoE reduces active computation; the complete set of weights still needs storage.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fa509150ae_0_123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3fa509150ae_0_123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Creating a model has several stages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g3fa509150ae_0_12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fa509150ae_0_123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fa509150ae_0_12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fa509150ae_0_12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fa509150ae_0_12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fa509150ae_0_12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fa509150ae_0_12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a509150ae_0_12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fa509150ae_0_12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fa509150ae_0_12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fa509150ae_0_12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fa509150ae_0_12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fa509150ae_0_123"/>
          <p:cNvSpPr/>
          <p:nvPr/>
        </p:nvSpPr>
        <p:spPr>
          <a:xfrm>
            <a:off x="6477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Pretrain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a509150ae_0_123"/>
          <p:cNvSpPr/>
          <p:nvPr/>
        </p:nvSpPr>
        <p:spPr>
          <a:xfrm>
            <a:off x="6477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LEARN FROM A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fa509150ae_0_123"/>
          <p:cNvSpPr/>
          <p:nvPr/>
        </p:nvSpPr>
        <p:spPr>
          <a:xfrm>
            <a:off x="7429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Data → token batches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Next-token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General capability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fa509150ae_0_123"/>
          <p:cNvSpPr/>
          <p:nvPr/>
        </p:nvSpPr>
        <p:spPr>
          <a:xfrm>
            <a:off x="436245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FF9B52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Post-train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fa509150ae_0_123"/>
          <p:cNvSpPr/>
          <p:nvPr/>
        </p:nvSpPr>
        <p:spPr>
          <a:xfrm>
            <a:off x="436245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SHAPE BEHAVIOUR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fa509150ae_0_123"/>
          <p:cNvSpPr/>
          <p:nvPr/>
        </p:nvSpPr>
        <p:spPr>
          <a:xfrm>
            <a:off x="445770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Demonstrations → 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Preference tuning + 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Useful task behaviour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a509150ae_0_123"/>
          <p:cNvSpPr/>
          <p:nvPr/>
        </p:nvSpPr>
        <p:spPr>
          <a:xfrm>
            <a:off x="80772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a509150ae_0_123"/>
          <p:cNvSpPr/>
          <p:nvPr/>
        </p:nvSpPr>
        <p:spPr>
          <a:xfrm>
            <a:off x="80772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RUN REAL REQUESTS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a509150ae_0_123"/>
          <p:cNvSpPr/>
          <p:nvPr/>
        </p:nvSpPr>
        <p:spPr>
          <a:xfrm>
            <a:off x="81724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Load and execute weights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Manage context and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Measure quality and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6" name="Google Shape;806;g3fa509150ae_0_123"/>
          <p:cNvCxnSpPr/>
          <p:nvPr/>
        </p:nvCxnSpPr>
        <p:spPr>
          <a:xfrm>
            <a:off x="428625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7" name="Google Shape;807;g3fa509150ae_0_123"/>
          <p:cNvCxnSpPr/>
          <p:nvPr/>
        </p:nvCxnSpPr>
        <p:spPr>
          <a:xfrm>
            <a:off x="800100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8" name="Google Shape;808;g3fa509150ae_0_123"/>
          <p:cNvSpPr/>
          <p:nvPr/>
        </p:nvSpPr>
        <p:spPr>
          <a:xfrm>
            <a:off x="895350" y="4400550"/>
            <a:ext cx="10401300" cy="990600"/>
          </a:xfrm>
          <a:prstGeom prst="roundRect">
            <a:avLst>
              <a:gd fmla="val 17308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a509150ae_0_123"/>
          <p:cNvSpPr/>
          <p:nvPr/>
        </p:nvSpPr>
        <p:spPr>
          <a:xfrm>
            <a:off x="1162050" y="4629150"/>
            <a:ext cx="152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DIFFERENT BILLS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fa509150ae_0_123"/>
          <p:cNvSpPr/>
          <p:nvPr/>
        </p:nvSpPr>
        <p:spPr>
          <a:xfrm>
            <a:off x="2857500" y="4552950"/>
            <a:ext cx="809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Data preparation, training runs, evaluation and serving consume different resources.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a509150ae_0_155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a509150ae_0_155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Training cost needs a clear boundary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g3fa509150ae_0_15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g3fa509150ae_0_155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fa509150ae_0_15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a509150ae_0_15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3fa509150ae_0_15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a509150ae_0_15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fa509150ae_0_15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a509150ae_0_15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a509150ae_0_15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a509150ae_0_15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fa509150ae_0_15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fa509150ae_0_15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fa509150ae_0_155"/>
          <p:cNvSpPr/>
          <p:nvPr/>
        </p:nvSpPr>
        <p:spPr>
          <a:xfrm>
            <a:off x="62865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EAF5FB"/>
          </a:solidFill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a509150ae_0_155"/>
          <p:cNvSpPr/>
          <p:nvPr/>
        </p:nvSpPr>
        <p:spPr>
          <a:xfrm>
            <a:off x="952500" y="1905000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DEEPSEEK-V3 · 2024 DISCLOSURE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a509150ae_0_155"/>
          <p:cNvSpPr/>
          <p:nvPr/>
        </p:nvSpPr>
        <p:spPr>
          <a:xfrm>
            <a:off x="952500" y="2276475"/>
            <a:ext cx="45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$5.576M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a509150ae_0_155"/>
          <p:cNvSpPr/>
          <p:nvPr/>
        </p:nvSpPr>
        <p:spPr>
          <a:xfrm>
            <a:off x="952500" y="2952750"/>
            <a:ext cx="44388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Reported run-cost estimate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2.788M H800 GPU-hours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Assumed rental rate $2/hour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a509150ae_0_155"/>
          <p:cNvSpPr/>
          <p:nvPr/>
        </p:nvSpPr>
        <p:spPr>
          <a:xfrm>
            <a:off x="990600" y="43053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a509150ae_0_155"/>
          <p:cNvSpPr/>
          <p:nvPr/>
        </p:nvSpPr>
        <p:spPr>
          <a:xfrm>
            <a:off x="99060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a509150ae_0_155"/>
          <p:cNvSpPr/>
          <p:nvPr/>
        </p:nvSpPr>
        <p:spPr>
          <a:xfrm>
            <a:off x="1238250" y="418147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Pretraining — 14.8T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a509150ae_0_155"/>
          <p:cNvSpPr/>
          <p:nvPr/>
        </p:nvSpPr>
        <p:spPr>
          <a:xfrm>
            <a:off x="990600" y="470535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a509150ae_0_155"/>
          <p:cNvSpPr/>
          <p:nvPr/>
        </p:nvSpPr>
        <p:spPr>
          <a:xfrm>
            <a:off x="99060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fa509150ae_0_155"/>
          <p:cNvSpPr/>
          <p:nvPr/>
        </p:nvSpPr>
        <p:spPr>
          <a:xfrm>
            <a:off x="1238250" y="4591050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2,048 GPUs; under two months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fa509150ae_0_155"/>
          <p:cNvSpPr/>
          <p:nvPr/>
        </p:nvSpPr>
        <p:spPr>
          <a:xfrm>
            <a:off x="990600" y="51054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fa509150ae_0_155"/>
          <p:cNvSpPr/>
          <p:nvPr/>
        </p:nvSpPr>
        <p:spPr>
          <a:xfrm>
            <a:off x="99060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fa509150ae_0_155"/>
          <p:cNvSpPr/>
          <p:nvPr/>
        </p:nvSpPr>
        <p:spPr>
          <a:xfrm>
            <a:off x="1238250" y="500062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Prior research / ablations excluded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fa509150ae_0_155"/>
          <p:cNvSpPr/>
          <p:nvPr/>
        </p:nvSpPr>
        <p:spPr>
          <a:xfrm>
            <a:off x="632460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FFFFFF"/>
          </a:solidFill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a509150ae_0_155"/>
          <p:cNvSpPr/>
          <p:nvPr/>
        </p:nvSpPr>
        <p:spPr>
          <a:xfrm>
            <a:off x="6648450" y="1905000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LLAMA 3.1 405B · 2024 DISCLOSURE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fa509150ae_0_155"/>
          <p:cNvSpPr/>
          <p:nvPr/>
        </p:nvSpPr>
        <p:spPr>
          <a:xfrm>
            <a:off x="6648450" y="2276475"/>
            <a:ext cx="45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$61.7–123.4M*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a509150ae_0_155"/>
          <p:cNvSpPr/>
          <p:nvPr/>
        </p:nvSpPr>
        <p:spPr>
          <a:xfrm>
            <a:off x="6648450" y="2952750"/>
            <a:ext cx="44388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Our illustrative rental estimate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30.84M H100 GPU-hours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Assume $2–4/GPU-hour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fa509150ae_0_155"/>
          <p:cNvSpPr/>
          <p:nvPr/>
        </p:nvSpPr>
        <p:spPr>
          <a:xfrm>
            <a:off x="6686550" y="43053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fa509150ae_0_155"/>
          <p:cNvSpPr/>
          <p:nvPr/>
        </p:nvSpPr>
        <p:spPr>
          <a:xfrm>
            <a:off x="668655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fa509150ae_0_155"/>
          <p:cNvSpPr/>
          <p:nvPr/>
        </p:nvSpPr>
        <p:spPr>
          <a:xfrm>
            <a:off x="6934200" y="418147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*Not a bill reported by Meta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fa509150ae_0_155"/>
          <p:cNvSpPr/>
          <p:nvPr/>
        </p:nvSpPr>
        <p:spPr>
          <a:xfrm>
            <a:off x="6686550" y="470535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fa509150ae_0_155"/>
          <p:cNvSpPr/>
          <p:nvPr/>
        </p:nvSpPr>
        <p:spPr>
          <a:xfrm>
            <a:off x="668655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fa509150ae_0_155"/>
          <p:cNvSpPr/>
          <p:nvPr/>
        </p:nvSpPr>
        <p:spPr>
          <a:xfrm>
            <a:off x="6934200" y="4591050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≈78 days at 16,384 GPUs†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fa509150ae_0_155"/>
          <p:cNvSpPr/>
          <p:nvPr/>
        </p:nvSpPr>
        <p:spPr>
          <a:xfrm>
            <a:off x="6686550" y="51054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fa509150ae_0_155"/>
          <p:cNvSpPr/>
          <p:nvPr/>
        </p:nvSpPr>
        <p:spPr>
          <a:xfrm>
            <a:off x="668655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fa509150ae_0_155"/>
          <p:cNvSpPr/>
          <p:nvPr/>
        </p:nvSpPr>
        <p:spPr>
          <a:xfrm>
            <a:off x="6934200" y="500062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†Idealised GPU-hour conversion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fa509150ae_0_155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fa509150ae_0_155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GPU-hours measure total work. Calendar time and the full development budget differ.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a509150ae_0_201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fa509150ae_0_201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API prices are quoted per million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5" name="Google Shape;865;g3fa509150ae_0_201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6" name="Google Shape;866;g3fa509150ae_0_201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fa509150ae_0_201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a509150ae_0_201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fa509150ae_0_201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fa509150ae_0_201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fa509150ae_0_201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a509150ae_0_201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fa509150ae_0_201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fa509150ae_0_201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fa509150ae_0_201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g3fa509150ae_0_201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fa509150ae_0_201"/>
          <p:cNvSpPr/>
          <p:nvPr/>
        </p:nvSpPr>
        <p:spPr>
          <a:xfrm>
            <a:off x="685800" y="1533525"/>
            <a:ext cx="1082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USD PER 1M TOKENS · TEXT · UNCACHED INPUT · CHECKED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fa509150ae_0_201"/>
          <p:cNvSpPr/>
          <p:nvPr/>
        </p:nvSpPr>
        <p:spPr>
          <a:xfrm>
            <a:off x="781050" y="1962150"/>
            <a:ext cx="4095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MODEL /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a509150ae_0_201"/>
          <p:cNvSpPr/>
          <p:nvPr/>
        </p:nvSpPr>
        <p:spPr>
          <a:xfrm>
            <a:off x="5010150" y="1962150"/>
            <a:ext cx="184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fa509150ae_0_201"/>
          <p:cNvSpPr/>
          <p:nvPr/>
        </p:nvSpPr>
        <p:spPr>
          <a:xfrm>
            <a:off x="6991350" y="1962150"/>
            <a:ext cx="1657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a509150ae_0_201"/>
          <p:cNvSpPr/>
          <p:nvPr/>
        </p:nvSpPr>
        <p:spPr>
          <a:xfrm>
            <a:off x="8820150" y="1962150"/>
            <a:ext cx="257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PRICE BASIS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fa509150ae_0_201"/>
          <p:cNvSpPr/>
          <p:nvPr/>
        </p:nvSpPr>
        <p:spPr>
          <a:xfrm>
            <a:off x="666750" y="234315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fa509150ae_0_201"/>
          <p:cNvSpPr/>
          <p:nvPr/>
        </p:nvSpPr>
        <p:spPr>
          <a:xfrm>
            <a:off x="781050" y="236220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DeepSeek V4 Flash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a509150ae_0_201"/>
          <p:cNvSpPr/>
          <p:nvPr/>
        </p:nvSpPr>
        <p:spPr>
          <a:xfrm>
            <a:off x="5010150" y="236220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$0.22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a509150ae_0_201"/>
          <p:cNvSpPr/>
          <p:nvPr/>
        </p:nvSpPr>
        <p:spPr>
          <a:xfrm>
            <a:off x="6991350" y="236220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$0.66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3fa509150ae_0_201"/>
          <p:cNvSpPr/>
          <p:nvPr/>
        </p:nvSpPr>
        <p:spPr>
          <a:xfrm>
            <a:off x="8820150" y="236220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Off-peak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3fa509150ae_0_201"/>
          <p:cNvSpPr/>
          <p:nvPr/>
        </p:nvSpPr>
        <p:spPr>
          <a:xfrm>
            <a:off x="781050" y="2828925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DeepSeek V4 Flash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fa509150ae_0_201"/>
          <p:cNvSpPr/>
          <p:nvPr/>
        </p:nvSpPr>
        <p:spPr>
          <a:xfrm>
            <a:off x="5010150" y="2828925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$0.44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fa509150ae_0_201"/>
          <p:cNvSpPr/>
          <p:nvPr/>
        </p:nvSpPr>
        <p:spPr>
          <a:xfrm>
            <a:off x="6991350" y="2828925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$1.32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fa509150ae_0_201"/>
          <p:cNvSpPr/>
          <p:nvPr/>
        </p:nvSpPr>
        <p:spPr>
          <a:xfrm>
            <a:off x="8820150" y="2828925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Peak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fa509150ae_0_201"/>
          <p:cNvSpPr/>
          <p:nvPr/>
        </p:nvSpPr>
        <p:spPr>
          <a:xfrm>
            <a:off x="666750" y="327660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fa509150ae_0_201"/>
          <p:cNvSpPr/>
          <p:nvPr/>
        </p:nvSpPr>
        <p:spPr>
          <a:xfrm>
            <a:off x="781050" y="329565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Gemini 3.8 Flash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fa509150ae_0_201"/>
          <p:cNvSpPr/>
          <p:nvPr/>
        </p:nvSpPr>
        <p:spPr>
          <a:xfrm>
            <a:off x="5010150" y="329565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$0.75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a509150ae_0_201"/>
          <p:cNvSpPr/>
          <p:nvPr/>
        </p:nvSpPr>
        <p:spPr>
          <a:xfrm>
            <a:off x="6991350" y="329565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$3.75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fa509150ae_0_201"/>
          <p:cNvSpPr/>
          <p:nvPr/>
        </p:nvSpPr>
        <p:spPr>
          <a:xfrm>
            <a:off x="8820150" y="329565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Introductory*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fa509150ae_0_201"/>
          <p:cNvSpPr/>
          <p:nvPr/>
        </p:nvSpPr>
        <p:spPr>
          <a:xfrm>
            <a:off x="781050" y="3762375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Claude Sonnet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fa509150ae_0_201"/>
          <p:cNvSpPr/>
          <p:nvPr/>
        </p:nvSpPr>
        <p:spPr>
          <a:xfrm>
            <a:off x="5010150" y="3762375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$2.00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fa509150ae_0_201"/>
          <p:cNvSpPr/>
          <p:nvPr/>
        </p:nvSpPr>
        <p:spPr>
          <a:xfrm>
            <a:off x="6991350" y="3762375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$10.00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fa509150ae_0_201"/>
          <p:cNvSpPr/>
          <p:nvPr/>
        </p:nvSpPr>
        <p:spPr>
          <a:xfrm>
            <a:off x="8820150" y="3762375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fa509150ae_0_201"/>
          <p:cNvSpPr/>
          <p:nvPr/>
        </p:nvSpPr>
        <p:spPr>
          <a:xfrm>
            <a:off x="666750" y="4210050"/>
            <a:ext cx="10820400" cy="4287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fa509150ae_0_201"/>
          <p:cNvSpPr/>
          <p:nvPr/>
        </p:nvSpPr>
        <p:spPr>
          <a:xfrm>
            <a:off x="781050" y="4229100"/>
            <a:ext cx="40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D0E"/>
              </a:buClr>
              <a:buSzPts val="1950"/>
              <a:buFont typeface="Consolas"/>
              <a:buNone/>
            </a:pPr>
            <a:r>
              <a:rPr b="1" i="0" lang="en-US" sz="1950" u="none" cap="none" strike="noStrike">
                <a:solidFill>
                  <a:srgbClr val="0B0D0E"/>
                </a:solidFill>
                <a:latin typeface="Consolas"/>
                <a:ea typeface="Consolas"/>
                <a:cs typeface="Consolas"/>
                <a:sym typeface="Consolas"/>
              </a:rPr>
              <a:t>Claude Opus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fa509150ae_0_201"/>
          <p:cNvSpPr/>
          <p:nvPr/>
        </p:nvSpPr>
        <p:spPr>
          <a:xfrm>
            <a:off x="5010150" y="4229100"/>
            <a:ext cx="184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$5.00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a509150ae_0_201"/>
          <p:cNvSpPr/>
          <p:nvPr/>
        </p:nvSpPr>
        <p:spPr>
          <a:xfrm>
            <a:off x="6991350" y="4229100"/>
            <a:ext cx="1657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Consolas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Consolas"/>
                <a:ea typeface="Consolas"/>
                <a:cs typeface="Consolas"/>
                <a:sym typeface="Consolas"/>
              </a:rPr>
              <a:t>$25.00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a509150ae_0_201"/>
          <p:cNvSpPr/>
          <p:nvPr/>
        </p:nvSpPr>
        <p:spPr>
          <a:xfrm>
            <a:off x="8820150" y="4229100"/>
            <a:ext cx="257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6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73F6F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fa509150ae_0_201"/>
          <p:cNvSpPr/>
          <p:nvPr/>
        </p:nvSpPr>
        <p:spPr>
          <a:xfrm>
            <a:off x="685800" y="521970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56616F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*Gemini rate through 31 Dec 2026. Batch, cache, tools and taxes are excluded. Prices can change.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fa509150ae_0_201"/>
          <p:cNvSpPr/>
          <p:nvPr/>
        </p:nvSpPr>
        <p:spPr>
          <a:xfrm>
            <a:off x="1238250" y="569595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fa509150ae_0_201"/>
          <p:cNvSpPr/>
          <p:nvPr/>
        </p:nvSpPr>
        <p:spPr>
          <a:xfrm>
            <a:off x="1381125" y="5724525"/>
            <a:ext cx="942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73F7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At $10 per million output tokens, one output token costs $0.00001.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a509150ae_0_250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fa509150ae_0_250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Budget the complete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5" name="Google Shape;915;g3fa509150ae_0_25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g3fa509150ae_0_250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a509150ae_0_25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a509150ae_0_25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a509150ae_0_25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fa509150ae_0_25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fa509150ae_0_25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a509150ae_0_25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a509150ae_0_25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a509150ae_0_25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fa509150ae_0_25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fa509150ae_0_25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a509150ae_0_250"/>
          <p:cNvSpPr/>
          <p:nvPr/>
        </p:nvSpPr>
        <p:spPr>
          <a:xfrm>
            <a:off x="62865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EAF5FB"/>
          </a:solidFill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fa509150ae_0_250"/>
          <p:cNvSpPr/>
          <p:nvPr/>
        </p:nvSpPr>
        <p:spPr>
          <a:xfrm>
            <a:off x="952500" y="1905000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ONE RESPONSE · SONNET 5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a509150ae_0_250"/>
          <p:cNvSpPr/>
          <p:nvPr/>
        </p:nvSpPr>
        <p:spPr>
          <a:xfrm>
            <a:off x="952500" y="2276475"/>
            <a:ext cx="45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$0.009 /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a509150ae_0_250"/>
          <p:cNvSpPr/>
          <p:nvPr/>
        </p:nvSpPr>
        <p:spPr>
          <a:xfrm>
            <a:off x="952500" y="2952750"/>
            <a:ext cx="44388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2,000 input + 500 output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$0.004 input + $0.005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10,000 tasks → $90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fa509150ae_0_250"/>
          <p:cNvSpPr/>
          <p:nvPr/>
        </p:nvSpPr>
        <p:spPr>
          <a:xfrm>
            <a:off x="990600" y="43053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fa509150ae_0_250"/>
          <p:cNvSpPr/>
          <p:nvPr/>
        </p:nvSpPr>
        <p:spPr>
          <a:xfrm>
            <a:off x="99060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3fa509150ae_0_250"/>
          <p:cNvSpPr/>
          <p:nvPr/>
        </p:nvSpPr>
        <p:spPr>
          <a:xfrm>
            <a:off x="1238250" y="418147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Input $2 / 1M; output $10 / 1M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fa509150ae_0_250"/>
          <p:cNvSpPr/>
          <p:nvPr/>
        </p:nvSpPr>
        <p:spPr>
          <a:xfrm>
            <a:off x="990600" y="470535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a509150ae_0_250"/>
          <p:cNvSpPr/>
          <p:nvPr/>
        </p:nvSpPr>
        <p:spPr>
          <a:xfrm>
            <a:off x="99060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a509150ae_0_250"/>
          <p:cNvSpPr/>
          <p:nvPr/>
        </p:nvSpPr>
        <p:spPr>
          <a:xfrm>
            <a:off x="1238250" y="4591050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All input uncached in this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a509150ae_0_250"/>
          <p:cNvSpPr/>
          <p:nvPr/>
        </p:nvSpPr>
        <p:spPr>
          <a:xfrm>
            <a:off x="990600" y="5105400"/>
            <a:ext cx="133500" cy="133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a509150ae_0_250"/>
          <p:cNvSpPr/>
          <p:nvPr/>
        </p:nvSpPr>
        <p:spPr>
          <a:xfrm>
            <a:off x="99060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fa509150ae_0_250"/>
          <p:cNvSpPr/>
          <p:nvPr/>
        </p:nvSpPr>
        <p:spPr>
          <a:xfrm>
            <a:off x="1238250" y="500062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No paid tools or other fees included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a509150ae_0_250"/>
          <p:cNvSpPr/>
          <p:nvPr/>
        </p:nvSpPr>
        <p:spPr>
          <a:xfrm>
            <a:off x="6324600" y="1676400"/>
            <a:ext cx="5238900" cy="3791100"/>
          </a:xfrm>
          <a:prstGeom prst="roundRect">
            <a:avLst>
              <a:gd fmla="val 5528" name="adj"/>
            </a:avLst>
          </a:prstGeom>
          <a:solidFill>
            <a:srgbClr val="FFFFFF"/>
          </a:solidFill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fa509150ae_0_250"/>
          <p:cNvSpPr/>
          <p:nvPr/>
        </p:nvSpPr>
        <p:spPr>
          <a:xfrm>
            <a:off x="6648450" y="1905000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EIGHT-CALL AGENT · SAME RATES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fa509150ae_0_250"/>
          <p:cNvSpPr/>
          <p:nvPr/>
        </p:nvSpPr>
        <p:spPr>
          <a:xfrm>
            <a:off x="6648450" y="2276475"/>
            <a:ext cx="45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$0.10 /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a509150ae_0_250"/>
          <p:cNvSpPr/>
          <p:nvPr/>
        </p:nvSpPr>
        <p:spPr>
          <a:xfrm>
            <a:off x="6648450" y="2952750"/>
            <a:ext cx="44388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30,000 input + 4,000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$0.060 input + $0.040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10,000 tasks → $1,000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a509150ae_0_250"/>
          <p:cNvSpPr/>
          <p:nvPr/>
        </p:nvSpPr>
        <p:spPr>
          <a:xfrm>
            <a:off x="6686550" y="43053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fa509150ae_0_250"/>
          <p:cNvSpPr/>
          <p:nvPr/>
        </p:nvSpPr>
        <p:spPr>
          <a:xfrm>
            <a:off x="6686550" y="43053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a509150ae_0_250"/>
          <p:cNvSpPr/>
          <p:nvPr/>
        </p:nvSpPr>
        <p:spPr>
          <a:xfrm>
            <a:off x="6934200" y="418147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Input grows 2,000 → 5,500 /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fa509150ae_0_250"/>
          <p:cNvSpPr/>
          <p:nvPr/>
        </p:nvSpPr>
        <p:spPr>
          <a:xfrm>
            <a:off x="6686550" y="470535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fa509150ae_0_250"/>
          <p:cNvSpPr/>
          <p:nvPr/>
        </p:nvSpPr>
        <p:spPr>
          <a:xfrm>
            <a:off x="6686550" y="470535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fa509150ae_0_250"/>
          <p:cNvSpPr/>
          <p:nvPr/>
        </p:nvSpPr>
        <p:spPr>
          <a:xfrm>
            <a:off x="6934200" y="4591050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500 output tokens on each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fa509150ae_0_250"/>
          <p:cNvSpPr/>
          <p:nvPr/>
        </p:nvSpPr>
        <p:spPr>
          <a:xfrm>
            <a:off x="6686550" y="5105400"/>
            <a:ext cx="133500" cy="133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fa509150ae_0_250"/>
          <p:cNvSpPr/>
          <p:nvPr/>
        </p:nvSpPr>
        <p:spPr>
          <a:xfrm>
            <a:off x="6686550" y="5105400"/>
            <a:ext cx="133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a509150ae_0_250"/>
          <p:cNvSpPr/>
          <p:nvPr/>
        </p:nvSpPr>
        <p:spPr>
          <a:xfrm>
            <a:off x="6934200" y="5000625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≈11× the single-response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a509150ae_0_250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a509150ae_0_250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Task cost = all input charges + all output charges + tools and infrastructure.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fa509150ae_0_296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fa509150ae_0_296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Three common application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g3fa509150ae_0_29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g3fa509150ae_0_296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a509150ae_0_29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fa509150ae_0_29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fa509150ae_0_29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fa509150ae_0_29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fa509150ae_0_29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a509150ae_0_29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fa509150ae_0_29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fa509150ae_0_29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fa509150ae_0_29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fa509150ae_0_29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a509150ae_0_296"/>
          <p:cNvSpPr/>
          <p:nvPr/>
        </p:nvSpPr>
        <p:spPr>
          <a:xfrm>
            <a:off x="6477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fa509150ae_0_296"/>
          <p:cNvSpPr/>
          <p:nvPr/>
        </p:nvSpPr>
        <p:spPr>
          <a:xfrm>
            <a:off x="6477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RETRIEVE →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fa509150ae_0_296"/>
          <p:cNvSpPr/>
          <p:nvPr/>
        </p:nvSpPr>
        <p:spPr>
          <a:xfrm>
            <a:off x="7429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Search a document 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Pass evidence to the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Answer with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fa509150ae_0_296"/>
          <p:cNvSpPr/>
          <p:nvPr/>
        </p:nvSpPr>
        <p:spPr>
          <a:xfrm>
            <a:off x="436245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FF9B52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Tool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fa509150ae_0_296"/>
          <p:cNvSpPr/>
          <p:nvPr/>
        </p:nvSpPr>
        <p:spPr>
          <a:xfrm>
            <a:off x="436245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ACT → OBSERVE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fa509150ae_0_296"/>
          <p:cNvSpPr/>
          <p:nvPr/>
        </p:nvSpPr>
        <p:spPr>
          <a:xfrm>
            <a:off x="445770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LLM selects a tool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Code executes the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LLM uses the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fa509150ae_0_296"/>
          <p:cNvSpPr/>
          <p:nvPr/>
        </p:nvSpPr>
        <p:spPr>
          <a:xfrm>
            <a:off x="8077200" y="1781175"/>
            <a:ext cx="3333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Multi-agent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g3fa509150ae_0_296"/>
          <p:cNvSpPr/>
          <p:nvPr/>
        </p:nvSpPr>
        <p:spPr>
          <a:xfrm>
            <a:off x="8077200" y="2447925"/>
            <a:ext cx="3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DELEGATE → COMBINE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fa509150ae_0_296"/>
          <p:cNvSpPr/>
          <p:nvPr/>
        </p:nvSpPr>
        <p:spPr>
          <a:xfrm>
            <a:off x="8172450" y="3000375"/>
            <a:ext cx="314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Delegate subtasks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Run workers in parallel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5F667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Combine their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g3fa509150ae_0_296"/>
          <p:cNvCxnSpPr/>
          <p:nvPr/>
        </p:nvCxnSpPr>
        <p:spPr>
          <a:xfrm>
            <a:off x="428625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g3fa509150ae_0_296"/>
          <p:cNvCxnSpPr/>
          <p:nvPr/>
        </p:nvCxnSpPr>
        <p:spPr>
          <a:xfrm>
            <a:off x="8001000" y="1809750"/>
            <a:ext cx="0" cy="24384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5" name="Google Shape;985;g3fa509150ae_0_296"/>
          <p:cNvSpPr/>
          <p:nvPr/>
        </p:nvSpPr>
        <p:spPr>
          <a:xfrm>
            <a:off x="895350" y="4400550"/>
            <a:ext cx="10401300" cy="990600"/>
          </a:xfrm>
          <a:prstGeom prst="roundRect">
            <a:avLst>
              <a:gd fmla="val 17308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fa509150ae_0_296"/>
          <p:cNvSpPr/>
          <p:nvPr/>
        </p:nvSpPr>
        <p:spPr>
          <a:xfrm>
            <a:off x="1162050" y="4629150"/>
            <a:ext cx="152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fa509150ae_0_296"/>
          <p:cNvSpPr/>
          <p:nvPr/>
        </p:nvSpPr>
        <p:spPr>
          <a:xfrm>
            <a:off x="2857500" y="4552950"/>
            <a:ext cx="809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fixed workflow chooses steps in code. An agent chooses some steps dynamically.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fa509150ae_0_296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fa509150ae_0_296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RAG can be a tool inside an agent. Multiple agents add coordination and token cost.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fa509150ae_0_330"/>
          <p:cNvSpPr/>
          <p:nvPr/>
        </p:nvSpPr>
        <p:spPr>
          <a:xfrm>
            <a:off x="457200" y="190500"/>
            <a:ext cx="39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LANDSCAPE · SEPTEMBER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fa509150ae_0_330"/>
          <p:cNvSpPr/>
          <p:nvPr/>
        </p:nvSpPr>
        <p:spPr>
          <a:xfrm>
            <a:off x="457200" y="6096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An agent is a controlled execution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7" name="Google Shape;997;g3fa509150ae_0_33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g3fa509150ae_0_330"/>
          <p:cNvSpPr/>
          <p:nvPr/>
        </p:nvSpPr>
        <p:spPr>
          <a:xfrm>
            <a:off x="457200" y="6486525"/>
            <a:ext cx="495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LLM landscape · 8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g3fa509150ae_0_33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g3fa509150ae_0_33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3fa509150ae_0_33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g3fa509150ae_0_33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g3fa509150ae_0_33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g3fa509150ae_0_33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3fa509150ae_0_33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fa509150ae_0_33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3fa509150ae_0_33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a509150ae_0_33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a509150ae_0_330"/>
          <p:cNvSpPr/>
          <p:nvPr/>
        </p:nvSpPr>
        <p:spPr>
          <a:xfrm>
            <a:off x="685800" y="1657350"/>
            <a:ext cx="5429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49A07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THE HARNESS RUNS AROUND THE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3fa509150ae_0_330"/>
          <p:cNvSpPr/>
          <p:nvPr/>
        </p:nvSpPr>
        <p:spPr>
          <a:xfrm>
            <a:off x="685800" y="1981200"/>
            <a:ext cx="5429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0B0C0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model proposes an action; software executes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3fa509150ae_0_330"/>
          <p:cNvSpPr/>
          <p:nvPr/>
        </p:nvSpPr>
        <p:spPr>
          <a:xfrm>
            <a:off x="685800" y="3095625"/>
            <a:ext cx="5429400" cy="22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Context — instructions, evidence,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Tools — search, code, business 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Runtime — permissions, retries, limits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0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Results — observations for the next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fa509150ae_0_330"/>
          <p:cNvSpPr/>
          <p:nvPr/>
        </p:nvSpPr>
        <p:spPr>
          <a:xfrm>
            <a:off x="6343650" y="2000250"/>
            <a:ext cx="1352700" cy="609600"/>
          </a:xfrm>
          <a:prstGeom prst="roundRect">
            <a:avLst>
              <a:gd fmla="val 21875" name="adj"/>
            </a:avLst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g3fa509150ae_0_330"/>
          <p:cNvSpPr/>
          <p:nvPr/>
        </p:nvSpPr>
        <p:spPr>
          <a:xfrm>
            <a:off x="6477000" y="2076450"/>
            <a:ext cx="10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g3fa509150ae_0_330"/>
          <p:cNvSpPr/>
          <p:nvPr/>
        </p:nvSpPr>
        <p:spPr>
          <a:xfrm>
            <a:off x="8172450" y="2000250"/>
            <a:ext cx="1428900" cy="609600"/>
          </a:xfrm>
          <a:prstGeom prst="roundRect">
            <a:avLst>
              <a:gd fmla="val 21875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fa509150ae_0_330"/>
          <p:cNvSpPr/>
          <p:nvPr/>
        </p:nvSpPr>
        <p:spPr>
          <a:xfrm>
            <a:off x="8305800" y="206502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3fa509150ae_0_330"/>
          <p:cNvSpPr/>
          <p:nvPr/>
        </p:nvSpPr>
        <p:spPr>
          <a:xfrm>
            <a:off x="10077450" y="2000250"/>
            <a:ext cx="1200300" cy="609600"/>
          </a:xfrm>
          <a:prstGeom prst="roundRect">
            <a:avLst>
              <a:gd fmla="val 21875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3fa509150ae_0_330"/>
          <p:cNvSpPr/>
          <p:nvPr/>
        </p:nvSpPr>
        <p:spPr>
          <a:xfrm>
            <a:off x="10210800" y="2076450"/>
            <a:ext cx="9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0B0C0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8" name="Google Shape;1018;g3fa509150ae_0_330"/>
          <p:cNvCxnSpPr>
            <a:stCxn id="1012" idx="3"/>
            <a:endCxn id="1014" idx="1"/>
          </p:cNvCxnSpPr>
          <p:nvPr/>
        </p:nvCxnSpPr>
        <p:spPr>
          <a:xfrm>
            <a:off x="7696350" y="2305050"/>
            <a:ext cx="476100" cy="0"/>
          </a:xfrm>
          <a:prstGeom prst="straightConnector1">
            <a:avLst/>
          </a:prstGeom>
          <a:noFill/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9" name="Google Shape;1019;g3fa509150ae_0_330"/>
          <p:cNvCxnSpPr>
            <a:stCxn id="1014" idx="3"/>
            <a:endCxn id="1016" idx="1"/>
          </p:cNvCxnSpPr>
          <p:nvPr/>
        </p:nvCxnSpPr>
        <p:spPr>
          <a:xfrm>
            <a:off x="9601350" y="2305050"/>
            <a:ext cx="476100" cy="0"/>
          </a:xfrm>
          <a:prstGeom prst="straightConnector1">
            <a:avLst/>
          </a:prstGeom>
          <a:noFill/>
          <a:ln cap="flat" cmpd="sng" w="19050">
            <a:solidFill>
              <a:srgbClr val="FF9B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0" name="Google Shape;1020;g3fa509150ae_0_330"/>
          <p:cNvSpPr/>
          <p:nvPr/>
        </p:nvSpPr>
        <p:spPr>
          <a:xfrm>
            <a:off x="7734300" y="3162300"/>
            <a:ext cx="217170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1427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3fa509150ae_0_330"/>
          <p:cNvSpPr/>
          <p:nvPr/>
        </p:nvSpPr>
        <p:spPr>
          <a:xfrm>
            <a:off x="7867650" y="3204972"/>
            <a:ext cx="1905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49A0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update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g3fa509150ae_0_330"/>
          <p:cNvCxnSpPr>
            <a:stCxn id="1016" idx="2"/>
            <a:endCxn id="1020" idx="3"/>
          </p:cNvCxnSpPr>
          <p:nvPr/>
        </p:nvCxnSpPr>
        <p:spPr>
          <a:xfrm rot="5400000">
            <a:off x="9863100" y="2652750"/>
            <a:ext cx="857400" cy="771600"/>
          </a:xfrm>
          <a:prstGeom prst="bentConnector5">
            <a:avLst>
              <a:gd fmla="val 0" name="adj1"/>
              <a:gd fmla="val 0" name="adj2"/>
              <a:gd fmla="val 99114" name="adj3"/>
            </a:avLst>
          </a:prstGeom>
          <a:noFill/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23" name="Google Shape;1023;g3fa509150ae_0_330"/>
          <p:cNvCxnSpPr>
            <a:stCxn id="1020" idx="1"/>
            <a:endCxn id="1012" idx="2"/>
          </p:cNvCxnSpPr>
          <p:nvPr/>
        </p:nvCxnSpPr>
        <p:spPr>
          <a:xfrm rot="10800000">
            <a:off x="7020000" y="2610000"/>
            <a:ext cx="714300" cy="857100"/>
          </a:xfrm>
          <a:prstGeom prst="bentConnector2">
            <a:avLst/>
          </a:prstGeom>
          <a:noFill/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4" name="Google Shape;1024;g3fa509150ae_0_330"/>
          <p:cNvSpPr/>
          <p:nvPr/>
        </p:nvSpPr>
        <p:spPr>
          <a:xfrm>
            <a:off x="62293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3fa509150ae_0_330"/>
          <p:cNvSpPr/>
          <p:nvPr/>
        </p:nvSpPr>
        <p:spPr>
          <a:xfrm>
            <a:off x="6362700" y="4552950"/>
            <a:ext cx="129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g3fa509150ae_0_330"/>
          <p:cNvSpPr/>
          <p:nvPr/>
        </p:nvSpPr>
        <p:spPr>
          <a:xfrm>
            <a:off x="79438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g3fa509150ae_0_330"/>
          <p:cNvSpPr/>
          <p:nvPr/>
        </p:nvSpPr>
        <p:spPr>
          <a:xfrm>
            <a:off x="8077200" y="4552950"/>
            <a:ext cx="129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Ask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3fa509150ae_0_330"/>
          <p:cNvSpPr/>
          <p:nvPr/>
        </p:nvSpPr>
        <p:spPr>
          <a:xfrm>
            <a:off x="96583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g3fa509150ae_0_330"/>
          <p:cNvSpPr/>
          <p:nvPr/>
        </p:nvSpPr>
        <p:spPr>
          <a:xfrm>
            <a:off x="9791700" y="4552950"/>
            <a:ext cx="1295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"/>
              </a:spcBef>
              <a:spcAft>
                <a:spcPts val="4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3fa509150ae_0_330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3fa509150ae_0_330"/>
          <p:cNvSpPr/>
          <p:nvPr/>
        </p:nvSpPr>
        <p:spPr>
          <a:xfrm>
            <a:off x="1371600" y="5619750"/>
            <a:ext cx="9448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"/>
              </a:spcAft>
              <a:buClr>
                <a:srgbClr val="143E7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A tool call is structured model output. The application supplies the actual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fa509150ae_0_518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fa509150ae_0_518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Today — one prompt, one next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9" name="Google Shape;1039;g3fa509150ae_0_518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g3fa509150ae_0_518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3fa509150ae_0_518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fa509150ae_0_518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3fa509150ae_0_518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fa509150ae_0_518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fa509150ae_0_518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fa509150ae_0_518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fa509150ae_0_518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3fa509150ae_0_518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fa509150ae_0_518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fa509150ae_0_518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fa509150ae_0_518"/>
          <p:cNvSpPr/>
          <p:nvPr/>
        </p:nvSpPr>
        <p:spPr>
          <a:xfrm>
            <a:off x="552450" y="1619250"/>
            <a:ext cx="3143400" cy="4095900"/>
          </a:xfrm>
          <a:prstGeom prst="roundRect">
            <a:avLst>
              <a:gd fmla="val 6667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3fa509150ae_0_518"/>
          <p:cNvSpPr/>
          <p:nvPr/>
        </p:nvSpPr>
        <p:spPr>
          <a:xfrm>
            <a:off x="819150" y="5219700"/>
            <a:ext cx="2610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062"/>
              <a:buFont typeface="Arial"/>
              <a:buNone/>
            </a:pPr>
            <a:r>
              <a:rPr b="0" i="0" lang="en-US" sz="16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We will return to this map throughout the lecture.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3fa509150ae_0_518"/>
          <p:cNvSpPr/>
          <p:nvPr/>
        </p:nvSpPr>
        <p:spPr>
          <a:xfrm>
            <a:off x="4248150" y="1752600"/>
            <a:ext cx="7086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ONE ORGANIZING QUESTION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3fa509150ae_0_518"/>
          <p:cNvSpPr/>
          <p:nvPr/>
        </p:nvSpPr>
        <p:spPr>
          <a:xfrm>
            <a:off x="4248150" y="2076450"/>
            <a:ext cx="70866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happens between a prompt and its next token?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3fa509150ae_0_518"/>
          <p:cNvSpPr/>
          <p:nvPr/>
        </p:nvSpPr>
        <p:spPr>
          <a:xfrm>
            <a:off x="4457700" y="3544527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3fa509150ae_0_518"/>
          <p:cNvSpPr/>
          <p:nvPr/>
        </p:nvSpPr>
        <p:spPr>
          <a:xfrm>
            <a:off x="4457700" y="354452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3fa509150ae_0_518"/>
          <p:cNvSpPr/>
          <p:nvPr/>
        </p:nvSpPr>
        <p:spPr>
          <a:xfrm>
            <a:off x="4857750" y="3515952"/>
            <a:ext cx="6115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text → 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3fa509150ae_0_518"/>
          <p:cNvSpPr/>
          <p:nvPr/>
        </p:nvSpPr>
        <p:spPr>
          <a:xfrm>
            <a:off x="4457700" y="4001727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3fa509150ae_0_518"/>
          <p:cNvSpPr/>
          <p:nvPr/>
        </p:nvSpPr>
        <p:spPr>
          <a:xfrm>
            <a:off x="4457700" y="400172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fa509150ae_0_518"/>
          <p:cNvSpPr/>
          <p:nvPr/>
        </p:nvSpPr>
        <p:spPr>
          <a:xfrm>
            <a:off x="4857750" y="3973152"/>
            <a:ext cx="6115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vectors → decoder blocks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fa509150ae_0_518"/>
          <p:cNvSpPr/>
          <p:nvPr/>
        </p:nvSpPr>
        <p:spPr>
          <a:xfrm>
            <a:off x="4457700" y="4458927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fa509150ae_0_518"/>
          <p:cNvSpPr/>
          <p:nvPr/>
        </p:nvSpPr>
        <p:spPr>
          <a:xfrm>
            <a:off x="4457700" y="4458927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fa509150ae_0_518"/>
          <p:cNvSpPr/>
          <p:nvPr/>
        </p:nvSpPr>
        <p:spPr>
          <a:xfrm>
            <a:off x="4857750" y="4430352"/>
            <a:ext cx="6115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hidden state → logits → sampled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fa509150ae_0_518"/>
          <p:cNvSpPr/>
          <p:nvPr/>
        </p:nvSpPr>
        <p:spPr>
          <a:xfrm>
            <a:off x="1022985" y="2406518"/>
            <a:ext cx="2080200" cy="2119200"/>
          </a:xfrm>
          <a:prstGeom prst="roundRect">
            <a:avLst>
              <a:gd fmla="val 2747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3fa509150ae_0_518"/>
          <p:cNvSpPr/>
          <p:nvPr/>
        </p:nvSpPr>
        <p:spPr>
          <a:xfrm>
            <a:off x="1908810" y="4833567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3fa509150ae_0_518"/>
          <p:cNvSpPr/>
          <p:nvPr/>
        </p:nvSpPr>
        <p:spPr>
          <a:xfrm>
            <a:off x="1908810" y="4444153"/>
            <a:ext cx="57300" cy="117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g3fa509150ae_0_518"/>
          <p:cNvSpPr/>
          <p:nvPr/>
        </p:nvSpPr>
        <p:spPr>
          <a:xfrm>
            <a:off x="1908810" y="4109075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g3fa509150ae_0_518"/>
          <p:cNvSpPr/>
          <p:nvPr/>
        </p:nvSpPr>
        <p:spPr>
          <a:xfrm>
            <a:off x="1908810" y="3692492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g3fa509150ae_0_518"/>
          <p:cNvSpPr/>
          <p:nvPr/>
        </p:nvSpPr>
        <p:spPr>
          <a:xfrm>
            <a:off x="1908810" y="3393639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g3fa509150ae_0_518"/>
          <p:cNvSpPr/>
          <p:nvPr/>
        </p:nvSpPr>
        <p:spPr>
          <a:xfrm>
            <a:off x="1908810" y="3067618"/>
            <a:ext cx="57300" cy="99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g3fa509150ae_0_518"/>
          <p:cNvSpPr/>
          <p:nvPr/>
        </p:nvSpPr>
        <p:spPr>
          <a:xfrm>
            <a:off x="1908810" y="2669147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fa509150ae_0_518"/>
          <p:cNvSpPr/>
          <p:nvPr/>
        </p:nvSpPr>
        <p:spPr>
          <a:xfrm>
            <a:off x="1908810" y="2370294"/>
            <a:ext cx="57300" cy="108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3fa509150ae_0_518"/>
          <p:cNvSpPr/>
          <p:nvPr/>
        </p:nvSpPr>
        <p:spPr>
          <a:xfrm>
            <a:off x="1908810" y="2044272"/>
            <a:ext cx="57300" cy="99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4" name="Google Shape;1074;g3fa509150ae_0_518"/>
          <p:cNvCxnSpPr/>
          <p:nvPr/>
        </p:nvCxnSpPr>
        <p:spPr>
          <a:xfrm>
            <a:off x="1937385" y="4507546"/>
            <a:ext cx="9831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g3fa509150ae_0_518"/>
          <p:cNvCxnSpPr/>
          <p:nvPr/>
        </p:nvCxnSpPr>
        <p:spPr>
          <a:xfrm>
            <a:off x="2920365" y="3597402"/>
            <a:ext cx="0" cy="9102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g3fa509150ae_0_518"/>
          <p:cNvSpPr/>
          <p:nvPr/>
        </p:nvSpPr>
        <p:spPr>
          <a:xfrm>
            <a:off x="2027947" y="3568827"/>
            <a:ext cx="8925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7" name="Google Shape;1077;g3fa509150ae_0_518"/>
          <p:cNvCxnSpPr/>
          <p:nvPr/>
        </p:nvCxnSpPr>
        <p:spPr>
          <a:xfrm>
            <a:off x="1937385" y="3447976"/>
            <a:ext cx="9831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g3fa509150ae_0_518"/>
          <p:cNvCxnSpPr/>
          <p:nvPr/>
        </p:nvCxnSpPr>
        <p:spPr>
          <a:xfrm>
            <a:off x="2920365" y="2574057"/>
            <a:ext cx="0" cy="8739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9" name="Google Shape;1079;g3fa509150ae_0_518"/>
          <p:cNvSpPr/>
          <p:nvPr/>
        </p:nvSpPr>
        <p:spPr>
          <a:xfrm>
            <a:off x="2027947" y="2545482"/>
            <a:ext cx="8925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fa509150ae_0_518"/>
          <p:cNvSpPr/>
          <p:nvPr/>
        </p:nvSpPr>
        <p:spPr>
          <a:xfrm>
            <a:off x="1160145" y="1790700"/>
            <a:ext cx="1554600" cy="253500"/>
          </a:xfrm>
          <a:prstGeom prst="roundRect">
            <a:avLst>
              <a:gd fmla="val 15025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fa509150ae_0_518"/>
          <p:cNvSpPr/>
          <p:nvPr/>
        </p:nvSpPr>
        <p:spPr>
          <a:xfrm>
            <a:off x="1160145" y="2135219"/>
            <a:ext cx="1554600" cy="247800"/>
          </a:xfrm>
          <a:prstGeom prst="roundRect">
            <a:avLst>
              <a:gd fmla="val 16828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3fa509150ae_0_518"/>
          <p:cNvSpPr/>
          <p:nvPr/>
        </p:nvSpPr>
        <p:spPr>
          <a:xfrm>
            <a:off x="1846802" y="2459831"/>
            <a:ext cx="1812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3fa509150ae_0_518"/>
          <p:cNvSpPr/>
          <p:nvPr/>
        </p:nvSpPr>
        <p:spPr>
          <a:xfrm>
            <a:off x="1160145" y="2777776"/>
            <a:ext cx="1554600" cy="289800"/>
          </a:xfrm>
          <a:prstGeom prst="roundRect">
            <a:avLst>
              <a:gd fmla="val 1314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3fa509150ae_0_518"/>
          <p:cNvSpPr/>
          <p:nvPr/>
        </p:nvSpPr>
        <p:spPr>
          <a:xfrm>
            <a:off x="1160145" y="3158490"/>
            <a:ext cx="1554600" cy="247800"/>
          </a:xfrm>
          <a:prstGeom prst="roundRect">
            <a:avLst>
              <a:gd fmla="val 16828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fa509150ae_0_518"/>
          <p:cNvSpPr/>
          <p:nvPr/>
        </p:nvSpPr>
        <p:spPr>
          <a:xfrm>
            <a:off x="1846802" y="3483197"/>
            <a:ext cx="1812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fa509150ae_0_518"/>
          <p:cNvSpPr/>
          <p:nvPr/>
        </p:nvSpPr>
        <p:spPr>
          <a:xfrm>
            <a:off x="1160145" y="3801142"/>
            <a:ext cx="1554600" cy="307800"/>
          </a:xfrm>
          <a:prstGeom prst="roundRect">
            <a:avLst>
              <a:gd fmla="val 12374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a509150ae_0_518"/>
          <p:cNvSpPr/>
          <p:nvPr/>
        </p:nvSpPr>
        <p:spPr>
          <a:xfrm>
            <a:off x="1160145" y="4209002"/>
            <a:ext cx="1554600" cy="247800"/>
          </a:xfrm>
          <a:prstGeom prst="roundRect">
            <a:avLst>
              <a:gd fmla="val 16828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fa509150ae_0_518"/>
          <p:cNvSpPr/>
          <p:nvPr/>
        </p:nvSpPr>
        <p:spPr>
          <a:xfrm>
            <a:off x="1160145" y="4561904"/>
            <a:ext cx="1554600" cy="271800"/>
          </a:xfrm>
          <a:prstGeom prst="roundRect">
            <a:avLst>
              <a:gd fmla="val 14024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fa509150ae_0_518"/>
          <p:cNvSpPr/>
          <p:nvPr/>
        </p:nvSpPr>
        <p:spPr>
          <a:xfrm>
            <a:off x="1160145" y="4933569"/>
            <a:ext cx="1554600" cy="247800"/>
          </a:xfrm>
          <a:prstGeom prst="roundRect">
            <a:avLst>
              <a:gd fmla="val 16828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fa509150ae_0_518"/>
          <p:cNvSpPr/>
          <p:nvPr/>
        </p:nvSpPr>
        <p:spPr>
          <a:xfrm>
            <a:off x="1080135" y="2451830"/>
            <a:ext cx="525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8"/>
          <p:cNvSpPr/>
          <p:nvPr/>
        </p:nvSpPr>
        <p:spPr>
          <a:xfrm>
            <a:off x="609600" y="219075"/>
            <a:ext cx="857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TOKENIZATION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8"/>
          <p:cNvSpPr/>
          <p:nvPr/>
        </p:nvSpPr>
        <p:spPr>
          <a:xfrm>
            <a:off x="609600" y="552450"/>
            <a:ext cx="1097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Tokens are the model’s text units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18"/>
          <p:cNvCxnSpPr/>
          <p:nvPr/>
        </p:nvCxnSpPr>
        <p:spPr>
          <a:xfrm>
            <a:off x="609600" y="13335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p18"/>
          <p:cNvCxnSpPr/>
          <p:nvPr/>
        </p:nvCxnSpPr>
        <p:spPr>
          <a:xfrm>
            <a:off x="609600" y="65627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p18"/>
          <p:cNvSpPr/>
          <p:nvPr/>
        </p:nvSpPr>
        <p:spPr>
          <a:xfrm>
            <a:off x="609600" y="6629400"/>
            <a:ext cx="933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Lecture 1  ·  Foundations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8"/>
          <p:cNvSpPr/>
          <p:nvPr/>
        </p:nvSpPr>
        <p:spPr>
          <a:xfrm>
            <a:off x="10953750" y="6610350"/>
            <a:ext cx="62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8"/>
          <p:cNvSpPr/>
          <p:nvPr/>
        </p:nvSpPr>
        <p:spPr>
          <a:xfrm>
            <a:off x="609600" y="1628775"/>
            <a:ext cx="20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8"/>
          <p:cNvSpPr/>
          <p:nvPr/>
        </p:nvSpPr>
        <p:spPr>
          <a:xfrm>
            <a:off x="904875" y="1628775"/>
            <a:ext cx="1067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token is one minimum unit of a language.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18"/>
          <p:cNvSpPr/>
          <p:nvPr/>
        </p:nvSpPr>
        <p:spPr>
          <a:xfrm>
            <a:off x="609600" y="2133600"/>
            <a:ext cx="20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18"/>
          <p:cNvSpPr/>
          <p:nvPr/>
        </p:nvSpPr>
        <p:spPr>
          <a:xfrm>
            <a:off x="904875" y="2133600"/>
            <a:ext cx="1067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token ID is the integer label for that unit.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18"/>
          <p:cNvSpPr/>
          <p:nvPr/>
        </p:nvSpPr>
        <p:spPr>
          <a:xfrm>
            <a:off x="3409950" y="3609975"/>
            <a:ext cx="552600" cy="8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18"/>
          <p:cNvSpPr/>
          <p:nvPr/>
        </p:nvSpPr>
        <p:spPr>
          <a:xfrm>
            <a:off x="8305800" y="3609975"/>
            <a:ext cx="552600" cy="8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18"/>
          <p:cNvSpPr/>
          <p:nvPr/>
        </p:nvSpPr>
        <p:spPr>
          <a:xfrm>
            <a:off x="742950" y="2962275"/>
            <a:ext cx="2143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8"/>
          <p:cNvSpPr/>
          <p:nvPr/>
        </p:nvSpPr>
        <p:spPr>
          <a:xfrm>
            <a:off x="742950" y="3381375"/>
            <a:ext cx="2333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lower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8"/>
          <p:cNvSpPr/>
          <p:nvPr/>
        </p:nvSpPr>
        <p:spPr>
          <a:xfrm>
            <a:off x="4248150" y="2962275"/>
            <a:ext cx="381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possible split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18"/>
          <p:cNvSpPr/>
          <p:nvPr/>
        </p:nvSpPr>
        <p:spPr>
          <a:xfrm>
            <a:off x="4248150" y="3381375"/>
            <a:ext cx="1047900" cy="6669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18"/>
          <p:cNvSpPr/>
          <p:nvPr/>
        </p:nvSpPr>
        <p:spPr>
          <a:xfrm>
            <a:off x="4276725" y="3400425"/>
            <a:ext cx="990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8"/>
          <p:cNvSpPr/>
          <p:nvPr/>
        </p:nvSpPr>
        <p:spPr>
          <a:xfrm>
            <a:off x="5448300" y="3381375"/>
            <a:ext cx="1047900" cy="6669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8"/>
          <p:cNvSpPr/>
          <p:nvPr/>
        </p:nvSpPr>
        <p:spPr>
          <a:xfrm>
            <a:off x="5476875" y="3400425"/>
            <a:ext cx="990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8"/>
          <p:cNvSpPr/>
          <p:nvPr/>
        </p:nvSpPr>
        <p:spPr>
          <a:xfrm>
            <a:off x="6648450" y="3381375"/>
            <a:ext cx="1047900" cy="6669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8"/>
          <p:cNvSpPr/>
          <p:nvPr/>
        </p:nvSpPr>
        <p:spPr>
          <a:xfrm>
            <a:off x="6677025" y="3400425"/>
            <a:ext cx="990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8"/>
          <p:cNvSpPr/>
          <p:nvPr/>
        </p:nvSpPr>
        <p:spPr>
          <a:xfrm>
            <a:off x="9124950" y="2962275"/>
            <a:ext cx="2457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8"/>
          <p:cNvSpPr/>
          <p:nvPr/>
        </p:nvSpPr>
        <p:spPr>
          <a:xfrm>
            <a:off x="9039225" y="3381375"/>
            <a:ext cx="2543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173F71"/>
                </a:solidFill>
                <a:latin typeface="Courier New"/>
                <a:ea typeface="Courier New"/>
                <a:cs typeface="Courier New"/>
                <a:sym typeface="Courier New"/>
              </a:rPr>
              <a:t>257, 101, 114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18"/>
          <p:cNvSpPr/>
          <p:nvPr/>
        </p:nvSpPr>
        <p:spPr>
          <a:xfrm>
            <a:off x="609600" y="4591050"/>
            <a:ext cx="209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18"/>
          <p:cNvSpPr/>
          <p:nvPr/>
        </p:nvSpPr>
        <p:spPr>
          <a:xfrm>
            <a:off x="904875" y="4591050"/>
            <a:ext cx="10677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Tokens may be words, word fragments, spaces or individual bytes.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18"/>
          <p:cNvSpPr/>
          <p:nvPr/>
        </p:nvSpPr>
        <p:spPr>
          <a:xfrm>
            <a:off x="609600" y="5715000"/>
            <a:ext cx="47700" cy="352500"/>
          </a:xfrm>
          <a:prstGeom prst="rect">
            <a:avLst/>
          </a:prstGeom>
          <a:solidFill>
            <a:srgbClr val="173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8"/>
          <p:cNvSpPr/>
          <p:nvPr/>
        </p:nvSpPr>
        <p:spPr>
          <a:xfrm>
            <a:off x="781050" y="5686425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tokenizer chooses the units. The model receives their IDs.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9"/>
          <p:cNvSpPr/>
          <p:nvPr/>
        </p:nvSpPr>
        <p:spPr>
          <a:xfrm>
            <a:off x="609600" y="219075"/>
            <a:ext cx="857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TOKENIZATION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9"/>
          <p:cNvSpPr/>
          <p:nvPr/>
        </p:nvSpPr>
        <p:spPr>
          <a:xfrm>
            <a:off x="609600" y="552450"/>
            <a:ext cx="1097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Why choosing tokens is a trade-off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0" name="Google Shape;1130;p19"/>
          <p:cNvCxnSpPr/>
          <p:nvPr/>
        </p:nvCxnSpPr>
        <p:spPr>
          <a:xfrm>
            <a:off x="609600" y="13335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p19"/>
          <p:cNvCxnSpPr/>
          <p:nvPr/>
        </p:nvCxnSpPr>
        <p:spPr>
          <a:xfrm>
            <a:off x="609600" y="65627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2" name="Google Shape;1132;p19"/>
          <p:cNvSpPr/>
          <p:nvPr/>
        </p:nvSpPr>
        <p:spPr>
          <a:xfrm>
            <a:off x="609600" y="6629400"/>
            <a:ext cx="933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Lecture 1  ·  Foundations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9"/>
          <p:cNvSpPr/>
          <p:nvPr/>
        </p:nvSpPr>
        <p:spPr>
          <a:xfrm>
            <a:off x="10953750" y="6610350"/>
            <a:ext cx="62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9"/>
          <p:cNvSpPr/>
          <p:nvPr/>
        </p:nvSpPr>
        <p:spPr>
          <a:xfrm>
            <a:off x="609600" y="1714500"/>
            <a:ext cx="17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9"/>
          <p:cNvSpPr/>
          <p:nvPr/>
        </p:nvSpPr>
        <p:spPr>
          <a:xfrm>
            <a:off x="2438400" y="1695450"/>
            <a:ext cx="899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unhappiness, GPT-6, 3.14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9"/>
          <p:cNvSpPr/>
          <p:nvPr/>
        </p:nvSpPr>
        <p:spPr>
          <a:xfrm>
            <a:off x="2438400" y="2238375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New words, names and numbers keep appearing.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7" name="Google Shape;1137;p19"/>
          <p:cNvCxnSpPr/>
          <p:nvPr/>
        </p:nvCxnSpPr>
        <p:spPr>
          <a:xfrm>
            <a:off x="609600" y="28194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8" name="Google Shape;1138;p19"/>
          <p:cNvSpPr/>
          <p:nvPr/>
        </p:nvSpPr>
        <p:spPr>
          <a:xfrm>
            <a:off x="609600" y="2962275"/>
            <a:ext cx="17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Chinese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"/>
          <p:cNvSpPr/>
          <p:nvPr/>
        </p:nvSpPr>
        <p:spPr>
          <a:xfrm>
            <a:off x="2438400" y="2943225"/>
            <a:ext cx="899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625"/>
              <a:buFont typeface="Arial"/>
              <a:buNone/>
            </a:pPr>
            <a:r>
              <a:rPr b="0" i="0" lang="en-US" sz="262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我喜欢机器学习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"/>
          <p:cNvSpPr/>
          <p:nvPr/>
        </p:nvSpPr>
        <p:spPr>
          <a:xfrm>
            <a:off x="2438400" y="3486150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Word boundaries are usually not marked by spaces.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1" name="Google Shape;1141;p19"/>
          <p:cNvCxnSpPr/>
          <p:nvPr/>
        </p:nvCxnSpPr>
        <p:spPr>
          <a:xfrm>
            <a:off x="609600" y="406717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2" name="Google Shape;1142;p19"/>
          <p:cNvSpPr/>
          <p:nvPr/>
        </p:nvSpPr>
        <p:spPr>
          <a:xfrm>
            <a:off x="609600" y="4210050"/>
            <a:ext cx="1733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Bytes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9"/>
          <p:cNvSpPr/>
          <p:nvPr/>
        </p:nvSpPr>
        <p:spPr>
          <a:xfrm>
            <a:off x="2438400" y="4191000"/>
            <a:ext cx="899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cat → 63 61 74      猫 → E7 8C AB  (hex)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19"/>
          <p:cNvSpPr/>
          <p:nvPr/>
        </p:nvSpPr>
        <p:spPr>
          <a:xfrm>
            <a:off x="2438400" y="4733925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256 byte values cover UTF-8; byte sequences can be long.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"/>
          <p:cNvSpPr/>
          <p:nvPr/>
        </p:nvSpPr>
        <p:spPr>
          <a:xfrm>
            <a:off x="609600" y="5715000"/>
            <a:ext cx="47700" cy="352500"/>
          </a:xfrm>
          <a:prstGeom prst="rect">
            <a:avLst/>
          </a:prstGeom>
          <a:solidFill>
            <a:srgbClr val="173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"/>
          <p:cNvSpPr/>
          <p:nvPr/>
        </p:nvSpPr>
        <p:spPr>
          <a:xfrm>
            <a:off x="781050" y="5686425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Compression gives us compact units while retaining byte coverage.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0"/>
          <p:cNvSpPr/>
          <p:nvPr/>
        </p:nvSpPr>
        <p:spPr>
          <a:xfrm>
            <a:off x="609600" y="219075"/>
            <a:ext cx="857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TOKENIZATION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20"/>
          <p:cNvSpPr/>
          <p:nvPr/>
        </p:nvSpPr>
        <p:spPr>
          <a:xfrm>
            <a:off x="609600" y="552450"/>
            <a:ext cx="1097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Byte-pair encoding (BPE)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4" name="Google Shape;1154;p20"/>
          <p:cNvCxnSpPr/>
          <p:nvPr/>
        </p:nvCxnSpPr>
        <p:spPr>
          <a:xfrm>
            <a:off x="609600" y="13335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20"/>
          <p:cNvCxnSpPr/>
          <p:nvPr/>
        </p:nvCxnSpPr>
        <p:spPr>
          <a:xfrm>
            <a:off x="609600" y="65627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6" name="Google Shape;1156;p20"/>
          <p:cNvSpPr/>
          <p:nvPr/>
        </p:nvSpPr>
        <p:spPr>
          <a:xfrm>
            <a:off x="609600" y="6629400"/>
            <a:ext cx="933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Lecture 1  ·  Foundations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0"/>
          <p:cNvSpPr/>
          <p:nvPr/>
        </p:nvSpPr>
        <p:spPr>
          <a:xfrm>
            <a:off x="10953750" y="6610350"/>
            <a:ext cx="62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0"/>
          <p:cNvSpPr/>
          <p:nvPr/>
        </p:nvSpPr>
        <p:spPr>
          <a:xfrm>
            <a:off x="609600" y="1485900"/>
            <a:ext cx="2639400" cy="19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Count adjacent pairs → merge the most frequent → repeat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0"/>
          <p:cNvSpPr/>
          <p:nvPr/>
        </p:nvSpPr>
        <p:spPr>
          <a:xfrm>
            <a:off x="609600" y="620077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Gage (1994): compression origin · Sennrich et al. (2016): subword tokenization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0" name="Google Shape;1160;p20" title="BPE_Merge_Walkthrough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350" y="2436875"/>
            <a:ext cx="8638200" cy="32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1"/>
          <p:cNvSpPr/>
          <p:nvPr/>
        </p:nvSpPr>
        <p:spPr>
          <a:xfrm>
            <a:off x="609600" y="219075"/>
            <a:ext cx="857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TOKENIZATION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609600" y="552450"/>
            <a:ext cx="1097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Train once, reuse the learned merges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8" name="Google Shape;1168;p21"/>
          <p:cNvCxnSpPr/>
          <p:nvPr/>
        </p:nvCxnSpPr>
        <p:spPr>
          <a:xfrm>
            <a:off x="609600" y="133350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9" name="Google Shape;1169;p21"/>
          <p:cNvCxnSpPr/>
          <p:nvPr/>
        </p:nvCxnSpPr>
        <p:spPr>
          <a:xfrm>
            <a:off x="609600" y="65627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0" name="Google Shape;1170;p21"/>
          <p:cNvSpPr/>
          <p:nvPr/>
        </p:nvSpPr>
        <p:spPr>
          <a:xfrm>
            <a:off x="609600" y="6629400"/>
            <a:ext cx="933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Lecture 1  ·  Foundations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1"/>
          <p:cNvSpPr/>
          <p:nvPr/>
        </p:nvSpPr>
        <p:spPr>
          <a:xfrm>
            <a:off x="10953750" y="6610350"/>
            <a:ext cx="62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1"/>
          <p:cNvSpPr/>
          <p:nvPr/>
        </p:nvSpPr>
        <p:spPr>
          <a:xfrm>
            <a:off x="609600" y="1676400"/>
            <a:ext cx="44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Learn once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1"/>
          <p:cNvSpPr/>
          <p:nvPr/>
        </p:nvSpPr>
        <p:spPr>
          <a:xfrm>
            <a:off x="609600" y="2266950"/>
            <a:ext cx="5133900" cy="609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/>
          <p:nvPr/>
        </p:nvSpPr>
        <p:spPr>
          <a:xfrm>
            <a:off x="723900" y="2295525"/>
            <a:ext cx="638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/>
          <p:nvPr/>
        </p:nvSpPr>
        <p:spPr>
          <a:xfrm>
            <a:off x="1590675" y="2295525"/>
            <a:ext cx="2962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1"/>
          <p:cNvSpPr/>
          <p:nvPr/>
        </p:nvSpPr>
        <p:spPr>
          <a:xfrm>
            <a:off x="4781550" y="2295525"/>
            <a:ext cx="847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New ID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7" name="Google Shape;1177;p21"/>
          <p:cNvCxnSpPr/>
          <p:nvPr/>
        </p:nvCxnSpPr>
        <p:spPr>
          <a:xfrm>
            <a:off x="609600" y="2876550"/>
            <a:ext cx="51339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8" name="Google Shape;1178;p21"/>
          <p:cNvSpPr/>
          <p:nvPr/>
        </p:nvSpPr>
        <p:spPr>
          <a:xfrm>
            <a:off x="723900" y="2905125"/>
            <a:ext cx="638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1590675" y="2905125"/>
            <a:ext cx="2962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l + o → lo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/>
          <p:nvPr/>
        </p:nvSpPr>
        <p:spPr>
          <a:xfrm>
            <a:off x="4781550" y="2905125"/>
            <a:ext cx="847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256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1" name="Google Shape;1181;p21"/>
          <p:cNvCxnSpPr/>
          <p:nvPr/>
        </p:nvCxnSpPr>
        <p:spPr>
          <a:xfrm>
            <a:off x="609600" y="3486150"/>
            <a:ext cx="51339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2" name="Google Shape;1182;p21"/>
          <p:cNvSpPr/>
          <p:nvPr/>
        </p:nvSpPr>
        <p:spPr>
          <a:xfrm>
            <a:off x="723900" y="3514725"/>
            <a:ext cx="638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21"/>
          <p:cNvSpPr/>
          <p:nvPr/>
        </p:nvSpPr>
        <p:spPr>
          <a:xfrm>
            <a:off x="1590675" y="3514725"/>
            <a:ext cx="2962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lo + w → 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21"/>
          <p:cNvSpPr/>
          <p:nvPr/>
        </p:nvSpPr>
        <p:spPr>
          <a:xfrm>
            <a:off x="4781550" y="3514725"/>
            <a:ext cx="847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257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5" name="Google Shape;1185;p21"/>
          <p:cNvCxnSpPr/>
          <p:nvPr/>
        </p:nvCxnSpPr>
        <p:spPr>
          <a:xfrm>
            <a:off x="609600" y="4095750"/>
            <a:ext cx="51339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21"/>
          <p:cNvSpPr/>
          <p:nvPr/>
        </p:nvSpPr>
        <p:spPr>
          <a:xfrm>
            <a:off x="723900" y="4124325"/>
            <a:ext cx="638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1"/>
          <p:cNvSpPr/>
          <p:nvPr/>
        </p:nvSpPr>
        <p:spPr>
          <a:xfrm>
            <a:off x="1590675" y="4124325"/>
            <a:ext cx="2962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low + · → low·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21"/>
          <p:cNvSpPr/>
          <p:nvPr/>
        </p:nvSpPr>
        <p:spPr>
          <a:xfrm>
            <a:off x="4781550" y="4124325"/>
            <a:ext cx="847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258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9" name="Google Shape;1189;p21"/>
          <p:cNvCxnSpPr/>
          <p:nvPr/>
        </p:nvCxnSpPr>
        <p:spPr>
          <a:xfrm>
            <a:off x="609600" y="4705350"/>
            <a:ext cx="5133900" cy="0"/>
          </a:xfrm>
          <a:prstGeom prst="straightConnector1">
            <a:avLst/>
          </a:prstGeom>
          <a:noFill/>
          <a:ln cap="flat" cmpd="sng" w="9525">
            <a:solidFill>
              <a:srgbClr val="CB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0" name="Google Shape;1190;p21"/>
          <p:cNvSpPr/>
          <p:nvPr/>
        </p:nvSpPr>
        <p:spPr>
          <a:xfrm>
            <a:off x="6524625" y="1676400"/>
            <a:ext cx="5057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Apply many times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21"/>
          <p:cNvSpPr/>
          <p:nvPr/>
        </p:nvSpPr>
        <p:spPr>
          <a:xfrm>
            <a:off x="6524625" y="2257425"/>
            <a:ext cx="209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21"/>
          <p:cNvSpPr/>
          <p:nvPr/>
        </p:nvSpPr>
        <p:spPr>
          <a:xfrm>
            <a:off x="6819900" y="2257425"/>
            <a:ext cx="4762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Use the saved merges in priority order.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21"/>
          <p:cNvSpPr/>
          <p:nvPr/>
        </p:nvSpPr>
        <p:spPr>
          <a:xfrm>
            <a:off x="6524625" y="3105150"/>
            <a:ext cx="209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1"/>
          <p:cNvSpPr/>
          <p:nvPr/>
        </p:nvSpPr>
        <p:spPr>
          <a:xfrm>
            <a:off x="6819900" y="3105150"/>
            <a:ext cx="4762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Create no new vocabulary entries.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1"/>
          <p:cNvSpPr/>
          <p:nvPr/>
        </p:nvSpPr>
        <p:spPr>
          <a:xfrm>
            <a:off x="6524625" y="4029075"/>
            <a:ext cx="5057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New text: low lower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1"/>
          <p:cNvSpPr/>
          <p:nvPr/>
        </p:nvSpPr>
        <p:spPr>
          <a:xfrm>
            <a:off x="6524625" y="4638675"/>
            <a:ext cx="1066800" cy="552600"/>
          </a:xfrm>
          <a:prstGeom prst="rect">
            <a:avLst/>
          </a:prstGeom>
          <a:solidFill>
            <a:srgbClr val="EAF5FB"/>
          </a:solidFill>
          <a:ln cap="flat" cmpd="sng" w="152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1"/>
          <p:cNvSpPr/>
          <p:nvPr/>
        </p:nvSpPr>
        <p:spPr>
          <a:xfrm>
            <a:off x="6553200" y="4657725"/>
            <a:ext cx="1009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173F71"/>
                </a:solidFill>
                <a:latin typeface="Courier New"/>
                <a:ea typeface="Courier New"/>
                <a:cs typeface="Courier New"/>
                <a:sym typeface="Courier New"/>
              </a:rPr>
              <a:t>low·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1"/>
          <p:cNvSpPr/>
          <p:nvPr/>
        </p:nvSpPr>
        <p:spPr>
          <a:xfrm>
            <a:off x="6524625" y="52578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7909B"/>
                </a:solidFill>
                <a:latin typeface="Courier New"/>
                <a:ea typeface="Courier New"/>
                <a:cs typeface="Courier New"/>
                <a:sym typeface="Courier New"/>
              </a:rPr>
              <a:t>258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1"/>
          <p:cNvSpPr/>
          <p:nvPr/>
        </p:nvSpPr>
        <p:spPr>
          <a:xfrm>
            <a:off x="7724775" y="4638675"/>
            <a:ext cx="1066800" cy="552600"/>
          </a:xfrm>
          <a:prstGeom prst="rect">
            <a:avLst/>
          </a:prstGeom>
          <a:solidFill>
            <a:srgbClr val="EAF5FB"/>
          </a:solidFill>
          <a:ln cap="flat" cmpd="sng" w="152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7753350" y="4657725"/>
            <a:ext cx="1009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173F71"/>
                </a:solidFill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7724775" y="52578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7909B"/>
                </a:solidFill>
                <a:latin typeface="Courier New"/>
                <a:ea typeface="Courier New"/>
                <a:cs typeface="Courier New"/>
                <a:sym typeface="Courier New"/>
              </a:rPr>
              <a:t>257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8924925" y="4638675"/>
            <a:ext cx="1066800" cy="552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8953500" y="4657725"/>
            <a:ext cx="1009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8924925" y="52578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7909B"/>
                </a:solidFill>
                <a:latin typeface="Courier New"/>
                <a:ea typeface="Courier New"/>
                <a:cs typeface="Courier New"/>
                <a:sym typeface="Courier New"/>
              </a:rPr>
              <a:t>101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10125075" y="4638675"/>
            <a:ext cx="1066800" cy="552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10153650" y="4657725"/>
            <a:ext cx="1009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B0C0E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10125075" y="52578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7909B"/>
                </a:solidFill>
                <a:latin typeface="Courier New"/>
                <a:ea typeface="Courier New"/>
                <a:cs typeface="Courier New"/>
                <a:sym typeface="Courier New"/>
              </a:rPr>
              <a:t>114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609600" y="5715000"/>
            <a:ext cx="47700" cy="352500"/>
          </a:xfrm>
          <a:prstGeom prst="rect">
            <a:avLst/>
          </a:prstGeom>
          <a:solidFill>
            <a:srgbClr val="173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781050" y="5686425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Use the trained tokenizer; its token IDs select embedding rows.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609600" y="4848225"/>
            <a:ext cx="513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Space merges depend 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pre-tokenization rules.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2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3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Vocabulary size trades sequence length for storage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8" name="Google Shape;1218;p2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9" name="Google Shape;1219;p2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2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2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22"/>
          <p:cNvSpPr/>
          <p:nvPr/>
        </p:nvSpPr>
        <p:spPr>
          <a:xfrm>
            <a:off x="685800" y="1657350"/>
            <a:ext cx="5734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TOKENIZER HYPERPARAMETER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2"/>
          <p:cNvSpPr/>
          <p:nvPr/>
        </p:nvSpPr>
        <p:spPr>
          <a:xfrm>
            <a:off x="685800" y="1981200"/>
            <a:ext cx="5734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Shorter sequences require a larger embedding vocabulary.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22"/>
          <p:cNvSpPr/>
          <p:nvPr/>
        </p:nvSpPr>
        <p:spPr>
          <a:xfrm>
            <a:off x="685800" y="2895600"/>
            <a:ext cx="57342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Larger V can reduce the number of tokens 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Input embedding stores V × d weights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An untied output head stores another d ×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Rare vocabulary pieces receive less 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2"/>
          <p:cNvSpPr/>
          <p:nvPr/>
        </p:nvSpPr>
        <p:spPr>
          <a:xfrm>
            <a:off x="6762750" y="1714500"/>
            <a:ext cx="18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SMALLER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2"/>
          <p:cNvSpPr/>
          <p:nvPr/>
        </p:nvSpPr>
        <p:spPr>
          <a:xfrm>
            <a:off x="9239250" y="1714500"/>
            <a:ext cx="18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LARGER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2"/>
          <p:cNvSpPr/>
          <p:nvPr/>
        </p:nvSpPr>
        <p:spPr>
          <a:xfrm>
            <a:off x="6667500" y="2238375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2"/>
          <p:cNvSpPr/>
          <p:nvPr/>
        </p:nvSpPr>
        <p:spPr>
          <a:xfrm>
            <a:off x="6667500" y="22383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2"/>
          <p:cNvSpPr/>
          <p:nvPr/>
        </p:nvSpPr>
        <p:spPr>
          <a:xfrm>
            <a:off x="7067550" y="2209800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longer token sequences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22"/>
          <p:cNvSpPr/>
          <p:nvPr/>
        </p:nvSpPr>
        <p:spPr>
          <a:xfrm>
            <a:off x="6667500" y="2857500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2"/>
          <p:cNvSpPr/>
          <p:nvPr/>
        </p:nvSpPr>
        <p:spPr>
          <a:xfrm>
            <a:off x="6667500" y="28575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2"/>
          <p:cNvSpPr/>
          <p:nvPr/>
        </p:nvSpPr>
        <p:spPr>
          <a:xfrm>
            <a:off x="7067550" y="2828925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smaller V×d matrices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2"/>
          <p:cNvSpPr/>
          <p:nvPr/>
        </p:nvSpPr>
        <p:spPr>
          <a:xfrm>
            <a:off x="6667500" y="3476625"/>
            <a:ext cx="228600" cy="2286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2"/>
          <p:cNvSpPr/>
          <p:nvPr/>
        </p:nvSpPr>
        <p:spPr>
          <a:xfrm>
            <a:off x="6667500" y="34766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2"/>
          <p:cNvSpPr/>
          <p:nvPr/>
        </p:nvSpPr>
        <p:spPr>
          <a:xfrm>
            <a:off x="7067550" y="3448050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more byte fragmentation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2"/>
          <p:cNvSpPr/>
          <p:nvPr/>
        </p:nvSpPr>
        <p:spPr>
          <a:xfrm>
            <a:off x="9124950" y="2238375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2"/>
          <p:cNvSpPr/>
          <p:nvPr/>
        </p:nvSpPr>
        <p:spPr>
          <a:xfrm>
            <a:off x="9124950" y="22383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2"/>
          <p:cNvSpPr/>
          <p:nvPr/>
        </p:nvSpPr>
        <p:spPr>
          <a:xfrm>
            <a:off x="9525000" y="2209800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shorter token sequences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2"/>
          <p:cNvSpPr/>
          <p:nvPr/>
        </p:nvSpPr>
        <p:spPr>
          <a:xfrm>
            <a:off x="9124950" y="2857500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2"/>
          <p:cNvSpPr/>
          <p:nvPr/>
        </p:nvSpPr>
        <p:spPr>
          <a:xfrm>
            <a:off x="9124950" y="28575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2"/>
          <p:cNvSpPr/>
          <p:nvPr/>
        </p:nvSpPr>
        <p:spPr>
          <a:xfrm>
            <a:off x="9525000" y="2828925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larger V×d matrices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2"/>
          <p:cNvSpPr/>
          <p:nvPr/>
        </p:nvSpPr>
        <p:spPr>
          <a:xfrm>
            <a:off x="9124950" y="3476625"/>
            <a:ext cx="228600" cy="2286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2"/>
          <p:cNvSpPr/>
          <p:nvPr/>
        </p:nvSpPr>
        <p:spPr>
          <a:xfrm>
            <a:off x="9124950" y="34766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2"/>
          <p:cNvSpPr/>
          <p:nvPr/>
        </p:nvSpPr>
        <p:spPr>
          <a:xfrm>
            <a:off x="9525000" y="3448050"/>
            <a:ext cx="1714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more rare pieces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2"/>
          <p:cNvSpPr/>
          <p:nvPr/>
        </p:nvSpPr>
        <p:spPr>
          <a:xfrm>
            <a:off x="6591300" y="4362450"/>
            <a:ext cx="4724400" cy="590700"/>
          </a:xfrm>
          <a:prstGeom prst="roundRect">
            <a:avLst>
              <a:gd fmla="val 29032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2"/>
          <p:cNvSpPr/>
          <p:nvPr/>
        </p:nvSpPr>
        <p:spPr>
          <a:xfrm>
            <a:off x="6762750" y="4373499"/>
            <a:ext cx="43815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embedding params = Vd    ·    untied input + output ≈ 2Vd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2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2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19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Multilingual tokenizers often use larger vocabularies because useful pieces must be shared across many scripts and languages.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3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p2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5" name="Google Shape;1265;p2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2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2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2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2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3"/>
          <p:cNvSpPr/>
          <p:nvPr/>
        </p:nvSpPr>
        <p:spPr>
          <a:xfrm>
            <a:off x="552450" y="1619250"/>
            <a:ext cx="4191000" cy="3981600"/>
          </a:xfrm>
          <a:prstGeom prst="roundRect">
            <a:avLst>
              <a:gd fmla="val 5263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7" name="Google Shape;1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993" y="1771650"/>
            <a:ext cx="2841914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23"/>
          <p:cNvSpPr/>
          <p:nvPr/>
        </p:nvSpPr>
        <p:spPr>
          <a:xfrm>
            <a:off x="5276850" y="1733550"/>
            <a:ext cx="5962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2017 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23"/>
          <p:cNvSpPr/>
          <p:nvPr/>
        </p:nvSpPr>
        <p:spPr>
          <a:xfrm>
            <a:off x="5276850" y="2057400"/>
            <a:ext cx="5962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encoder reads the source; the decoder predicts the target.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23"/>
          <p:cNvSpPr/>
          <p:nvPr/>
        </p:nvSpPr>
        <p:spPr>
          <a:xfrm>
            <a:off x="5276850" y="2971800"/>
            <a:ext cx="59628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Encoder output — one contextual vector per source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Decoder self-attention reads the target prefix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Cross-attention reads encoder outputs as K and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Examples — T5, BART, and translation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23"/>
          <p:cNvSpPr/>
          <p:nvPr/>
        </p:nvSpPr>
        <p:spPr>
          <a:xfrm>
            <a:off x="5353050" y="4895850"/>
            <a:ext cx="5810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Examples include T5, BART, MarianMT and many translation models.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23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Vaswani et al. (2017), Figure 1. Original figure reproduced in the supplied CS336 lecture.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25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Our toy decoder configuration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0" name="Google Shape;1290;p2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1" name="Google Shape;1291;p2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2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2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2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2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2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2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2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2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5"/>
          <p:cNvSpPr/>
          <p:nvPr/>
        </p:nvSpPr>
        <p:spPr>
          <a:xfrm>
            <a:off x="685800" y="1657350"/>
            <a:ext cx="4629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TEACHING INSTANCE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5"/>
          <p:cNvSpPr/>
          <p:nvPr/>
        </p:nvSpPr>
        <p:spPr>
          <a:xfrm>
            <a:off x="685800" y="1981200"/>
            <a:ext cx="4629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08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small configuration for shapes and cost calculations.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25"/>
          <p:cNvSpPr/>
          <p:nvPr/>
        </p:nvSpPr>
        <p:spPr>
          <a:xfrm>
            <a:off x="685800" y="2895600"/>
            <a:ext cx="4629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block with four independent MHA heads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RMSNorm, RoPE, and a 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 = H × dₕ = 4 × 32 = 128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d_ff = 344; input and output embeddings tied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25"/>
          <p:cNvSpPr/>
          <p:nvPr/>
        </p:nvSpPr>
        <p:spPr>
          <a:xfrm>
            <a:off x="5810250" y="1638300"/>
            <a:ext cx="5619900" cy="37149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25"/>
          <p:cNvSpPr/>
          <p:nvPr/>
        </p:nvSpPr>
        <p:spPr>
          <a:xfrm>
            <a:off x="6076950" y="1847850"/>
            <a:ext cx="2476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25"/>
          <p:cNvSpPr/>
          <p:nvPr/>
        </p:nvSpPr>
        <p:spPr>
          <a:xfrm>
            <a:off x="8915400" y="1847850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SYMBOL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25"/>
          <p:cNvSpPr/>
          <p:nvPr/>
        </p:nvSpPr>
        <p:spPr>
          <a:xfrm>
            <a:off x="10210800" y="1847850"/>
            <a:ext cx="895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75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25"/>
          <p:cNvSpPr/>
          <p:nvPr/>
        </p:nvSpPr>
        <p:spPr>
          <a:xfrm>
            <a:off x="5962650" y="2114550"/>
            <a:ext cx="52578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5"/>
          <p:cNvSpPr/>
          <p:nvPr/>
        </p:nvSpPr>
        <p:spPr>
          <a:xfrm>
            <a:off x="6115050" y="2152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25"/>
          <p:cNvSpPr/>
          <p:nvPr/>
        </p:nvSpPr>
        <p:spPr>
          <a:xfrm>
            <a:off x="8934450" y="2152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25"/>
          <p:cNvSpPr/>
          <p:nvPr/>
        </p:nvSpPr>
        <p:spPr>
          <a:xfrm>
            <a:off x="10115550" y="2152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25"/>
          <p:cNvSpPr/>
          <p:nvPr/>
        </p:nvSpPr>
        <p:spPr>
          <a:xfrm>
            <a:off x="6115050" y="2533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5"/>
          <p:cNvSpPr/>
          <p:nvPr/>
        </p:nvSpPr>
        <p:spPr>
          <a:xfrm>
            <a:off x="8934450" y="2533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25"/>
          <p:cNvSpPr/>
          <p:nvPr/>
        </p:nvSpPr>
        <p:spPr>
          <a:xfrm>
            <a:off x="10115550" y="2533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25"/>
          <p:cNvSpPr/>
          <p:nvPr/>
        </p:nvSpPr>
        <p:spPr>
          <a:xfrm>
            <a:off x="5962650" y="2876550"/>
            <a:ext cx="52578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25"/>
          <p:cNvSpPr/>
          <p:nvPr/>
        </p:nvSpPr>
        <p:spPr>
          <a:xfrm>
            <a:off x="6115050" y="2914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5"/>
          <p:cNvSpPr/>
          <p:nvPr/>
        </p:nvSpPr>
        <p:spPr>
          <a:xfrm>
            <a:off x="8934450" y="2914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25"/>
          <p:cNvSpPr/>
          <p:nvPr/>
        </p:nvSpPr>
        <p:spPr>
          <a:xfrm>
            <a:off x="10115550" y="2914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2,048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5"/>
          <p:cNvSpPr/>
          <p:nvPr/>
        </p:nvSpPr>
        <p:spPr>
          <a:xfrm>
            <a:off x="6115050" y="3295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model width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5"/>
          <p:cNvSpPr/>
          <p:nvPr/>
        </p:nvSpPr>
        <p:spPr>
          <a:xfrm>
            <a:off x="8934450" y="3295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5"/>
          <p:cNvSpPr/>
          <p:nvPr/>
        </p:nvSpPr>
        <p:spPr>
          <a:xfrm>
            <a:off x="10115550" y="3295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5"/>
          <p:cNvSpPr/>
          <p:nvPr/>
        </p:nvSpPr>
        <p:spPr>
          <a:xfrm>
            <a:off x="5962650" y="3638550"/>
            <a:ext cx="52578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25"/>
          <p:cNvSpPr/>
          <p:nvPr/>
        </p:nvSpPr>
        <p:spPr>
          <a:xfrm>
            <a:off x="6115050" y="3676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blocks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5"/>
          <p:cNvSpPr/>
          <p:nvPr/>
        </p:nvSpPr>
        <p:spPr>
          <a:xfrm>
            <a:off x="8934450" y="3676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25"/>
          <p:cNvSpPr/>
          <p:nvPr/>
        </p:nvSpPr>
        <p:spPr>
          <a:xfrm>
            <a:off x="10115550" y="3676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5"/>
          <p:cNvSpPr/>
          <p:nvPr/>
        </p:nvSpPr>
        <p:spPr>
          <a:xfrm>
            <a:off x="6115050" y="4057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heads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25"/>
          <p:cNvSpPr/>
          <p:nvPr/>
        </p:nvSpPr>
        <p:spPr>
          <a:xfrm>
            <a:off x="8934450" y="4057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5"/>
          <p:cNvSpPr/>
          <p:nvPr/>
        </p:nvSpPr>
        <p:spPr>
          <a:xfrm>
            <a:off x="10115550" y="4057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25"/>
          <p:cNvSpPr/>
          <p:nvPr/>
        </p:nvSpPr>
        <p:spPr>
          <a:xfrm>
            <a:off x="5962650" y="4400550"/>
            <a:ext cx="52578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25"/>
          <p:cNvSpPr/>
          <p:nvPr/>
        </p:nvSpPr>
        <p:spPr>
          <a:xfrm>
            <a:off x="6115050" y="4438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head width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5"/>
          <p:cNvSpPr/>
          <p:nvPr/>
        </p:nvSpPr>
        <p:spPr>
          <a:xfrm>
            <a:off x="8934450" y="4438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25"/>
          <p:cNvSpPr/>
          <p:nvPr/>
        </p:nvSpPr>
        <p:spPr>
          <a:xfrm>
            <a:off x="10115550" y="4438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25"/>
          <p:cNvSpPr/>
          <p:nvPr/>
        </p:nvSpPr>
        <p:spPr>
          <a:xfrm>
            <a:off x="6115050" y="4819650"/>
            <a:ext cx="2571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SwiGLU width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5"/>
          <p:cNvSpPr/>
          <p:nvPr/>
        </p:nvSpPr>
        <p:spPr>
          <a:xfrm>
            <a:off x="8934450" y="4819650"/>
            <a:ext cx="819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d_ff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25"/>
          <p:cNvSpPr/>
          <p:nvPr/>
        </p:nvSpPr>
        <p:spPr>
          <a:xfrm>
            <a:off x="10115550" y="4819650"/>
            <a:ext cx="95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344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25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25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Teaching assumptions: bias-free projections, MHA, pre-RMSNorm, RoPE, SwiGLU, tied embeddings.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2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26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rule for counting matrix-multiply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6" name="Google Shape;1346;p2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7" name="Google Shape;1347;p2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2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2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2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2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2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2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2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2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2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2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26"/>
          <p:cNvSpPr/>
          <p:nvPr/>
        </p:nvSpPr>
        <p:spPr>
          <a:xfrm>
            <a:off x="685800" y="1657350"/>
            <a:ext cx="523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125"/>
              <a:buFont typeface="Arial"/>
              <a:buNone/>
            </a:pPr>
            <a:r>
              <a:rPr b="1" i="0" lang="en-US" sz="12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THE REUSABLE RULE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26"/>
          <p:cNvSpPr/>
          <p:nvPr/>
        </p:nvSpPr>
        <p:spPr>
          <a:xfrm>
            <a:off x="685800" y="2047875"/>
            <a:ext cx="5143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10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Count the outputs, then the work per output.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26"/>
          <p:cNvSpPr/>
          <p:nvPr/>
        </p:nvSpPr>
        <p:spPr>
          <a:xfrm>
            <a:off x="685800" y="3028950"/>
            <a:ext cx="50484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9538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[m,k] × [k,n] produces m × n outputs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output is a length-k dot product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multiply + one add count as two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Leading cost ≈ 2mkn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26"/>
          <p:cNvSpPr/>
          <p:nvPr/>
        </p:nvSpPr>
        <p:spPr>
          <a:xfrm>
            <a:off x="6286500" y="1838325"/>
            <a:ext cx="4953000" cy="609600"/>
          </a:xfrm>
          <a:prstGeom prst="roundRect">
            <a:avLst>
              <a:gd fmla="val 12500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[m,k]  ×  [k,n]  →  [m,n]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26"/>
          <p:cNvSpPr/>
          <p:nvPr/>
        </p:nvSpPr>
        <p:spPr>
          <a:xfrm>
            <a:off x="6496050" y="2838450"/>
            <a:ext cx="4714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Example — three QKV projections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6"/>
          <p:cNvSpPr/>
          <p:nvPr/>
        </p:nvSpPr>
        <p:spPr>
          <a:xfrm>
            <a:off x="6496050" y="3352800"/>
            <a:ext cx="4572000" cy="1104900"/>
          </a:xfrm>
          <a:prstGeom prst="roundRect">
            <a:avLst>
              <a:gd fmla="val 689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projection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 × [d,d] →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25"/>
              <a:buFont typeface="Arial"/>
              <a:buNone/>
            </a:pPr>
            <a:r>
              <a:rPr b="0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2BTd²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6"/>
          <p:cNvSpPr/>
          <p:nvPr/>
        </p:nvSpPr>
        <p:spPr>
          <a:xfrm>
            <a:off x="6334125" y="4800600"/>
            <a:ext cx="4953000" cy="733500"/>
          </a:xfrm>
          <a:prstGeom prst="roundRect">
            <a:avLst>
              <a:gd fmla="val 1039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Three projections = 6BTd²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5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B=1, T=16, d=128 → 1.573 MFLOPs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26"/>
          <p:cNvSpPr/>
          <p:nvPr/>
        </p:nvSpPr>
        <p:spPr>
          <a:xfrm>
            <a:off x="685800" y="5584698"/>
            <a:ext cx="105729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Leading matrix counts omit biases and smaller elementwise operations; weight storage is counted separately.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7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27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Tensor shapes through the decoder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3" name="Google Shape;1373;p27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4" name="Google Shape;1374;p27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27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27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27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27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7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27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27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7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7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27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7"/>
          <p:cNvSpPr/>
          <p:nvPr/>
        </p:nvSpPr>
        <p:spPr>
          <a:xfrm>
            <a:off x="685800" y="1657350"/>
            <a:ext cx="504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SHAPE SCAFFOLD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27"/>
          <p:cNvSpPr/>
          <p:nvPr/>
        </p:nvSpPr>
        <p:spPr>
          <a:xfrm>
            <a:off x="685800" y="1981200"/>
            <a:ext cx="5048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Track temporary shapes as well as the residual stream.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7"/>
          <p:cNvSpPr/>
          <p:nvPr/>
        </p:nvSpPr>
        <p:spPr>
          <a:xfrm>
            <a:off x="685800" y="2895600"/>
            <a:ext cx="50484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Residual stream stays [B,T,d] between blocks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Attention introduces a head axis and pairwise scores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FFN temporarily expands d to d_ff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Generation selects the final position before the LM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27"/>
          <p:cNvSpPr/>
          <p:nvPr/>
        </p:nvSpPr>
        <p:spPr>
          <a:xfrm>
            <a:off x="6000750" y="2247900"/>
            <a:ext cx="952500" cy="7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27"/>
          <p:cNvSpPr/>
          <p:nvPr/>
        </p:nvSpPr>
        <p:spPr>
          <a:xfrm>
            <a:off x="6134100" y="2324100"/>
            <a:ext cx="685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[B,T]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7"/>
          <p:cNvSpPr/>
          <p:nvPr/>
        </p:nvSpPr>
        <p:spPr>
          <a:xfrm>
            <a:off x="7105650" y="2247900"/>
            <a:ext cx="952500" cy="7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6DCB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7"/>
          <p:cNvSpPr/>
          <p:nvPr/>
        </p:nvSpPr>
        <p:spPr>
          <a:xfrm>
            <a:off x="7239000" y="2324100"/>
            <a:ext cx="685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7"/>
          <p:cNvSpPr/>
          <p:nvPr/>
        </p:nvSpPr>
        <p:spPr>
          <a:xfrm>
            <a:off x="8210550" y="2247900"/>
            <a:ext cx="952500" cy="7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7"/>
          <p:cNvSpPr/>
          <p:nvPr/>
        </p:nvSpPr>
        <p:spPr>
          <a:xfrm>
            <a:off x="8343900" y="2324100"/>
            <a:ext cx="685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heads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27"/>
          <p:cNvSpPr/>
          <p:nvPr/>
        </p:nvSpPr>
        <p:spPr>
          <a:xfrm>
            <a:off x="9315450" y="2247900"/>
            <a:ext cx="952500" cy="7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32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7"/>
          <p:cNvSpPr/>
          <p:nvPr/>
        </p:nvSpPr>
        <p:spPr>
          <a:xfrm>
            <a:off x="9448800" y="2324100"/>
            <a:ext cx="685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block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27"/>
          <p:cNvSpPr/>
          <p:nvPr/>
        </p:nvSpPr>
        <p:spPr>
          <a:xfrm>
            <a:off x="10420350" y="2247900"/>
            <a:ext cx="952500" cy="743100"/>
          </a:xfrm>
          <a:prstGeom prst="roundRect">
            <a:avLst>
              <a:gd fmla="val 16667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7"/>
          <p:cNvSpPr/>
          <p:nvPr/>
        </p:nvSpPr>
        <p:spPr>
          <a:xfrm>
            <a:off x="10553700" y="2324100"/>
            <a:ext cx="685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[B,V]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8" name="Google Shape;1398;p27"/>
          <p:cNvCxnSpPr/>
          <p:nvPr/>
        </p:nvCxnSpPr>
        <p:spPr>
          <a:xfrm>
            <a:off x="6438900" y="3295650"/>
            <a:ext cx="4419600" cy="0"/>
          </a:xfrm>
          <a:prstGeom prst="straightConnector1">
            <a:avLst/>
          </a:prstGeom>
          <a:noFill/>
          <a:ln cap="flat" cmpd="sng" w="19050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9" name="Google Shape;1399;p27"/>
          <p:cNvSpPr/>
          <p:nvPr/>
        </p:nvSpPr>
        <p:spPr>
          <a:xfrm>
            <a:off x="6477000" y="3524250"/>
            <a:ext cx="4286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275"/>
              <a:buFont typeface="Arial"/>
              <a:buNone/>
            </a:pPr>
            <a:r>
              <a:rPr b="1" i="0" lang="en-US" sz="18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temporary shapes determine memory and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27"/>
          <p:cNvSpPr/>
          <p:nvPr/>
        </p:nvSpPr>
        <p:spPr>
          <a:xfrm>
            <a:off x="6038850" y="4191000"/>
            <a:ext cx="5143500" cy="666900"/>
          </a:xfrm>
          <a:prstGeom prst="roundRect">
            <a:avLst>
              <a:gd fmla="val 2571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7"/>
          <p:cNvSpPr/>
          <p:nvPr/>
        </p:nvSpPr>
        <p:spPr>
          <a:xfrm>
            <a:off x="6210300" y="4286250"/>
            <a:ext cx="4800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[1,16] → [1,16,128] → … → h_T [1,128] → [1,2048]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27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27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Whenever two tensors are added by a residual connection, their shapes must match.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28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28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Embedding lookup selects learned rows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1" name="Google Shape;1411;p28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28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28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28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28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28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28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28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28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28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28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28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28"/>
          <p:cNvSpPr/>
          <p:nvPr/>
        </p:nvSpPr>
        <p:spPr>
          <a:xfrm>
            <a:off x="2724150" y="1676400"/>
            <a:ext cx="5181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FROM INTEGERS TO VECTORS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28"/>
          <p:cNvSpPr/>
          <p:nvPr/>
        </p:nvSpPr>
        <p:spPr>
          <a:xfrm>
            <a:off x="2724150" y="2000250"/>
            <a:ext cx="5181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 ID i selects row i of the embedding table.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28"/>
          <p:cNvSpPr/>
          <p:nvPr/>
        </p:nvSpPr>
        <p:spPr>
          <a:xfrm>
            <a:off x="2724150" y="2914650"/>
            <a:ext cx="51816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 has V rows and d learned features per row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Gather rows in the order of the input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Repeated IDs initially select identical vectors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Training learns the table; inference only reads 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28"/>
          <p:cNvSpPr/>
          <p:nvPr/>
        </p:nvSpPr>
        <p:spPr>
          <a:xfrm>
            <a:off x="8115300" y="1828800"/>
            <a:ext cx="3295800" cy="800100"/>
          </a:xfrm>
          <a:prstGeom prst="roundRect">
            <a:avLst>
              <a:gd fmla="val 21429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28"/>
          <p:cNvSpPr/>
          <p:nvPr/>
        </p:nvSpPr>
        <p:spPr>
          <a:xfrm>
            <a:off x="8286750" y="1924050"/>
            <a:ext cx="2952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 ∈ ℝⱽˣᵈ     IDs [B,T] → X = E[IDs]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28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28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28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IDs [1,16]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28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28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28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X 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28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28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28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Vd = 262,144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28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28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28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≈0 · gather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28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28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28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28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28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28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28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28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28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28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28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1" name="Google Shape;1451;p28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2" name="Google Shape;1452;p28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3" name="Google Shape;1453;p28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28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5" name="Google Shape;1455;p28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28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28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28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28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28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28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8"/>
          <p:cNvSpPr/>
          <p:nvPr/>
        </p:nvSpPr>
        <p:spPr>
          <a:xfrm>
            <a:off x="655796" y="3625691"/>
            <a:ext cx="1521900" cy="308700"/>
          </a:xfrm>
          <a:prstGeom prst="roundRect">
            <a:avLst>
              <a:gd fmla="val 1234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28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28"/>
          <p:cNvSpPr/>
          <p:nvPr/>
        </p:nvSpPr>
        <p:spPr>
          <a:xfrm>
            <a:off x="643985" y="4388453"/>
            <a:ext cx="1545600" cy="272400"/>
          </a:xfrm>
          <a:prstGeom prst="roundRect">
            <a:avLst>
              <a:gd fmla="val 13986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8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8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8"/>
          <p:cNvSpPr/>
          <p:nvPr/>
        </p:nvSpPr>
        <p:spPr>
          <a:xfrm>
            <a:off x="2724150" y="4886325"/>
            <a:ext cx="5095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425"/>
              <a:buFont typeface="Arial"/>
              <a:buNone/>
            </a:pPr>
            <a:r>
              <a:rPr b="1" i="0" lang="en-US" sz="16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Check — same ID twice: same initial vector?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8"/>
          <p:cNvSpPr/>
          <p:nvPr/>
        </p:nvSpPr>
        <p:spPr>
          <a:xfrm>
            <a:off x="8001000" y="26289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Separate small example — E [3,4]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8"/>
          <p:cNvSpPr/>
          <p:nvPr/>
        </p:nvSpPr>
        <p:spPr>
          <a:xfrm>
            <a:off x="8039100" y="293274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8"/>
          <p:cNvSpPr/>
          <p:nvPr/>
        </p:nvSpPr>
        <p:spPr>
          <a:xfrm>
            <a:off x="8686800" y="293274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8"/>
          <p:cNvSpPr/>
          <p:nvPr/>
        </p:nvSpPr>
        <p:spPr>
          <a:xfrm>
            <a:off x="9334500" y="293274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f₂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8"/>
          <p:cNvSpPr/>
          <p:nvPr/>
        </p:nvSpPr>
        <p:spPr>
          <a:xfrm>
            <a:off x="9982200" y="293274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f₃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28"/>
          <p:cNvSpPr/>
          <p:nvPr/>
        </p:nvSpPr>
        <p:spPr>
          <a:xfrm>
            <a:off x="10629900" y="293274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f₄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8"/>
          <p:cNvSpPr/>
          <p:nvPr/>
        </p:nvSpPr>
        <p:spPr>
          <a:xfrm>
            <a:off x="8039100" y="318992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8"/>
          <p:cNvSpPr/>
          <p:nvPr/>
        </p:nvSpPr>
        <p:spPr>
          <a:xfrm>
            <a:off x="8686800" y="318992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8"/>
          <p:cNvSpPr/>
          <p:nvPr/>
        </p:nvSpPr>
        <p:spPr>
          <a:xfrm>
            <a:off x="9334500" y="318992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8"/>
          <p:cNvSpPr/>
          <p:nvPr/>
        </p:nvSpPr>
        <p:spPr>
          <a:xfrm>
            <a:off x="9982200" y="318992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8"/>
          <p:cNvSpPr/>
          <p:nvPr/>
        </p:nvSpPr>
        <p:spPr>
          <a:xfrm>
            <a:off x="10629900" y="318992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8"/>
          <p:cNvSpPr/>
          <p:nvPr/>
        </p:nvSpPr>
        <p:spPr>
          <a:xfrm>
            <a:off x="8039100" y="344709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8"/>
          <p:cNvSpPr/>
          <p:nvPr/>
        </p:nvSpPr>
        <p:spPr>
          <a:xfrm>
            <a:off x="8686800" y="344709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8"/>
          <p:cNvSpPr/>
          <p:nvPr/>
        </p:nvSpPr>
        <p:spPr>
          <a:xfrm>
            <a:off x="9334500" y="344709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8"/>
          <p:cNvSpPr/>
          <p:nvPr/>
        </p:nvSpPr>
        <p:spPr>
          <a:xfrm>
            <a:off x="9982200" y="344709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8"/>
          <p:cNvSpPr/>
          <p:nvPr/>
        </p:nvSpPr>
        <p:spPr>
          <a:xfrm>
            <a:off x="10629900" y="3447098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8"/>
          <p:cNvSpPr/>
          <p:nvPr/>
        </p:nvSpPr>
        <p:spPr>
          <a:xfrm>
            <a:off x="8039100" y="370427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8"/>
          <p:cNvSpPr/>
          <p:nvPr/>
        </p:nvSpPr>
        <p:spPr>
          <a:xfrm>
            <a:off x="8686800" y="370427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8"/>
          <p:cNvSpPr/>
          <p:nvPr/>
        </p:nvSpPr>
        <p:spPr>
          <a:xfrm>
            <a:off x="9334500" y="370427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8"/>
          <p:cNvSpPr/>
          <p:nvPr/>
        </p:nvSpPr>
        <p:spPr>
          <a:xfrm>
            <a:off x="9982200" y="370427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8"/>
          <p:cNvSpPr/>
          <p:nvPr/>
        </p:nvSpPr>
        <p:spPr>
          <a:xfrm>
            <a:off x="10629900" y="3704273"/>
            <a:ext cx="6288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8"/>
          <p:cNvSpPr/>
          <p:nvPr/>
        </p:nvSpPr>
        <p:spPr>
          <a:xfrm>
            <a:off x="8001000" y="4105275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2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IDs [1,2,1]  →  select rows 1, 2,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8"/>
          <p:cNvSpPr/>
          <p:nvPr/>
        </p:nvSpPr>
        <p:spPr>
          <a:xfrm>
            <a:off x="8353425" y="440912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8"/>
          <p:cNvSpPr/>
          <p:nvPr/>
        </p:nvSpPr>
        <p:spPr>
          <a:xfrm>
            <a:off x="9010650" y="440912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8"/>
          <p:cNvSpPr/>
          <p:nvPr/>
        </p:nvSpPr>
        <p:spPr>
          <a:xfrm>
            <a:off x="9667875" y="440912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8"/>
          <p:cNvSpPr/>
          <p:nvPr/>
        </p:nvSpPr>
        <p:spPr>
          <a:xfrm>
            <a:off x="10325100" y="440912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8"/>
          <p:cNvSpPr/>
          <p:nvPr/>
        </p:nvSpPr>
        <p:spPr>
          <a:xfrm>
            <a:off x="8353425" y="4666298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8"/>
          <p:cNvSpPr/>
          <p:nvPr/>
        </p:nvSpPr>
        <p:spPr>
          <a:xfrm>
            <a:off x="9010650" y="4666298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8"/>
          <p:cNvSpPr/>
          <p:nvPr/>
        </p:nvSpPr>
        <p:spPr>
          <a:xfrm>
            <a:off x="9667875" y="4666298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8"/>
          <p:cNvSpPr/>
          <p:nvPr/>
        </p:nvSpPr>
        <p:spPr>
          <a:xfrm>
            <a:off x="10325100" y="4666298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8"/>
          <p:cNvSpPr/>
          <p:nvPr/>
        </p:nvSpPr>
        <p:spPr>
          <a:xfrm>
            <a:off x="8353425" y="492347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8"/>
          <p:cNvSpPr/>
          <p:nvPr/>
        </p:nvSpPr>
        <p:spPr>
          <a:xfrm>
            <a:off x="9010650" y="492347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8"/>
          <p:cNvSpPr/>
          <p:nvPr/>
        </p:nvSpPr>
        <p:spPr>
          <a:xfrm>
            <a:off x="9667875" y="492347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28"/>
          <p:cNvSpPr/>
          <p:nvPr/>
        </p:nvSpPr>
        <p:spPr>
          <a:xfrm>
            <a:off x="10325100" y="4923473"/>
            <a:ext cx="638100" cy="259200"/>
          </a:xfrm>
          <a:prstGeom prst="roundRect">
            <a:avLst>
              <a:gd fmla="val 12000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−.5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8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Embedding lookup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29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29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Positional Encoding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0" name="Google Shape;1510;p29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1" name="Google Shape;1511;p29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29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29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29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29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29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29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29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29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29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29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29"/>
          <p:cNvSpPr/>
          <p:nvPr/>
        </p:nvSpPr>
        <p:spPr>
          <a:xfrm>
            <a:off x="2724150" y="1676400"/>
            <a:ext cx="4896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MISSING COORDINATE SYSTEM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29"/>
          <p:cNvSpPr/>
          <p:nvPr/>
        </p:nvSpPr>
        <p:spPr>
          <a:xfrm>
            <a:off x="2724150" y="2000250"/>
            <a:ext cx="4896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22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Order and distance help distinguish contextual roles.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29"/>
          <p:cNvSpPr/>
          <p:nvPr/>
        </p:nvSpPr>
        <p:spPr>
          <a:xfrm>
            <a:off x="2724150" y="2914650"/>
            <a:ext cx="48960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identity alone does not specify relative distance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dog bites a man; a man bites a dog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Original model — add positional vectors to embeddings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Our model — inject position inside attention with RoPE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29"/>
          <p:cNvSpPr/>
          <p:nvPr/>
        </p:nvSpPr>
        <p:spPr>
          <a:xfrm>
            <a:off x="8020050" y="1943100"/>
            <a:ext cx="4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29"/>
          <p:cNvSpPr/>
          <p:nvPr/>
        </p:nvSpPr>
        <p:spPr>
          <a:xfrm>
            <a:off x="8477250" y="1847850"/>
            <a:ext cx="990600" cy="476400"/>
          </a:xfrm>
          <a:prstGeom prst="roundRect">
            <a:avLst>
              <a:gd fmla="val 24000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29"/>
          <p:cNvSpPr/>
          <p:nvPr/>
        </p:nvSpPr>
        <p:spPr>
          <a:xfrm>
            <a:off x="8610600" y="1924050"/>
            <a:ext cx="72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29"/>
          <p:cNvSpPr/>
          <p:nvPr/>
        </p:nvSpPr>
        <p:spPr>
          <a:xfrm>
            <a:off x="9563100" y="19431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bites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29"/>
          <p:cNvSpPr/>
          <p:nvPr/>
        </p:nvSpPr>
        <p:spPr>
          <a:xfrm>
            <a:off x="10287000" y="1847850"/>
            <a:ext cx="990600" cy="4764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29"/>
          <p:cNvSpPr/>
          <p:nvPr/>
        </p:nvSpPr>
        <p:spPr>
          <a:xfrm>
            <a:off x="10420350" y="1924050"/>
            <a:ext cx="72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man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29"/>
          <p:cNvSpPr/>
          <p:nvPr/>
        </p:nvSpPr>
        <p:spPr>
          <a:xfrm>
            <a:off x="8020050" y="3086100"/>
            <a:ext cx="4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29"/>
          <p:cNvSpPr/>
          <p:nvPr/>
        </p:nvSpPr>
        <p:spPr>
          <a:xfrm>
            <a:off x="8477250" y="2990850"/>
            <a:ext cx="990600" cy="4764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29"/>
          <p:cNvSpPr/>
          <p:nvPr/>
        </p:nvSpPr>
        <p:spPr>
          <a:xfrm>
            <a:off x="8610600" y="3067050"/>
            <a:ext cx="72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man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29"/>
          <p:cNvSpPr/>
          <p:nvPr/>
        </p:nvSpPr>
        <p:spPr>
          <a:xfrm>
            <a:off x="9563100" y="30861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bites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29"/>
          <p:cNvSpPr/>
          <p:nvPr/>
        </p:nvSpPr>
        <p:spPr>
          <a:xfrm>
            <a:off x="10287000" y="2990850"/>
            <a:ext cx="990600" cy="476400"/>
          </a:xfrm>
          <a:prstGeom prst="roundRect">
            <a:avLst>
              <a:gd fmla="val 24000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29"/>
          <p:cNvSpPr/>
          <p:nvPr/>
        </p:nvSpPr>
        <p:spPr>
          <a:xfrm>
            <a:off x="10420350" y="3067050"/>
            <a:ext cx="72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29"/>
          <p:cNvSpPr/>
          <p:nvPr/>
        </p:nvSpPr>
        <p:spPr>
          <a:xfrm>
            <a:off x="8001000" y="3905250"/>
            <a:ext cx="3295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350"/>
              <a:buFont typeface="Arial"/>
              <a:buNone/>
            </a:pPr>
            <a:r>
              <a:rPr b="1" i="0" lang="en-US" sz="165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same words · different order · different meaning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29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29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Original Transformers add position to embeddings; many recent decoder models rotate Q and K with RoPE.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9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29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29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29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29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29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29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29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29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29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0" name="Google Shape;1550;p29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1" name="Google Shape;1551;p29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2" name="Google Shape;1552;p29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3" name="Google Shape;1553;p29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4" name="Google Shape;1554;p29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5" name="Google Shape;1555;p29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29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29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29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29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29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29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29"/>
          <p:cNvSpPr/>
          <p:nvPr/>
        </p:nvSpPr>
        <p:spPr>
          <a:xfrm>
            <a:off x="707517" y="3625691"/>
            <a:ext cx="1418400" cy="308700"/>
          </a:xfrm>
          <a:prstGeom prst="roundRect">
            <a:avLst>
              <a:gd fmla="val 1234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29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29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29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29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3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30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Sinusoidal Positions Encoding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4" name="Google Shape;1574;p3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5" name="Google Shape;1575;p30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3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3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3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3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3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3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3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3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3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3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30"/>
          <p:cNvSpPr/>
          <p:nvPr/>
        </p:nvSpPr>
        <p:spPr>
          <a:xfrm>
            <a:off x="685800" y="1657350"/>
            <a:ext cx="4495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ORIGINAL 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30"/>
          <p:cNvSpPr/>
          <p:nvPr/>
        </p:nvSpPr>
        <p:spPr>
          <a:xfrm>
            <a:off x="609600" y="1981200"/>
            <a:ext cx="3714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1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Two coordinates locate one hand; different clocks rotate at different rates.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30"/>
          <p:cNvSpPr/>
          <p:nvPr/>
        </p:nvSpPr>
        <p:spPr>
          <a:xfrm>
            <a:off x="609600" y="3143250"/>
            <a:ext cx="37149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 = 4 → two clocks; positions p = 0, 1,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Clock 1 angle p; clock 2 angle p/100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Compute sin and cos for every position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Add PE [3,4] to embeddings X [3,4] once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9" name="Google Shape;1589;p30" title="Sinusoidal_Positional_Encod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900" y="2019450"/>
            <a:ext cx="7562701" cy="425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31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31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LayerNorm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7" name="Google Shape;1597;p31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8" name="Google Shape;1598;p31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1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31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31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31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1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31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1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31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1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31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31"/>
          <p:cNvSpPr/>
          <p:nvPr/>
        </p:nvSpPr>
        <p:spPr>
          <a:xfrm>
            <a:off x="2724150" y="1657350"/>
            <a:ext cx="504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GENERAL NORMALIZATION IDEA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31"/>
          <p:cNvSpPr/>
          <p:nvPr/>
        </p:nvSpPr>
        <p:spPr>
          <a:xfrm>
            <a:off x="2724150" y="1981200"/>
            <a:ext cx="5048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Compute statistics across the features of one token.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31"/>
          <p:cNvSpPr/>
          <p:nvPr/>
        </p:nvSpPr>
        <p:spPr>
          <a:xfrm>
            <a:off x="2724150" y="2895600"/>
            <a:ext cx="50484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Subtract that token’s feature mean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Divide by its feature standard deviation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Apply learned scale γ and offset 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No mixing across tokens; same [B,T,d]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31"/>
          <p:cNvSpPr/>
          <p:nvPr/>
        </p:nvSpPr>
        <p:spPr>
          <a:xfrm>
            <a:off x="8001000" y="1752600"/>
            <a:ext cx="3390900" cy="666900"/>
          </a:xfrm>
          <a:prstGeom prst="roundRect">
            <a:avLst>
              <a:gd fmla="val 2571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31"/>
          <p:cNvSpPr/>
          <p:nvPr/>
        </p:nvSpPr>
        <p:spPr>
          <a:xfrm>
            <a:off x="8172450" y="1847850"/>
            <a:ext cx="304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LN(x)=γ ⊙ (x−μ)/√(σ²+ε) + 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31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31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31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31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31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31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same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31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31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31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2d = 256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31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31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31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≈7BTd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31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31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31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31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31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31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31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31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31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31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6" name="Google Shape;1636;p31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7" name="Google Shape;1637;p31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8" name="Google Shape;1638;p31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9" name="Google Shape;1639;p31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0" name="Google Shape;1640;p31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1" name="Google Shape;1641;p31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31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31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31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31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31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1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1"/>
          <p:cNvSpPr/>
          <p:nvPr/>
        </p:nvSpPr>
        <p:spPr>
          <a:xfrm>
            <a:off x="655796" y="3625691"/>
            <a:ext cx="1521900" cy="308700"/>
          </a:xfrm>
          <a:prstGeom prst="roundRect">
            <a:avLst>
              <a:gd fmla="val 1234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31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31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1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31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31"/>
          <p:cNvSpPr/>
          <p:nvPr/>
        </p:nvSpPr>
        <p:spPr>
          <a:xfrm>
            <a:off x="8020050" y="2571750"/>
            <a:ext cx="33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Same vector for both normalization examples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1"/>
          <p:cNvSpPr/>
          <p:nvPr/>
        </p:nvSpPr>
        <p:spPr>
          <a:xfrm>
            <a:off x="8134350" y="3105150"/>
            <a:ext cx="3143400" cy="381000"/>
          </a:xfrm>
          <a:prstGeom prst="roundRect">
            <a:avLst>
              <a:gd fmla="val 20000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 = [1, 2, 3, 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1"/>
          <p:cNvSpPr/>
          <p:nvPr/>
        </p:nvSpPr>
        <p:spPr>
          <a:xfrm>
            <a:off x="8134350" y="3619500"/>
            <a:ext cx="3143400" cy="3810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μ = 2.5       σ² = 1.25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31"/>
          <p:cNvSpPr/>
          <p:nvPr/>
        </p:nvSpPr>
        <p:spPr>
          <a:xfrm>
            <a:off x="8020050" y="4106799"/>
            <a:ext cx="3372000" cy="568500"/>
          </a:xfrm>
          <a:prstGeom prst="roundRect">
            <a:avLst>
              <a:gd fmla="val 14815" name="adj"/>
            </a:avLst>
          </a:prstGeom>
          <a:solidFill>
            <a:srgbClr val="EAF5FB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LN(x) ≈ [−1.34, −0.45, 0.45, 1.34]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31"/>
          <p:cNvSpPr/>
          <p:nvPr/>
        </p:nvSpPr>
        <p:spPr>
          <a:xfrm>
            <a:off x="8058150" y="4838700"/>
            <a:ext cx="3476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Here γ=1, β=0; tiny ε omitted in the arithmetic.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31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 et al. (2016)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3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32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6" name="Google Shape;1666;p3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7" name="Google Shape;1667;p3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3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3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3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3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3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3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3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3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32"/>
          <p:cNvSpPr/>
          <p:nvPr/>
        </p:nvSpPr>
        <p:spPr>
          <a:xfrm>
            <a:off x="2724150" y="165735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COMMON MODERN REPLACEMENT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32"/>
          <p:cNvSpPr/>
          <p:nvPr/>
        </p:nvSpPr>
        <p:spPr>
          <a:xfrm>
            <a:off x="2724150" y="1981200"/>
            <a:ext cx="49530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Divide by root-mean-square magnitude; apply learned γ.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32"/>
          <p:cNvSpPr/>
          <p:nvPr/>
        </p:nvSpPr>
        <p:spPr>
          <a:xfrm>
            <a:off x="2724150" y="2895600"/>
            <a:ext cx="49530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Compute the mean of squared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Divide by its square root, with ε for stability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Keep learned γ; omit mean subtraction and 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Same shape; one learned parameter per feature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32"/>
          <p:cNvSpPr/>
          <p:nvPr/>
        </p:nvSpPr>
        <p:spPr>
          <a:xfrm>
            <a:off x="7924800" y="1752600"/>
            <a:ext cx="3486300" cy="705000"/>
          </a:xfrm>
          <a:prstGeom prst="roundRect">
            <a:avLst>
              <a:gd fmla="val 2432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32"/>
          <p:cNvSpPr/>
          <p:nvPr/>
        </p:nvSpPr>
        <p:spPr>
          <a:xfrm>
            <a:off x="8096250" y="1842897"/>
            <a:ext cx="3143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RMSNorm(x)=γ ⊙ x / √(mean(x²)+ε)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32"/>
          <p:cNvSpPr/>
          <p:nvPr/>
        </p:nvSpPr>
        <p:spPr>
          <a:xfrm>
            <a:off x="7981950" y="2781300"/>
            <a:ext cx="3333900" cy="2019300"/>
          </a:xfrm>
          <a:prstGeom prst="roundRect">
            <a:avLst>
              <a:gd fmla="val 8491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32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32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32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32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32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32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same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32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32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32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d = 128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32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32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32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≈4BTd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32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32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32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32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32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32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32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32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32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32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6" name="Google Shape;1706;p32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7" name="Google Shape;1707;p32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8" name="Google Shape;1708;p32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9" name="Google Shape;1709;p32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0" name="Google Shape;1710;p32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1" name="Google Shape;1711;p32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32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32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32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32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32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32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32"/>
          <p:cNvSpPr/>
          <p:nvPr/>
        </p:nvSpPr>
        <p:spPr>
          <a:xfrm>
            <a:off x="655796" y="3625691"/>
            <a:ext cx="1521900" cy="308700"/>
          </a:xfrm>
          <a:prstGeom prst="roundRect">
            <a:avLst>
              <a:gd fmla="val 1234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32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32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32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32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32"/>
          <p:cNvSpPr/>
          <p:nvPr/>
        </p:nvSpPr>
        <p:spPr>
          <a:xfrm>
            <a:off x="8067675" y="2762250"/>
            <a:ext cx="3314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425"/>
              <a:buFont typeface="Arial"/>
              <a:buNone/>
            </a:pPr>
            <a:r>
              <a:rPr b="1" i="0" lang="en-US" sz="16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Compare using x = [1, 2, 3, 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32"/>
          <p:cNvSpPr/>
          <p:nvPr/>
        </p:nvSpPr>
        <p:spPr>
          <a:xfrm>
            <a:off x="8105775" y="3209925"/>
            <a:ext cx="3190800" cy="647700"/>
          </a:xfrm>
          <a:prstGeom prst="roundRect">
            <a:avLst>
              <a:gd fmla="val 11765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mean(x²) = 7.5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RMS(x) = √7.5 ≈ 2.74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32"/>
          <p:cNvSpPr/>
          <p:nvPr/>
        </p:nvSpPr>
        <p:spPr>
          <a:xfrm>
            <a:off x="8001000" y="4105275"/>
            <a:ext cx="3390900" cy="571500"/>
          </a:xfrm>
          <a:prstGeom prst="roundRect">
            <a:avLst>
              <a:gd fmla="val 13333" name="adj"/>
            </a:avLst>
          </a:prstGeom>
          <a:solidFill>
            <a:srgbClr val="EAF5FB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RMSNorm(x) ≈ [0.37, 0.73, 1.10, 1.46]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32"/>
          <p:cNvSpPr/>
          <p:nvPr/>
        </p:nvSpPr>
        <p:spPr>
          <a:xfrm>
            <a:off x="8067675" y="4848225"/>
            <a:ext cx="35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Here γ=1; ε omitted. The mean is not forced to zero.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32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Zhang &amp; Sennrich (2019)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3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33"/>
          <p:cNvSpPr/>
          <p:nvPr/>
        </p:nvSpPr>
        <p:spPr>
          <a:xfrm>
            <a:off x="457200" y="5905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Pre-norm or Post-norm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5" name="Google Shape;1735;p3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6" name="Google Shape;1736;p3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3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3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3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3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3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3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3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3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3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3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33"/>
          <p:cNvSpPr/>
          <p:nvPr/>
        </p:nvSpPr>
        <p:spPr>
          <a:xfrm>
            <a:off x="685800" y="1657350"/>
            <a:ext cx="5467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PLACEMENT CHOICE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33"/>
          <p:cNvSpPr/>
          <p:nvPr/>
        </p:nvSpPr>
        <p:spPr>
          <a:xfrm>
            <a:off x="685800" y="1981200"/>
            <a:ext cx="5467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Each branch adds an update to the existing hidden state.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33"/>
          <p:cNvSpPr/>
          <p:nvPr/>
        </p:nvSpPr>
        <p:spPr>
          <a:xfrm>
            <a:off x="685800" y="2895600"/>
            <a:ext cx="54675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Residual addition — x + F(x), with matching shapes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Post-norm — normalize after adding the update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Pre-norm — normalize only the branch 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Our decoder uses pre-norm and a 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33"/>
          <p:cNvSpPr/>
          <p:nvPr/>
        </p:nvSpPr>
        <p:spPr>
          <a:xfrm>
            <a:off x="6343650" y="1657350"/>
            <a:ext cx="4972200" cy="1505100"/>
          </a:xfrm>
          <a:prstGeom prst="roundRect">
            <a:avLst>
              <a:gd fmla="val 11392" name="adj"/>
            </a:avLst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33"/>
          <p:cNvSpPr/>
          <p:nvPr/>
        </p:nvSpPr>
        <p:spPr>
          <a:xfrm>
            <a:off x="6610350" y="1885950"/>
            <a:ext cx="443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POST-NORM · ORIGINAL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33"/>
          <p:cNvSpPr/>
          <p:nvPr/>
        </p:nvSpPr>
        <p:spPr>
          <a:xfrm>
            <a:off x="6686550" y="2247900"/>
            <a:ext cx="4286400" cy="590700"/>
          </a:xfrm>
          <a:prstGeom prst="roundRect">
            <a:avLst>
              <a:gd fmla="val 29032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33"/>
          <p:cNvSpPr/>
          <p:nvPr/>
        </p:nvSpPr>
        <p:spPr>
          <a:xfrm>
            <a:off x="6858000" y="2343150"/>
            <a:ext cx="39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425"/>
              <a:buFont typeface="Consolas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y = Norm(x + F(x))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33"/>
          <p:cNvSpPr/>
          <p:nvPr/>
        </p:nvSpPr>
        <p:spPr>
          <a:xfrm>
            <a:off x="6343650" y="3371850"/>
            <a:ext cx="4972200" cy="1505100"/>
          </a:xfrm>
          <a:prstGeom prst="roundRect">
            <a:avLst>
              <a:gd fmla="val 11392" name="adj"/>
            </a:avLst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33"/>
          <p:cNvSpPr/>
          <p:nvPr/>
        </p:nvSpPr>
        <p:spPr>
          <a:xfrm>
            <a:off x="6610350" y="3600450"/>
            <a:ext cx="443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PRE-NORM · MODERN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33"/>
          <p:cNvSpPr/>
          <p:nvPr/>
        </p:nvSpPr>
        <p:spPr>
          <a:xfrm>
            <a:off x="6686550" y="3962400"/>
            <a:ext cx="4286400" cy="590700"/>
          </a:xfrm>
          <a:prstGeom prst="roundRect">
            <a:avLst>
              <a:gd fmla="val 29032" name="adj"/>
            </a:avLst>
          </a:prstGeom>
          <a:solidFill>
            <a:srgbClr val="143E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33"/>
          <p:cNvSpPr/>
          <p:nvPr/>
        </p:nvSpPr>
        <p:spPr>
          <a:xfrm>
            <a:off x="6858000" y="4057650"/>
            <a:ext cx="39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x + Norm(F(x))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33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33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38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Pre-norm often improves optimization stability; it does not guarantee a better final model under every training recipe.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33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Xiong et al.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34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34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Queries, keys, and values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8" name="Google Shape;1768;p34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9" name="Google Shape;1769;p34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34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34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34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34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34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34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34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34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34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34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34"/>
          <p:cNvSpPr/>
          <p:nvPr/>
        </p:nvSpPr>
        <p:spPr>
          <a:xfrm>
            <a:off x="666750" y="5021924"/>
            <a:ext cx="1562100" cy="419100"/>
          </a:xfrm>
          <a:prstGeom prst="roundRect">
            <a:avLst>
              <a:gd fmla="val 25000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34"/>
          <p:cNvSpPr/>
          <p:nvPr/>
        </p:nvSpPr>
        <p:spPr>
          <a:xfrm>
            <a:off x="800100" y="5098161"/>
            <a:ext cx="129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· K ·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34"/>
          <p:cNvSpPr/>
          <p:nvPr/>
        </p:nvSpPr>
        <p:spPr>
          <a:xfrm>
            <a:off x="2724150" y="1657350"/>
            <a:ext cx="4876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THREE LEARNED VIEWS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34"/>
          <p:cNvSpPr/>
          <p:nvPr/>
        </p:nvSpPr>
        <p:spPr>
          <a:xfrm>
            <a:off x="2724150" y="1981200"/>
            <a:ext cx="4876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Three learned views of the same hidden state.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34"/>
          <p:cNvSpPr/>
          <p:nvPr/>
        </p:nvSpPr>
        <p:spPr>
          <a:xfrm>
            <a:off x="2724150" y="2895600"/>
            <a:ext cx="48768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— what information this position seeks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K — how another position can match 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V — the information it can contribute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Every token produces all three; features are learned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34"/>
          <p:cNvSpPr/>
          <p:nvPr/>
        </p:nvSpPr>
        <p:spPr>
          <a:xfrm>
            <a:off x="8001000" y="1752600"/>
            <a:ext cx="514500" cy="5145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34"/>
          <p:cNvSpPr/>
          <p:nvPr/>
        </p:nvSpPr>
        <p:spPr>
          <a:xfrm>
            <a:off x="8001000" y="175260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rial"/>
              <a:buNone/>
            </a:pPr>
            <a:r>
              <a:rPr b="1" i="0" lang="en-US" sz="17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34"/>
          <p:cNvSpPr/>
          <p:nvPr/>
        </p:nvSpPr>
        <p:spPr>
          <a:xfrm>
            <a:off x="8763000" y="1752600"/>
            <a:ext cx="2362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i="0" lang="en-US" sz="165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34"/>
          <p:cNvSpPr/>
          <p:nvPr/>
        </p:nvSpPr>
        <p:spPr>
          <a:xfrm>
            <a:off x="8763000" y="2076450"/>
            <a:ext cx="24765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information do I need?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34"/>
          <p:cNvSpPr/>
          <p:nvPr/>
        </p:nvSpPr>
        <p:spPr>
          <a:xfrm>
            <a:off x="8001000" y="2857500"/>
            <a:ext cx="514500" cy="5145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34"/>
          <p:cNvSpPr/>
          <p:nvPr/>
        </p:nvSpPr>
        <p:spPr>
          <a:xfrm>
            <a:off x="8001000" y="285750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rial"/>
              <a:buNone/>
            </a:pPr>
            <a:r>
              <a:rPr b="1" i="0" lang="en-US" sz="17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34"/>
          <p:cNvSpPr/>
          <p:nvPr/>
        </p:nvSpPr>
        <p:spPr>
          <a:xfrm>
            <a:off x="8763000" y="2857500"/>
            <a:ext cx="2362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Arial"/>
              <a:buNone/>
            </a:pPr>
            <a:r>
              <a:rPr b="1" i="0" lang="en-US" sz="165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34"/>
          <p:cNvSpPr/>
          <p:nvPr/>
        </p:nvSpPr>
        <p:spPr>
          <a:xfrm>
            <a:off x="8763000" y="3181350"/>
            <a:ext cx="24765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When should another query select me?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34"/>
          <p:cNvSpPr/>
          <p:nvPr/>
        </p:nvSpPr>
        <p:spPr>
          <a:xfrm>
            <a:off x="8001000" y="3962400"/>
            <a:ext cx="514500" cy="5145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34"/>
          <p:cNvSpPr/>
          <p:nvPr/>
        </p:nvSpPr>
        <p:spPr>
          <a:xfrm>
            <a:off x="8001000" y="3962400"/>
            <a:ext cx="51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rial"/>
              <a:buNone/>
            </a:pPr>
            <a:r>
              <a:rPr b="1" i="0" lang="en-US" sz="17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34"/>
          <p:cNvSpPr/>
          <p:nvPr/>
        </p:nvSpPr>
        <p:spPr>
          <a:xfrm>
            <a:off x="8763000" y="3962400"/>
            <a:ext cx="2362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00"/>
              <a:buFont typeface="Arial"/>
              <a:buNone/>
            </a:pPr>
            <a:r>
              <a:rPr b="1" i="0" lang="en-US" sz="16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34"/>
          <p:cNvSpPr/>
          <p:nvPr/>
        </p:nvSpPr>
        <p:spPr>
          <a:xfrm>
            <a:off x="8763000" y="4286250"/>
            <a:ext cx="24765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do I contribute if selected?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4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34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A high Q–K score decides where to read; V decides what information is read.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34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34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34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34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34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34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34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34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34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34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9" name="Google Shape;1809;p34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0" name="Google Shape;1810;p34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1" name="Google Shape;1811;p34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2" name="Google Shape;1812;p34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34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4" name="Google Shape;1814;p34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34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34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34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34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34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34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34"/>
          <p:cNvSpPr/>
          <p:nvPr/>
        </p:nvSpPr>
        <p:spPr>
          <a:xfrm>
            <a:off x="640271" y="3625691"/>
            <a:ext cx="1553100" cy="308700"/>
          </a:xfrm>
          <a:prstGeom prst="roundRect">
            <a:avLst>
              <a:gd fmla="val 1234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34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34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34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34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3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35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Project QKV, then split into heads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3" name="Google Shape;1833;p3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4" name="Google Shape;1834;p3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3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3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3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3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3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3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3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3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3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3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35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35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35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X 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35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35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35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3× head tensors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35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35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35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3d² = 49,152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35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35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35"/>
          <p:cNvSpPr/>
          <p:nvPr/>
        </p:nvSpPr>
        <p:spPr>
          <a:xfrm>
            <a:off x="8972550" y="5673185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6BTd²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7" name="Google Shape;1857;p35"/>
          <p:cNvCxnSpPr/>
          <p:nvPr/>
        </p:nvCxnSpPr>
        <p:spPr>
          <a:xfrm>
            <a:off x="1502569" y="3344636"/>
            <a:ext cx="1641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8" name="Google Shape;1858;p35"/>
          <p:cNvCxnSpPr/>
          <p:nvPr/>
        </p:nvCxnSpPr>
        <p:spPr>
          <a:xfrm>
            <a:off x="1666747" y="2274987"/>
            <a:ext cx="0" cy="10695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9" name="Google Shape;1859;p35"/>
          <p:cNvSpPr/>
          <p:nvPr/>
        </p:nvSpPr>
        <p:spPr>
          <a:xfrm>
            <a:off x="1666747" y="2246412"/>
            <a:ext cx="1641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35"/>
          <p:cNvSpPr/>
          <p:nvPr/>
        </p:nvSpPr>
        <p:spPr>
          <a:xfrm>
            <a:off x="3015003" y="2246412"/>
            <a:ext cx="3582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1" name="Google Shape;1861;p35"/>
          <p:cNvCxnSpPr/>
          <p:nvPr/>
        </p:nvCxnSpPr>
        <p:spPr>
          <a:xfrm>
            <a:off x="1502569" y="3344636"/>
            <a:ext cx="1641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2" name="Google Shape;1862;p35"/>
          <p:cNvCxnSpPr/>
          <p:nvPr/>
        </p:nvCxnSpPr>
        <p:spPr>
          <a:xfrm>
            <a:off x="1666747" y="3329710"/>
            <a:ext cx="0" cy="150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3" name="Google Shape;1863;p35"/>
          <p:cNvSpPr/>
          <p:nvPr/>
        </p:nvSpPr>
        <p:spPr>
          <a:xfrm>
            <a:off x="1666747" y="3301135"/>
            <a:ext cx="1641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35"/>
          <p:cNvSpPr/>
          <p:nvPr/>
        </p:nvSpPr>
        <p:spPr>
          <a:xfrm>
            <a:off x="3015003" y="3301135"/>
            <a:ext cx="3582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5" name="Google Shape;1865;p35"/>
          <p:cNvCxnSpPr/>
          <p:nvPr/>
        </p:nvCxnSpPr>
        <p:spPr>
          <a:xfrm>
            <a:off x="1502569" y="3344636"/>
            <a:ext cx="1641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6" name="Google Shape;1866;p35"/>
          <p:cNvCxnSpPr/>
          <p:nvPr/>
        </p:nvCxnSpPr>
        <p:spPr>
          <a:xfrm>
            <a:off x="1666747" y="3344636"/>
            <a:ext cx="0" cy="10398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7" name="Google Shape;1867;p35"/>
          <p:cNvSpPr/>
          <p:nvPr/>
        </p:nvSpPr>
        <p:spPr>
          <a:xfrm>
            <a:off x="1666747" y="4355859"/>
            <a:ext cx="1641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35"/>
          <p:cNvSpPr/>
          <p:nvPr/>
        </p:nvSpPr>
        <p:spPr>
          <a:xfrm>
            <a:off x="3015003" y="4355859"/>
            <a:ext cx="3582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35"/>
          <p:cNvSpPr/>
          <p:nvPr/>
        </p:nvSpPr>
        <p:spPr>
          <a:xfrm>
            <a:off x="666750" y="3085910"/>
            <a:ext cx="835800" cy="517500"/>
          </a:xfrm>
          <a:prstGeom prst="roundRect">
            <a:avLst>
              <a:gd fmla="val 14727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35"/>
          <p:cNvSpPr/>
          <p:nvPr/>
        </p:nvSpPr>
        <p:spPr>
          <a:xfrm>
            <a:off x="1830896" y="2001393"/>
            <a:ext cx="1184100" cy="547200"/>
          </a:xfrm>
          <a:prstGeom prst="roundRect">
            <a:avLst>
              <a:gd fmla="val 13924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35"/>
          <p:cNvSpPr/>
          <p:nvPr/>
        </p:nvSpPr>
        <p:spPr>
          <a:xfrm>
            <a:off x="3373184" y="2001393"/>
            <a:ext cx="1238400" cy="552600"/>
          </a:xfrm>
          <a:prstGeom prst="roundRect">
            <a:avLst>
              <a:gd fmla="val 13924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35"/>
          <p:cNvSpPr/>
          <p:nvPr/>
        </p:nvSpPr>
        <p:spPr>
          <a:xfrm>
            <a:off x="1830896" y="3056096"/>
            <a:ext cx="1184100" cy="547200"/>
          </a:xfrm>
          <a:prstGeom prst="roundRect">
            <a:avLst>
              <a:gd fmla="val 13924" name="adj"/>
            </a:avLst>
          </a:prstGeom>
          <a:solidFill>
            <a:srgbClr val="EAF5FB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35"/>
          <p:cNvSpPr/>
          <p:nvPr/>
        </p:nvSpPr>
        <p:spPr>
          <a:xfrm>
            <a:off x="3373184" y="3056096"/>
            <a:ext cx="1238400" cy="552600"/>
          </a:xfrm>
          <a:prstGeom prst="roundRect">
            <a:avLst>
              <a:gd fmla="val 13924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35"/>
          <p:cNvSpPr/>
          <p:nvPr/>
        </p:nvSpPr>
        <p:spPr>
          <a:xfrm>
            <a:off x="1830896" y="4110800"/>
            <a:ext cx="1184100" cy="547200"/>
          </a:xfrm>
          <a:prstGeom prst="roundRect">
            <a:avLst>
              <a:gd fmla="val 13924" name="adj"/>
            </a:avLst>
          </a:prstGeom>
          <a:solidFill>
            <a:srgbClr val="EAF5FB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35"/>
          <p:cNvSpPr/>
          <p:nvPr/>
        </p:nvSpPr>
        <p:spPr>
          <a:xfrm>
            <a:off x="3373184" y="4110800"/>
            <a:ext cx="1238400" cy="552600"/>
          </a:xfrm>
          <a:prstGeom prst="roundRect">
            <a:avLst>
              <a:gd fmla="val 13924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35"/>
          <p:cNvSpPr/>
          <p:nvPr/>
        </p:nvSpPr>
        <p:spPr>
          <a:xfrm>
            <a:off x="666750" y="4695825"/>
            <a:ext cx="55722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projection keeps width d before the head reshape.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35"/>
          <p:cNvSpPr/>
          <p:nvPr/>
        </p:nvSpPr>
        <p:spPr>
          <a:xfrm>
            <a:off x="6858000" y="1714500"/>
            <a:ext cx="449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725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projection, then reorganize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35"/>
          <p:cNvSpPr/>
          <p:nvPr/>
        </p:nvSpPr>
        <p:spPr>
          <a:xfrm>
            <a:off x="6858000" y="2314575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35"/>
          <p:cNvSpPr/>
          <p:nvPr/>
        </p:nvSpPr>
        <p:spPr>
          <a:xfrm>
            <a:off x="8143875" y="2305050"/>
            <a:ext cx="318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425"/>
              <a:buFont typeface="Arial"/>
              <a:buNone/>
            </a:pPr>
            <a:r>
              <a:rPr b="0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XW_Q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35"/>
          <p:cNvSpPr/>
          <p:nvPr/>
        </p:nvSpPr>
        <p:spPr>
          <a:xfrm>
            <a:off x="8143875" y="2600325"/>
            <a:ext cx="3181200" cy="32400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 = 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35"/>
          <p:cNvSpPr/>
          <p:nvPr/>
        </p:nvSpPr>
        <p:spPr>
          <a:xfrm>
            <a:off x="6858000" y="3171825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Reshape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35"/>
          <p:cNvSpPr/>
          <p:nvPr/>
        </p:nvSpPr>
        <p:spPr>
          <a:xfrm>
            <a:off x="8143875" y="3162300"/>
            <a:ext cx="318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425"/>
              <a:buFont typeface="Arial"/>
              <a:buNone/>
            </a:pPr>
            <a:r>
              <a:rPr b="0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 = H × 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35"/>
          <p:cNvSpPr/>
          <p:nvPr/>
        </p:nvSpPr>
        <p:spPr>
          <a:xfrm>
            <a:off x="8143875" y="3457575"/>
            <a:ext cx="3181200" cy="32400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[B,T,H,dₕ] = [1,16,4,32]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35"/>
          <p:cNvSpPr/>
          <p:nvPr/>
        </p:nvSpPr>
        <p:spPr>
          <a:xfrm>
            <a:off x="6858000" y="4029075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Transpose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35"/>
          <p:cNvSpPr/>
          <p:nvPr/>
        </p:nvSpPr>
        <p:spPr>
          <a:xfrm>
            <a:off x="8143875" y="4019550"/>
            <a:ext cx="3181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425"/>
              <a:buFont typeface="Arial"/>
              <a:buNone/>
            </a:pPr>
            <a:r>
              <a:rPr b="0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Move the head axis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35"/>
          <p:cNvSpPr/>
          <p:nvPr/>
        </p:nvSpPr>
        <p:spPr>
          <a:xfrm>
            <a:off x="8143875" y="4314825"/>
            <a:ext cx="3181200" cy="32400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[B,H,T,dₕ] = [1,4,16,32]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35"/>
          <p:cNvSpPr/>
          <p:nvPr/>
        </p:nvSpPr>
        <p:spPr>
          <a:xfrm>
            <a:off x="6781800" y="49530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263C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8263CE"/>
                </a:solidFill>
                <a:latin typeface="Arial"/>
                <a:ea typeface="Arial"/>
                <a:cs typeface="Arial"/>
                <a:sym typeface="Arial"/>
              </a:rPr>
              <a:t>Do the same for K and V. Next, rotate Q and K.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37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37"/>
          <p:cNvSpPr/>
          <p:nvPr/>
        </p:nvSpPr>
        <p:spPr>
          <a:xfrm>
            <a:off x="457200" y="54664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Queries and keys produce pairwise scores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5" name="Google Shape;1895;p37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6" name="Google Shape;1896;p37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37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37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37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37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37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37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37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37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37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37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37"/>
          <p:cNvSpPr/>
          <p:nvPr/>
        </p:nvSpPr>
        <p:spPr>
          <a:xfrm>
            <a:off x="7962900" y="1714500"/>
            <a:ext cx="3429000" cy="628800"/>
          </a:xfrm>
          <a:prstGeom prst="roundRect">
            <a:avLst>
              <a:gd fmla="val 2727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37"/>
          <p:cNvSpPr/>
          <p:nvPr/>
        </p:nvSpPr>
        <p:spPr>
          <a:xfrm>
            <a:off x="8134350" y="1809750"/>
            <a:ext cx="3086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 = QKᵀ / √dₕ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37"/>
          <p:cNvSpPr/>
          <p:nvPr/>
        </p:nvSpPr>
        <p:spPr>
          <a:xfrm>
            <a:off x="8020050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37"/>
          <p:cNvSpPr/>
          <p:nvPr/>
        </p:nvSpPr>
        <p:spPr>
          <a:xfrm>
            <a:off x="8039100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[1,4,16,32]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37"/>
          <p:cNvSpPr/>
          <p:nvPr/>
        </p:nvSpPr>
        <p:spPr>
          <a:xfrm>
            <a:off x="9029700" y="2990850"/>
            <a:ext cx="17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37"/>
          <p:cNvSpPr/>
          <p:nvPr/>
        </p:nvSpPr>
        <p:spPr>
          <a:xfrm>
            <a:off x="9163050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3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37"/>
          <p:cNvSpPr/>
          <p:nvPr/>
        </p:nvSpPr>
        <p:spPr>
          <a:xfrm>
            <a:off x="9182100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Kᵀ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[1,4,32,16]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37"/>
          <p:cNvSpPr/>
          <p:nvPr/>
        </p:nvSpPr>
        <p:spPr>
          <a:xfrm>
            <a:off x="10172700" y="2990850"/>
            <a:ext cx="17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37"/>
          <p:cNvSpPr/>
          <p:nvPr/>
        </p:nvSpPr>
        <p:spPr>
          <a:xfrm>
            <a:off x="10400124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37"/>
          <p:cNvSpPr/>
          <p:nvPr/>
        </p:nvSpPr>
        <p:spPr>
          <a:xfrm>
            <a:off x="10419207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[1,4,16,16]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37"/>
          <p:cNvSpPr/>
          <p:nvPr/>
        </p:nvSpPr>
        <p:spPr>
          <a:xfrm>
            <a:off x="7962900" y="4000500"/>
            <a:ext cx="3429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For T=16, each head contains 16×16 pair scores.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37"/>
          <p:cNvSpPr/>
          <p:nvPr/>
        </p:nvSpPr>
        <p:spPr>
          <a:xfrm>
            <a:off x="7962900" y="45720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row compares one query with all keys. Add M before softmax to hide future positions.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37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37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37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Q,K head tensors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37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37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37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 [1,4,16,16]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37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37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37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37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37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37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1" name="Google Shape;1931;p37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2" name="Google Shape;1932;p37"/>
          <p:cNvCxnSpPr/>
          <p:nvPr/>
        </p:nvCxnSpPr>
        <p:spPr>
          <a:xfrm>
            <a:off x="1634269" y="2258020"/>
            <a:ext cx="0" cy="10350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3" name="Google Shape;1933;p37"/>
          <p:cNvSpPr/>
          <p:nvPr/>
        </p:nvSpPr>
        <p:spPr>
          <a:xfrm>
            <a:off x="1634269" y="2229445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37"/>
          <p:cNvSpPr/>
          <p:nvPr/>
        </p:nvSpPr>
        <p:spPr>
          <a:xfrm>
            <a:off x="2938735" y="2229445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5" name="Google Shape;1935;p37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6" name="Google Shape;1936;p37"/>
          <p:cNvCxnSpPr/>
          <p:nvPr/>
        </p:nvCxnSpPr>
        <p:spPr>
          <a:xfrm>
            <a:off x="1634269" y="3278488"/>
            <a:ext cx="0" cy="144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7" name="Google Shape;1937;p37"/>
          <p:cNvSpPr/>
          <p:nvPr/>
        </p:nvSpPr>
        <p:spPr>
          <a:xfrm>
            <a:off x="1634269" y="3249913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37"/>
          <p:cNvSpPr/>
          <p:nvPr/>
        </p:nvSpPr>
        <p:spPr>
          <a:xfrm>
            <a:off x="2938735" y="3249913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9" name="Google Shape;1939;p37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0" name="Google Shape;1940;p37"/>
          <p:cNvCxnSpPr/>
          <p:nvPr/>
        </p:nvCxnSpPr>
        <p:spPr>
          <a:xfrm>
            <a:off x="1634269" y="3292929"/>
            <a:ext cx="0" cy="10059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1" name="Google Shape;1941;p37"/>
          <p:cNvSpPr/>
          <p:nvPr/>
        </p:nvSpPr>
        <p:spPr>
          <a:xfrm>
            <a:off x="1634269" y="4270381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37"/>
          <p:cNvSpPr/>
          <p:nvPr/>
        </p:nvSpPr>
        <p:spPr>
          <a:xfrm>
            <a:off x="2938735" y="4270381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3" name="Google Shape;1943;p37"/>
          <p:cNvCxnSpPr/>
          <p:nvPr/>
        </p:nvCxnSpPr>
        <p:spPr>
          <a:xfrm>
            <a:off x="4132489" y="2258020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4" name="Google Shape;1944;p37"/>
          <p:cNvCxnSpPr/>
          <p:nvPr/>
        </p:nvCxnSpPr>
        <p:spPr>
          <a:xfrm>
            <a:off x="4402047" y="2258020"/>
            <a:ext cx="0" cy="4815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5" name="Google Shape;1945;p37"/>
          <p:cNvSpPr/>
          <p:nvPr/>
        </p:nvSpPr>
        <p:spPr>
          <a:xfrm>
            <a:off x="4402047" y="271079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6" name="Google Shape;1946;p37"/>
          <p:cNvCxnSpPr/>
          <p:nvPr/>
        </p:nvCxnSpPr>
        <p:spPr>
          <a:xfrm>
            <a:off x="4132489" y="3278488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7" name="Google Shape;1947;p37"/>
          <p:cNvCxnSpPr/>
          <p:nvPr/>
        </p:nvCxnSpPr>
        <p:spPr>
          <a:xfrm>
            <a:off x="4402047" y="2739373"/>
            <a:ext cx="0" cy="5391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8" name="Google Shape;1948;p37"/>
          <p:cNvSpPr/>
          <p:nvPr/>
        </p:nvSpPr>
        <p:spPr>
          <a:xfrm>
            <a:off x="4402047" y="271079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37"/>
          <p:cNvSpPr/>
          <p:nvPr/>
        </p:nvSpPr>
        <p:spPr>
          <a:xfrm>
            <a:off x="5331364" y="3004117"/>
            <a:ext cx="57300" cy="356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37"/>
          <p:cNvSpPr/>
          <p:nvPr/>
        </p:nvSpPr>
        <p:spPr>
          <a:xfrm>
            <a:off x="5331364" y="3812789"/>
            <a:ext cx="57300" cy="385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1" name="Google Shape;1951;p37"/>
          <p:cNvCxnSpPr/>
          <p:nvPr/>
        </p:nvCxnSpPr>
        <p:spPr>
          <a:xfrm>
            <a:off x="4132489" y="4298956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2" name="Google Shape;1952;p37"/>
          <p:cNvCxnSpPr/>
          <p:nvPr/>
        </p:nvCxnSpPr>
        <p:spPr>
          <a:xfrm>
            <a:off x="4402047" y="4298956"/>
            <a:ext cx="0" cy="1587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3" name="Google Shape;1953;p37"/>
          <p:cNvSpPr/>
          <p:nvPr/>
        </p:nvSpPr>
        <p:spPr>
          <a:xfrm>
            <a:off x="4402047" y="4429227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37"/>
          <p:cNvSpPr/>
          <p:nvPr/>
        </p:nvSpPr>
        <p:spPr>
          <a:xfrm>
            <a:off x="4671632" y="2474595"/>
            <a:ext cx="1376700" cy="529500"/>
          </a:xfrm>
          <a:prstGeom prst="roundRect">
            <a:avLst>
              <a:gd fmla="val 14391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QKᵀ / √dₕ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37"/>
          <p:cNvSpPr/>
          <p:nvPr/>
        </p:nvSpPr>
        <p:spPr>
          <a:xfrm>
            <a:off x="4671632" y="3346513"/>
            <a:ext cx="1376700" cy="514500"/>
          </a:xfrm>
          <a:prstGeom prst="roundRect">
            <a:avLst>
              <a:gd fmla="val 16841" name="adj"/>
            </a:avLst>
          </a:prstGeom>
          <a:solidFill>
            <a:srgbClr val="FFFFFF"/>
          </a:solidFill>
          <a:ln cap="flat" cmpd="sng" w="9525">
            <a:solidFill>
              <a:srgbClr val="826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75"/>
              <a:buFont typeface="Arial"/>
              <a:buNone/>
            </a:pPr>
            <a:r>
              <a:rPr b="0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= softmax(S+M)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37"/>
          <p:cNvSpPr/>
          <p:nvPr/>
        </p:nvSpPr>
        <p:spPr>
          <a:xfrm>
            <a:off x="4671632" y="4197858"/>
            <a:ext cx="1376700" cy="519900"/>
          </a:xfrm>
          <a:prstGeom prst="roundRect">
            <a:avLst>
              <a:gd fmla="val 14658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 = AV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37"/>
          <p:cNvSpPr/>
          <p:nvPr/>
        </p:nvSpPr>
        <p:spPr>
          <a:xfrm>
            <a:off x="666750" y="3042666"/>
            <a:ext cx="808800" cy="500700"/>
          </a:xfrm>
          <a:prstGeom prst="roundRect">
            <a:avLst>
              <a:gd fmla="val 15222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37"/>
          <p:cNvSpPr/>
          <p:nvPr/>
        </p:nvSpPr>
        <p:spPr>
          <a:xfrm>
            <a:off x="1793081" y="1993297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37"/>
          <p:cNvSpPr/>
          <p:nvPr/>
        </p:nvSpPr>
        <p:spPr>
          <a:xfrm>
            <a:off x="3285268" y="1993297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37"/>
          <p:cNvSpPr/>
          <p:nvPr/>
        </p:nvSpPr>
        <p:spPr>
          <a:xfrm>
            <a:off x="1793081" y="3013710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37"/>
          <p:cNvSpPr/>
          <p:nvPr/>
        </p:nvSpPr>
        <p:spPr>
          <a:xfrm>
            <a:off x="3285268" y="3013710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37"/>
          <p:cNvSpPr/>
          <p:nvPr/>
        </p:nvSpPr>
        <p:spPr>
          <a:xfrm>
            <a:off x="1793081" y="4034219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37"/>
          <p:cNvSpPr/>
          <p:nvPr/>
        </p:nvSpPr>
        <p:spPr>
          <a:xfrm>
            <a:off x="3285268" y="4034219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37"/>
          <p:cNvSpPr/>
          <p:nvPr/>
        </p:nvSpPr>
        <p:spPr>
          <a:xfrm>
            <a:off x="666750" y="4814030"/>
            <a:ext cx="5391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and K include RoPE; M excludes future positions.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3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36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Rotary Positional Encoding (RoPE)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2" name="Google Shape;1972;p3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3" name="Google Shape;1973;p3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3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3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3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3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3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3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3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3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3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3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36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36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36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36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36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36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36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36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36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36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4" name="Google Shape;1994;p36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5" name="Google Shape;1995;p36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6" name="Google Shape;1996;p36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7" name="Google Shape;1997;p36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8" name="Google Shape;1998;p36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9" name="Google Shape;1999;p36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36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36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36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36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36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36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36"/>
          <p:cNvSpPr/>
          <p:nvPr/>
        </p:nvSpPr>
        <p:spPr>
          <a:xfrm>
            <a:off x="640271" y="3625691"/>
            <a:ext cx="1553100" cy="308700"/>
          </a:xfrm>
          <a:prstGeom prst="roundRect">
            <a:avLst>
              <a:gd fmla="val 1234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36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36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36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36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1" name="Google Shape;2011;p36" title="RoPE_Relative_Posi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625" y="1522175"/>
            <a:ext cx="8710218" cy="489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38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38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Score Scaling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9" name="Google Shape;2019;p38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0" name="Google Shape;2020;p38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38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38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38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38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38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38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38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38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38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38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38"/>
          <p:cNvSpPr/>
          <p:nvPr/>
        </p:nvSpPr>
        <p:spPr>
          <a:xfrm>
            <a:off x="666750" y="1519142"/>
            <a:ext cx="5067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NUMERICAL STABILITY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38"/>
          <p:cNvSpPr/>
          <p:nvPr/>
        </p:nvSpPr>
        <p:spPr>
          <a:xfrm>
            <a:off x="666750" y="1842992"/>
            <a:ext cx="5067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Divide scores by √dₕ before softmax.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38"/>
          <p:cNvSpPr/>
          <p:nvPr/>
        </p:nvSpPr>
        <p:spPr>
          <a:xfrm>
            <a:off x="666750" y="2505075"/>
            <a:ext cx="59055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dot product sums dₕ products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Under simple assumptions, its variance grows with 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Large scores can make softmax overly concentrated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Scaling controls variance without changing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38"/>
          <p:cNvSpPr/>
          <p:nvPr/>
        </p:nvSpPr>
        <p:spPr>
          <a:xfrm>
            <a:off x="6915150" y="1704975"/>
            <a:ext cx="3372000" cy="647700"/>
          </a:xfrm>
          <a:prstGeom prst="roundRect">
            <a:avLst>
              <a:gd fmla="val 26471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38"/>
          <p:cNvSpPr/>
          <p:nvPr/>
        </p:nvSpPr>
        <p:spPr>
          <a:xfrm>
            <a:off x="7086600" y="1800225"/>
            <a:ext cx="30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Var(q·k)≈dₕ  ⇒  Var(q·k/√dₕ)≈1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38"/>
          <p:cNvSpPr/>
          <p:nvPr/>
        </p:nvSpPr>
        <p:spPr>
          <a:xfrm>
            <a:off x="7029450" y="2695575"/>
            <a:ext cx="3143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SOFTMAX EXAMPLE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38"/>
          <p:cNvSpPr/>
          <p:nvPr/>
        </p:nvSpPr>
        <p:spPr>
          <a:xfrm>
            <a:off x="6953250" y="3152775"/>
            <a:ext cx="1467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large scores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38"/>
          <p:cNvSpPr/>
          <p:nvPr/>
        </p:nvSpPr>
        <p:spPr>
          <a:xfrm>
            <a:off x="8743950" y="3152775"/>
            <a:ext cx="14670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controlled scores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38"/>
          <p:cNvSpPr/>
          <p:nvPr/>
        </p:nvSpPr>
        <p:spPr>
          <a:xfrm>
            <a:off x="6667500" y="3428619"/>
            <a:ext cx="1924200" cy="1010400"/>
          </a:xfrm>
          <a:prstGeom prst="roundRect">
            <a:avLst>
              <a:gd fmla="val 15116" name="adj"/>
            </a:avLst>
          </a:prstGeom>
          <a:solidFill>
            <a:srgbClr val="FFFFFF"/>
          </a:solidFill>
          <a:ln cap="flat" cmpd="sng" w="1237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Scores [4, 1,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Probabilities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93.6%, 4.7%, 1.7%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38"/>
          <p:cNvSpPr/>
          <p:nvPr/>
        </p:nvSpPr>
        <p:spPr>
          <a:xfrm>
            <a:off x="8715375" y="3428619"/>
            <a:ext cx="1924200" cy="1010400"/>
          </a:xfrm>
          <a:prstGeom prst="roundRect">
            <a:avLst>
              <a:gd fmla="val 15116" name="adj"/>
            </a:avLst>
          </a:prstGeom>
          <a:solidFill>
            <a:srgbClr val="EAF5FB"/>
          </a:solidFill>
          <a:ln cap="flat" cmpd="sng" w="1237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Scores [2, 0.5,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Probabilities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1" i="0" lang="en-US" sz="16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73.6%, 16.4%, 10.0%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38"/>
          <p:cNvSpPr/>
          <p:nvPr/>
        </p:nvSpPr>
        <p:spPr>
          <a:xfrm>
            <a:off x="6953250" y="4676775"/>
            <a:ext cx="3276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275"/>
              <a:buFont typeface="Arial"/>
              <a:buNone/>
            </a:pPr>
            <a:r>
              <a:rPr b="1" i="0" lang="en-US" sz="1350" u="none" cap="none" strike="noStrike">
                <a:solidFill>
                  <a:srgbClr val="8263CE"/>
                </a:solidFill>
                <a:latin typeface="Arial"/>
                <a:ea typeface="Arial"/>
                <a:cs typeface="Arial"/>
                <a:sym typeface="Arial"/>
              </a:rPr>
              <a:t>Example dₕ = 4, so divide scores by 2. Softmax changes; tensor shape stays fixed.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38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38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38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 [B,H,T,T]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38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38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38"/>
          <p:cNvSpPr/>
          <p:nvPr/>
        </p:nvSpPr>
        <p:spPr>
          <a:xfrm>
            <a:off x="3524250" y="5686425"/>
            <a:ext cx="23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Scaled S; same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38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38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38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38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8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38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lower-order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38"/>
          <p:cNvSpPr/>
          <p:nvPr/>
        </p:nvSpPr>
        <p:spPr>
          <a:xfrm>
            <a:off x="699300" y="4171700"/>
            <a:ext cx="4605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5" name="Google Shape;20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0" y="4286250"/>
            <a:ext cx="2726245" cy="1014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39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39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 Scores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3" name="Google Shape;2063;p39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4" name="Google Shape;2064;p39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39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39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39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39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39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39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39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39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39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39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39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39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39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A [B,H,T,T],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39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39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39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C 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39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39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39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39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39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39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7" name="Google Shape;2087;p39"/>
          <p:cNvCxnSpPr/>
          <p:nvPr/>
        </p:nvCxnSpPr>
        <p:spPr>
          <a:xfrm>
            <a:off x="1475422" y="319767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8" name="Google Shape;2088;p39"/>
          <p:cNvCxnSpPr/>
          <p:nvPr/>
        </p:nvCxnSpPr>
        <p:spPr>
          <a:xfrm>
            <a:off x="1634269" y="2162770"/>
            <a:ext cx="0" cy="10350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9" name="Google Shape;2089;p39"/>
          <p:cNvSpPr/>
          <p:nvPr/>
        </p:nvSpPr>
        <p:spPr>
          <a:xfrm>
            <a:off x="1634269" y="2134195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39"/>
          <p:cNvSpPr/>
          <p:nvPr/>
        </p:nvSpPr>
        <p:spPr>
          <a:xfrm>
            <a:off x="2938735" y="2134195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1" name="Google Shape;2091;p39"/>
          <p:cNvCxnSpPr/>
          <p:nvPr/>
        </p:nvCxnSpPr>
        <p:spPr>
          <a:xfrm>
            <a:off x="1475422" y="319767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2" name="Google Shape;2092;p39"/>
          <p:cNvCxnSpPr/>
          <p:nvPr/>
        </p:nvCxnSpPr>
        <p:spPr>
          <a:xfrm>
            <a:off x="1634269" y="3183238"/>
            <a:ext cx="0" cy="144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3" name="Google Shape;2093;p39"/>
          <p:cNvSpPr/>
          <p:nvPr/>
        </p:nvSpPr>
        <p:spPr>
          <a:xfrm>
            <a:off x="1634269" y="3154663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39"/>
          <p:cNvSpPr/>
          <p:nvPr/>
        </p:nvSpPr>
        <p:spPr>
          <a:xfrm>
            <a:off x="2938735" y="3154663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5" name="Google Shape;2095;p39"/>
          <p:cNvCxnSpPr/>
          <p:nvPr/>
        </p:nvCxnSpPr>
        <p:spPr>
          <a:xfrm>
            <a:off x="1475422" y="319767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6" name="Google Shape;2096;p39"/>
          <p:cNvCxnSpPr/>
          <p:nvPr/>
        </p:nvCxnSpPr>
        <p:spPr>
          <a:xfrm>
            <a:off x="1634269" y="3197679"/>
            <a:ext cx="0" cy="10059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7" name="Google Shape;2097;p39"/>
          <p:cNvSpPr/>
          <p:nvPr/>
        </p:nvSpPr>
        <p:spPr>
          <a:xfrm>
            <a:off x="1634269" y="4175131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39"/>
          <p:cNvSpPr/>
          <p:nvPr/>
        </p:nvSpPr>
        <p:spPr>
          <a:xfrm>
            <a:off x="2938735" y="4175131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9" name="Google Shape;2099;p39"/>
          <p:cNvCxnSpPr/>
          <p:nvPr/>
        </p:nvCxnSpPr>
        <p:spPr>
          <a:xfrm>
            <a:off x="4132489" y="2162770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0" name="Google Shape;2100;p39"/>
          <p:cNvCxnSpPr/>
          <p:nvPr/>
        </p:nvCxnSpPr>
        <p:spPr>
          <a:xfrm>
            <a:off x="4402047" y="2162770"/>
            <a:ext cx="0" cy="4815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1" name="Google Shape;2101;p39"/>
          <p:cNvSpPr/>
          <p:nvPr/>
        </p:nvSpPr>
        <p:spPr>
          <a:xfrm>
            <a:off x="4402047" y="261554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2" name="Google Shape;2102;p39"/>
          <p:cNvCxnSpPr/>
          <p:nvPr/>
        </p:nvCxnSpPr>
        <p:spPr>
          <a:xfrm>
            <a:off x="4132489" y="3183238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3" name="Google Shape;2103;p39"/>
          <p:cNvCxnSpPr/>
          <p:nvPr/>
        </p:nvCxnSpPr>
        <p:spPr>
          <a:xfrm>
            <a:off x="4402047" y="2644123"/>
            <a:ext cx="0" cy="5391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4" name="Google Shape;2104;p39"/>
          <p:cNvSpPr/>
          <p:nvPr/>
        </p:nvSpPr>
        <p:spPr>
          <a:xfrm>
            <a:off x="4402047" y="261554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39"/>
          <p:cNvSpPr/>
          <p:nvPr/>
        </p:nvSpPr>
        <p:spPr>
          <a:xfrm>
            <a:off x="5331364" y="2908867"/>
            <a:ext cx="57300" cy="356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39"/>
          <p:cNvSpPr/>
          <p:nvPr/>
        </p:nvSpPr>
        <p:spPr>
          <a:xfrm>
            <a:off x="5331364" y="3717539"/>
            <a:ext cx="57300" cy="385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7" name="Google Shape;2107;p39"/>
          <p:cNvCxnSpPr/>
          <p:nvPr/>
        </p:nvCxnSpPr>
        <p:spPr>
          <a:xfrm>
            <a:off x="4132489" y="4203706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8" name="Google Shape;2108;p39"/>
          <p:cNvCxnSpPr/>
          <p:nvPr/>
        </p:nvCxnSpPr>
        <p:spPr>
          <a:xfrm>
            <a:off x="4402047" y="4203706"/>
            <a:ext cx="0" cy="1587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9" name="Google Shape;2109;p39"/>
          <p:cNvSpPr/>
          <p:nvPr/>
        </p:nvSpPr>
        <p:spPr>
          <a:xfrm>
            <a:off x="4402047" y="4333977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39"/>
          <p:cNvSpPr/>
          <p:nvPr/>
        </p:nvSpPr>
        <p:spPr>
          <a:xfrm>
            <a:off x="4671632" y="2379345"/>
            <a:ext cx="1376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QKᵀ / √dₕ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39"/>
          <p:cNvSpPr/>
          <p:nvPr/>
        </p:nvSpPr>
        <p:spPr>
          <a:xfrm>
            <a:off x="4671632" y="3251263"/>
            <a:ext cx="1376700" cy="514500"/>
          </a:xfrm>
          <a:prstGeom prst="roundRect">
            <a:avLst>
              <a:gd fmla="val 16841" name="adj"/>
            </a:avLst>
          </a:prstGeom>
          <a:solidFill>
            <a:srgbClr val="EAF5FB"/>
          </a:solidFill>
          <a:ln cap="flat" cmpd="sng" w="9525">
            <a:solidFill>
              <a:srgbClr val="826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75"/>
              <a:buFont typeface="Arial"/>
              <a:buNone/>
            </a:pPr>
            <a:r>
              <a:rPr b="0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= softmax(S+M)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39"/>
          <p:cNvSpPr/>
          <p:nvPr/>
        </p:nvSpPr>
        <p:spPr>
          <a:xfrm>
            <a:off x="4671632" y="4102608"/>
            <a:ext cx="1376700" cy="519900"/>
          </a:xfrm>
          <a:prstGeom prst="roundRect">
            <a:avLst>
              <a:gd fmla="val 14658" name="adj"/>
            </a:avLst>
          </a:prstGeom>
          <a:solidFill>
            <a:srgbClr val="EAF5FB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 = AV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39"/>
          <p:cNvSpPr/>
          <p:nvPr/>
        </p:nvSpPr>
        <p:spPr>
          <a:xfrm>
            <a:off x="666750" y="2947416"/>
            <a:ext cx="808800" cy="500700"/>
          </a:xfrm>
          <a:prstGeom prst="roundRect">
            <a:avLst>
              <a:gd fmla="val 15222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39"/>
          <p:cNvSpPr/>
          <p:nvPr/>
        </p:nvSpPr>
        <p:spPr>
          <a:xfrm>
            <a:off x="1793081" y="1898047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39"/>
          <p:cNvSpPr/>
          <p:nvPr/>
        </p:nvSpPr>
        <p:spPr>
          <a:xfrm>
            <a:off x="3285268" y="1898047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39"/>
          <p:cNvSpPr/>
          <p:nvPr/>
        </p:nvSpPr>
        <p:spPr>
          <a:xfrm>
            <a:off x="1793081" y="2918460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39"/>
          <p:cNvSpPr/>
          <p:nvPr/>
        </p:nvSpPr>
        <p:spPr>
          <a:xfrm>
            <a:off x="3285268" y="2918460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39"/>
          <p:cNvSpPr/>
          <p:nvPr/>
        </p:nvSpPr>
        <p:spPr>
          <a:xfrm>
            <a:off x="1793081" y="3938969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39"/>
          <p:cNvSpPr/>
          <p:nvPr/>
        </p:nvSpPr>
        <p:spPr>
          <a:xfrm>
            <a:off x="3285268" y="3938969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39"/>
          <p:cNvSpPr/>
          <p:nvPr/>
        </p:nvSpPr>
        <p:spPr>
          <a:xfrm>
            <a:off x="666750" y="4718780"/>
            <a:ext cx="5391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and K include RoPE; M excludes future positions.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39"/>
          <p:cNvSpPr/>
          <p:nvPr/>
        </p:nvSpPr>
        <p:spPr>
          <a:xfrm>
            <a:off x="666750" y="5076825"/>
            <a:ext cx="5476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Check — change V only: do the weights change?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39"/>
          <p:cNvSpPr/>
          <p:nvPr/>
        </p:nvSpPr>
        <p:spPr>
          <a:xfrm>
            <a:off x="6667500" y="1543050"/>
            <a:ext cx="47052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6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head; three visible keys; values have width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39"/>
          <p:cNvSpPr/>
          <p:nvPr/>
        </p:nvSpPr>
        <p:spPr>
          <a:xfrm>
            <a:off x="7048500" y="2219325"/>
            <a:ext cx="3857700" cy="381000"/>
          </a:xfrm>
          <a:prstGeom prst="roundRect">
            <a:avLst>
              <a:gd fmla="val 20000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5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row = [2, 1,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39"/>
          <p:cNvSpPr/>
          <p:nvPr/>
        </p:nvSpPr>
        <p:spPr>
          <a:xfrm>
            <a:off x="6667500" y="2638425"/>
            <a:ext cx="469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263CE"/>
              </a:buClr>
              <a:buSzPts val="1425"/>
              <a:buFont typeface="Arial"/>
              <a:buNone/>
            </a:pPr>
            <a:r>
              <a:rPr b="1" i="0" lang="en-US" sz="1800" u="none" cap="none" strike="noStrike">
                <a:solidFill>
                  <a:srgbClr val="8263CE"/>
                </a:solidFill>
                <a:latin typeface="Arial"/>
                <a:ea typeface="Arial"/>
                <a:cs typeface="Arial"/>
                <a:sym typeface="Arial"/>
              </a:rPr>
              <a:t>A = softmax(S+M) ≈ [0.665, 0.245, 0.090]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5" name="Google Shape;2125;p39"/>
          <p:cNvSpPr/>
          <p:nvPr/>
        </p:nvSpPr>
        <p:spPr>
          <a:xfrm>
            <a:off x="6915150" y="310515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39"/>
          <p:cNvSpPr/>
          <p:nvPr/>
        </p:nvSpPr>
        <p:spPr>
          <a:xfrm>
            <a:off x="8305800" y="310515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39"/>
          <p:cNvSpPr/>
          <p:nvPr/>
        </p:nvSpPr>
        <p:spPr>
          <a:xfrm>
            <a:off x="9696450" y="310515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39"/>
          <p:cNvSpPr/>
          <p:nvPr/>
        </p:nvSpPr>
        <p:spPr>
          <a:xfrm>
            <a:off x="6915150" y="343852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39"/>
          <p:cNvSpPr/>
          <p:nvPr/>
        </p:nvSpPr>
        <p:spPr>
          <a:xfrm>
            <a:off x="8305800" y="343852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0.665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39"/>
          <p:cNvSpPr/>
          <p:nvPr/>
        </p:nvSpPr>
        <p:spPr>
          <a:xfrm>
            <a:off x="9696450" y="343852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[2,0]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1" name="Google Shape;2131;p39"/>
          <p:cNvSpPr/>
          <p:nvPr/>
        </p:nvSpPr>
        <p:spPr>
          <a:xfrm>
            <a:off x="6915150" y="377190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39"/>
          <p:cNvSpPr/>
          <p:nvPr/>
        </p:nvSpPr>
        <p:spPr>
          <a:xfrm>
            <a:off x="8305800" y="377190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0.245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39"/>
          <p:cNvSpPr/>
          <p:nvPr/>
        </p:nvSpPr>
        <p:spPr>
          <a:xfrm>
            <a:off x="9696450" y="3771900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EAF5FB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[0,2]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39"/>
          <p:cNvSpPr/>
          <p:nvPr/>
        </p:nvSpPr>
        <p:spPr>
          <a:xfrm>
            <a:off x="6915150" y="410527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39"/>
          <p:cNvSpPr/>
          <p:nvPr/>
        </p:nvSpPr>
        <p:spPr>
          <a:xfrm>
            <a:off x="8305800" y="410527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0.090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39"/>
          <p:cNvSpPr/>
          <p:nvPr/>
        </p:nvSpPr>
        <p:spPr>
          <a:xfrm>
            <a:off x="9696450" y="4105275"/>
            <a:ext cx="1371600" cy="3144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[1,1]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39"/>
          <p:cNvSpPr/>
          <p:nvPr/>
        </p:nvSpPr>
        <p:spPr>
          <a:xfrm>
            <a:off x="6610350" y="4581525"/>
            <a:ext cx="4762500" cy="619200"/>
          </a:xfrm>
          <a:prstGeom prst="roundRect">
            <a:avLst>
              <a:gd fmla="val 12308" name="adj"/>
            </a:avLst>
          </a:prstGeom>
          <a:solidFill>
            <a:srgbClr val="EAF5FB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 = 0.665[2,0] + 0.245[0,2] + 0.090[1,1]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≈ [1.420, 0.580]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4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40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QKV Concat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5" name="Google Shape;2145;p4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6" name="Google Shape;2146;p40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4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4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4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4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4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4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4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4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4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4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40"/>
          <p:cNvSpPr/>
          <p:nvPr/>
        </p:nvSpPr>
        <p:spPr>
          <a:xfrm>
            <a:off x="1713548" y="1657350"/>
            <a:ext cx="480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RETURN TO MODEL WIDTH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40"/>
          <p:cNvSpPr/>
          <p:nvPr/>
        </p:nvSpPr>
        <p:spPr>
          <a:xfrm>
            <a:off x="1713548" y="1981200"/>
            <a:ext cx="4800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Concatenation restores width d; W_O mixes heads.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40"/>
          <p:cNvSpPr/>
          <p:nvPr/>
        </p:nvSpPr>
        <p:spPr>
          <a:xfrm>
            <a:off x="1713548" y="2895791"/>
            <a:ext cx="4800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head returns [B,T,dₕ]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Concatenate H heads into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Apply W_O [d,d] to mix their outputs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Add the result to the unchanged residual 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40"/>
          <p:cNvSpPr/>
          <p:nvPr/>
        </p:nvSpPr>
        <p:spPr>
          <a:xfrm>
            <a:off x="6818971" y="1714500"/>
            <a:ext cx="1428900" cy="514500"/>
          </a:xfrm>
          <a:prstGeom prst="roundRect">
            <a:avLst>
              <a:gd fmla="val 20370" name="adj"/>
            </a:avLst>
          </a:prstGeom>
          <a:solidFill>
            <a:srgbClr val="FFFFFF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40"/>
          <p:cNvSpPr/>
          <p:nvPr/>
        </p:nvSpPr>
        <p:spPr>
          <a:xfrm>
            <a:off x="6952298" y="173174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head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40"/>
          <p:cNvSpPr/>
          <p:nvPr/>
        </p:nvSpPr>
        <p:spPr>
          <a:xfrm>
            <a:off x="6818971" y="2438400"/>
            <a:ext cx="1428900" cy="514500"/>
          </a:xfrm>
          <a:prstGeom prst="roundRect">
            <a:avLst>
              <a:gd fmla="val 20370" name="adj"/>
            </a:avLst>
          </a:prstGeom>
          <a:solidFill>
            <a:srgbClr val="FFFFFF"/>
          </a:solidFill>
          <a:ln cap="flat" cmpd="sng" w="123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40"/>
          <p:cNvSpPr/>
          <p:nvPr/>
        </p:nvSpPr>
        <p:spPr>
          <a:xfrm>
            <a:off x="6952298" y="245564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head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40"/>
          <p:cNvSpPr/>
          <p:nvPr/>
        </p:nvSpPr>
        <p:spPr>
          <a:xfrm>
            <a:off x="6818971" y="3162300"/>
            <a:ext cx="1428900" cy="514500"/>
          </a:xfrm>
          <a:prstGeom prst="roundRect">
            <a:avLst>
              <a:gd fmla="val 20370" name="adj"/>
            </a:avLst>
          </a:prstGeom>
          <a:solidFill>
            <a:srgbClr val="FFFFFF"/>
          </a:solidFill>
          <a:ln cap="flat" cmpd="sng" w="1237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40"/>
          <p:cNvSpPr/>
          <p:nvPr/>
        </p:nvSpPr>
        <p:spPr>
          <a:xfrm>
            <a:off x="6952298" y="317954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head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40"/>
          <p:cNvSpPr/>
          <p:nvPr/>
        </p:nvSpPr>
        <p:spPr>
          <a:xfrm>
            <a:off x="6818971" y="3886200"/>
            <a:ext cx="1428900" cy="514500"/>
          </a:xfrm>
          <a:prstGeom prst="roundRect">
            <a:avLst>
              <a:gd fmla="val 20370" name="adj"/>
            </a:avLst>
          </a:prstGeom>
          <a:solidFill>
            <a:srgbClr val="FFFFFF"/>
          </a:solidFill>
          <a:ln cap="flat" cmpd="sng" w="1237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40"/>
          <p:cNvSpPr/>
          <p:nvPr/>
        </p:nvSpPr>
        <p:spPr>
          <a:xfrm>
            <a:off x="6952298" y="390344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head 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40"/>
          <p:cNvSpPr/>
          <p:nvPr/>
        </p:nvSpPr>
        <p:spPr>
          <a:xfrm>
            <a:off x="8609671" y="2305050"/>
            <a:ext cx="1657500" cy="628800"/>
          </a:xfrm>
          <a:prstGeom prst="roundRect">
            <a:avLst>
              <a:gd fmla="val 19697" name="adj"/>
            </a:avLst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40"/>
          <p:cNvSpPr/>
          <p:nvPr/>
        </p:nvSpPr>
        <p:spPr>
          <a:xfrm>
            <a:off x="8742998" y="2379440"/>
            <a:ext cx="139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Consolas"/>
                <a:ea typeface="Consolas"/>
                <a:cs typeface="Consolas"/>
                <a:sym typeface="Consolas"/>
              </a:rPr>
              <a:t>concat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40"/>
          <p:cNvSpPr/>
          <p:nvPr/>
        </p:nvSpPr>
        <p:spPr>
          <a:xfrm>
            <a:off x="8609671" y="3219450"/>
            <a:ext cx="1657500" cy="628800"/>
          </a:xfrm>
          <a:prstGeom prst="roundRect">
            <a:avLst>
              <a:gd fmla="val 19697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40"/>
          <p:cNvSpPr/>
          <p:nvPr/>
        </p:nvSpPr>
        <p:spPr>
          <a:xfrm>
            <a:off x="8742998" y="3293840"/>
            <a:ext cx="139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W_O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[128,128]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40"/>
          <p:cNvSpPr/>
          <p:nvPr/>
        </p:nvSpPr>
        <p:spPr>
          <a:xfrm>
            <a:off x="8609671" y="4133850"/>
            <a:ext cx="1657500" cy="628800"/>
          </a:xfrm>
          <a:prstGeom prst="roundRect">
            <a:avLst>
              <a:gd fmla="val 19697" name="adj"/>
            </a:avLst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40"/>
          <p:cNvSpPr/>
          <p:nvPr/>
        </p:nvSpPr>
        <p:spPr>
          <a:xfrm>
            <a:off x="8742998" y="4208240"/>
            <a:ext cx="139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+ residual 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→ 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4" name="Google Shape;2174;p40"/>
          <p:cNvCxnSpPr/>
          <p:nvPr/>
        </p:nvCxnSpPr>
        <p:spPr>
          <a:xfrm>
            <a:off x="8247721" y="1971675"/>
            <a:ext cx="362100" cy="6288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5" name="Google Shape;2175;p40"/>
          <p:cNvCxnSpPr>
            <a:stCxn id="2162" idx="3"/>
            <a:endCxn id="2168" idx="1"/>
          </p:cNvCxnSpPr>
          <p:nvPr/>
        </p:nvCxnSpPr>
        <p:spPr>
          <a:xfrm flipH="1" rot="10800000">
            <a:off x="8247871" y="2619450"/>
            <a:ext cx="361800" cy="762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6" name="Google Shape;2176;p40"/>
          <p:cNvCxnSpPr>
            <a:stCxn id="2164" idx="3"/>
            <a:endCxn id="2168" idx="1"/>
          </p:cNvCxnSpPr>
          <p:nvPr/>
        </p:nvCxnSpPr>
        <p:spPr>
          <a:xfrm flipH="1" rot="10800000">
            <a:off x="8247871" y="2619450"/>
            <a:ext cx="361800" cy="8001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7" name="Google Shape;2177;p40"/>
          <p:cNvCxnSpPr>
            <a:stCxn id="2166" idx="3"/>
            <a:endCxn id="2168" idx="1"/>
          </p:cNvCxnSpPr>
          <p:nvPr/>
        </p:nvCxnSpPr>
        <p:spPr>
          <a:xfrm flipH="1" rot="10800000">
            <a:off x="8247871" y="2619450"/>
            <a:ext cx="361800" cy="15240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8" name="Google Shape;2178;p40"/>
          <p:cNvCxnSpPr>
            <a:stCxn id="2168" idx="2"/>
            <a:endCxn id="2170" idx="0"/>
          </p:cNvCxnSpPr>
          <p:nvPr/>
        </p:nvCxnSpPr>
        <p:spPr>
          <a:xfrm>
            <a:off x="9438421" y="2933850"/>
            <a:ext cx="0" cy="285600"/>
          </a:xfrm>
          <a:prstGeom prst="straightConnector1">
            <a:avLst/>
          </a:prstGeom>
          <a:noFill/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79" name="Google Shape;2179;p40"/>
          <p:cNvCxnSpPr>
            <a:stCxn id="2170" idx="2"/>
            <a:endCxn id="2172" idx="0"/>
          </p:cNvCxnSpPr>
          <p:nvPr/>
        </p:nvCxnSpPr>
        <p:spPr>
          <a:xfrm>
            <a:off x="9438421" y="3848250"/>
            <a:ext cx="0" cy="285600"/>
          </a:xfrm>
          <a:prstGeom prst="straightConnector1">
            <a:avLst/>
          </a:prstGeom>
          <a:noFill/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80" name="Google Shape;2180;p40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40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40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4×[1,16,32]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40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40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40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40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40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40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W_O: d²=16,384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40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40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40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2BTd²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41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41"/>
          <p:cNvSpPr/>
          <p:nvPr/>
        </p:nvSpPr>
        <p:spPr>
          <a:xfrm>
            <a:off x="457200" y="5810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 Computing 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9" name="Google Shape;2199;p41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0" name="Google Shape;2200;p41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41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41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41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41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41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41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41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41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41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41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41"/>
          <p:cNvSpPr/>
          <p:nvPr/>
        </p:nvSpPr>
        <p:spPr>
          <a:xfrm>
            <a:off x="514350" y="1600200"/>
            <a:ext cx="1866900" cy="4152900"/>
          </a:xfrm>
          <a:prstGeom prst="roundRect">
            <a:avLst>
              <a:gd fmla="val 9184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1"/>
          <p:cNvSpPr/>
          <p:nvPr/>
        </p:nvSpPr>
        <p:spPr>
          <a:xfrm>
            <a:off x="666750" y="4962525"/>
            <a:ext cx="1562100" cy="419100"/>
          </a:xfrm>
          <a:prstGeom prst="roundRect">
            <a:avLst>
              <a:gd fmla="val 25000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41"/>
          <p:cNvSpPr/>
          <p:nvPr/>
        </p:nvSpPr>
        <p:spPr>
          <a:xfrm>
            <a:off x="800100" y="4954143"/>
            <a:ext cx="1295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ATTENTION COMPLETE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41"/>
          <p:cNvSpPr/>
          <p:nvPr/>
        </p:nvSpPr>
        <p:spPr>
          <a:xfrm>
            <a:off x="2724150" y="1657350"/>
            <a:ext cx="5124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LAYER CHECKPOINT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41"/>
          <p:cNvSpPr/>
          <p:nvPr/>
        </p:nvSpPr>
        <p:spPr>
          <a:xfrm>
            <a:off x="2724150" y="1981200"/>
            <a:ext cx="5124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08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Dense projections grow with T; pairwise work grows with T².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41"/>
          <p:cNvSpPr/>
          <p:nvPr/>
        </p:nvSpPr>
        <p:spPr>
          <a:xfrm>
            <a:off x="2724150" y="2895600"/>
            <a:ext cx="51246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QKV and output matrices contribute 8BTd²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Score and value products contribute 4BT²d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Short toy context — dense projections dominate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Long context — pairwise work grows faster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41"/>
          <p:cNvSpPr/>
          <p:nvPr/>
        </p:nvSpPr>
        <p:spPr>
          <a:xfrm>
            <a:off x="8096250" y="1752600"/>
            <a:ext cx="3295800" cy="666900"/>
          </a:xfrm>
          <a:prstGeom prst="roundRect">
            <a:avLst>
              <a:gd fmla="val 2571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41"/>
          <p:cNvSpPr/>
          <p:nvPr/>
        </p:nvSpPr>
        <p:spPr>
          <a:xfrm>
            <a:off x="8267700" y="1847850"/>
            <a:ext cx="2952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MHA FLOPs ≈ 8BTd² + 4BT²d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41"/>
          <p:cNvSpPr/>
          <p:nvPr/>
        </p:nvSpPr>
        <p:spPr>
          <a:xfrm>
            <a:off x="8058150" y="2724150"/>
            <a:ext cx="1657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QKV projections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41"/>
          <p:cNvSpPr/>
          <p:nvPr/>
        </p:nvSpPr>
        <p:spPr>
          <a:xfrm>
            <a:off x="9753600" y="2724150"/>
            <a:ext cx="876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6BTd²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41"/>
          <p:cNvSpPr/>
          <p:nvPr/>
        </p:nvSpPr>
        <p:spPr>
          <a:xfrm>
            <a:off x="10687050" y="272415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Consolas"/>
              <a:buNone/>
            </a:pPr>
            <a:r>
              <a:rPr b="0" i="0" lang="en-US" sz="1200" u="none" cap="none" strike="noStrike">
                <a:solidFill>
                  <a:srgbClr val="5F6670"/>
                </a:solidFill>
                <a:latin typeface="Consolas"/>
                <a:ea typeface="Consolas"/>
                <a:cs typeface="Consolas"/>
                <a:sym typeface="Consolas"/>
              </a:rPr>
              <a:t>1.573M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2" name="Google Shape;2222;p41"/>
          <p:cNvCxnSpPr/>
          <p:nvPr/>
        </p:nvCxnSpPr>
        <p:spPr>
          <a:xfrm>
            <a:off x="8058150" y="3048000"/>
            <a:ext cx="32577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3" name="Google Shape;2223;p41"/>
          <p:cNvSpPr/>
          <p:nvPr/>
        </p:nvSpPr>
        <p:spPr>
          <a:xfrm>
            <a:off x="8058150" y="3448050"/>
            <a:ext cx="16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12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QKᵀ + AV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41"/>
          <p:cNvSpPr/>
          <p:nvPr/>
        </p:nvSpPr>
        <p:spPr>
          <a:xfrm>
            <a:off x="9753600" y="3448050"/>
            <a:ext cx="876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4BT²d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41"/>
          <p:cNvSpPr/>
          <p:nvPr/>
        </p:nvSpPr>
        <p:spPr>
          <a:xfrm>
            <a:off x="10687050" y="344805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Consolas"/>
              <a:buNone/>
            </a:pPr>
            <a:r>
              <a:rPr b="0" i="0" lang="en-US" sz="1200" u="none" cap="none" strike="noStrike">
                <a:solidFill>
                  <a:srgbClr val="5F6670"/>
                </a:solidFill>
                <a:latin typeface="Consolas"/>
                <a:ea typeface="Consolas"/>
                <a:cs typeface="Consolas"/>
                <a:sym typeface="Consolas"/>
              </a:rPr>
              <a:t>0.131M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6" name="Google Shape;2226;p41"/>
          <p:cNvCxnSpPr/>
          <p:nvPr/>
        </p:nvCxnSpPr>
        <p:spPr>
          <a:xfrm>
            <a:off x="8058150" y="3771900"/>
            <a:ext cx="32577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7" name="Google Shape;2227;p41"/>
          <p:cNvSpPr/>
          <p:nvPr/>
        </p:nvSpPr>
        <p:spPr>
          <a:xfrm>
            <a:off x="8058150" y="4171950"/>
            <a:ext cx="1657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output projection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41"/>
          <p:cNvSpPr/>
          <p:nvPr/>
        </p:nvSpPr>
        <p:spPr>
          <a:xfrm>
            <a:off x="9753600" y="4171950"/>
            <a:ext cx="876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2BTd²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9" name="Google Shape;2229;p41"/>
          <p:cNvSpPr/>
          <p:nvPr/>
        </p:nvSpPr>
        <p:spPr>
          <a:xfrm>
            <a:off x="10687050" y="417195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Consolas"/>
              <a:buNone/>
            </a:pPr>
            <a:r>
              <a:rPr b="0" i="0" lang="en-US" sz="1200" u="none" cap="none" strike="noStrike">
                <a:solidFill>
                  <a:srgbClr val="5F6670"/>
                </a:solidFill>
                <a:latin typeface="Consolas"/>
                <a:ea typeface="Consolas"/>
                <a:cs typeface="Consolas"/>
                <a:sym typeface="Consolas"/>
              </a:rPr>
              <a:t>0.524M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0" name="Google Shape;2230;p41"/>
          <p:cNvCxnSpPr/>
          <p:nvPr/>
        </p:nvCxnSpPr>
        <p:spPr>
          <a:xfrm>
            <a:off x="8058150" y="4495800"/>
            <a:ext cx="32577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1" name="Google Shape;2231;p41"/>
          <p:cNvSpPr/>
          <p:nvPr/>
        </p:nvSpPr>
        <p:spPr>
          <a:xfrm>
            <a:off x="7848600" y="4933950"/>
            <a:ext cx="3391200" cy="419100"/>
          </a:xfrm>
          <a:prstGeom prst="roundRect">
            <a:avLst>
              <a:gd fmla="val 25000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41"/>
          <p:cNvSpPr/>
          <p:nvPr/>
        </p:nvSpPr>
        <p:spPr>
          <a:xfrm>
            <a:off x="7587275" y="5002900"/>
            <a:ext cx="3519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143E72"/>
                </a:solidFill>
                <a:latin typeface="Consolas"/>
                <a:ea typeface="Consolas"/>
                <a:cs typeface="Consolas"/>
                <a:sym typeface="Consolas"/>
              </a:rPr>
              <a:t>parameters = 4d² = 65,536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41"/>
          <p:cNvSpPr/>
          <p:nvPr/>
        </p:nvSpPr>
        <p:spPr>
          <a:xfrm>
            <a:off x="667703" y="2256981"/>
            <a:ext cx="1603500" cy="1998000"/>
          </a:xfrm>
          <a:prstGeom prst="roundRect">
            <a:avLst>
              <a:gd fmla="val 3564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41"/>
          <p:cNvSpPr/>
          <p:nvPr/>
        </p:nvSpPr>
        <p:spPr>
          <a:xfrm>
            <a:off x="1343978" y="4545152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41"/>
          <p:cNvSpPr/>
          <p:nvPr/>
        </p:nvSpPr>
        <p:spPr>
          <a:xfrm>
            <a:off x="1343978" y="4178020"/>
            <a:ext cx="57300" cy="111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41"/>
          <p:cNvSpPr/>
          <p:nvPr/>
        </p:nvSpPr>
        <p:spPr>
          <a:xfrm>
            <a:off x="1343978" y="3862116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41"/>
          <p:cNvSpPr/>
          <p:nvPr/>
        </p:nvSpPr>
        <p:spPr>
          <a:xfrm>
            <a:off x="1343978" y="3469370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41"/>
          <p:cNvSpPr/>
          <p:nvPr/>
        </p:nvSpPr>
        <p:spPr>
          <a:xfrm>
            <a:off x="1343978" y="3187618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41"/>
          <p:cNvSpPr/>
          <p:nvPr/>
        </p:nvSpPr>
        <p:spPr>
          <a:xfrm>
            <a:off x="1343978" y="2880251"/>
            <a:ext cx="57300" cy="93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0" name="Google Shape;2240;p41"/>
          <p:cNvSpPr/>
          <p:nvPr/>
        </p:nvSpPr>
        <p:spPr>
          <a:xfrm>
            <a:off x="1343978" y="2504581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1" name="Google Shape;2241;p41"/>
          <p:cNvSpPr/>
          <p:nvPr/>
        </p:nvSpPr>
        <p:spPr>
          <a:xfrm>
            <a:off x="1343978" y="2222829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41"/>
          <p:cNvSpPr/>
          <p:nvPr/>
        </p:nvSpPr>
        <p:spPr>
          <a:xfrm>
            <a:off x="1343978" y="1915463"/>
            <a:ext cx="57300" cy="93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3" name="Google Shape;2243;p41"/>
          <p:cNvCxnSpPr/>
          <p:nvPr/>
        </p:nvCxnSpPr>
        <p:spPr>
          <a:xfrm>
            <a:off x="1372553" y="4237786"/>
            <a:ext cx="7578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4" name="Google Shape;2244;p41"/>
          <p:cNvCxnSpPr/>
          <p:nvPr/>
        </p:nvCxnSpPr>
        <p:spPr>
          <a:xfrm>
            <a:off x="2130266" y="3379722"/>
            <a:ext cx="0" cy="8580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5" name="Google Shape;2245;p41"/>
          <p:cNvSpPr/>
          <p:nvPr/>
        </p:nvSpPr>
        <p:spPr>
          <a:xfrm>
            <a:off x="1457932" y="3351147"/>
            <a:ext cx="6723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6" name="Google Shape;2246;p41"/>
          <p:cNvCxnSpPr/>
          <p:nvPr/>
        </p:nvCxnSpPr>
        <p:spPr>
          <a:xfrm>
            <a:off x="1372553" y="3238845"/>
            <a:ext cx="7578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7" name="Google Shape;2247;p41"/>
          <p:cNvCxnSpPr/>
          <p:nvPr/>
        </p:nvCxnSpPr>
        <p:spPr>
          <a:xfrm>
            <a:off x="2130266" y="2414933"/>
            <a:ext cx="0" cy="8238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8" name="Google Shape;2248;p41"/>
          <p:cNvSpPr/>
          <p:nvPr/>
        </p:nvSpPr>
        <p:spPr>
          <a:xfrm>
            <a:off x="1457932" y="2386358"/>
            <a:ext cx="6723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41"/>
          <p:cNvSpPr/>
          <p:nvPr/>
        </p:nvSpPr>
        <p:spPr>
          <a:xfrm>
            <a:off x="659511" y="1674019"/>
            <a:ext cx="1425900" cy="247800"/>
          </a:xfrm>
          <a:prstGeom prst="roundRect">
            <a:avLst>
              <a:gd fmla="val 15937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41"/>
          <p:cNvSpPr/>
          <p:nvPr/>
        </p:nvSpPr>
        <p:spPr>
          <a:xfrm>
            <a:off x="716280" y="1994249"/>
            <a:ext cx="13125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41"/>
          <p:cNvSpPr/>
          <p:nvPr/>
        </p:nvSpPr>
        <p:spPr>
          <a:xfrm>
            <a:off x="1287208" y="2300573"/>
            <a:ext cx="1707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41"/>
          <p:cNvSpPr/>
          <p:nvPr/>
        </p:nvSpPr>
        <p:spPr>
          <a:xfrm>
            <a:off x="773430" y="2606993"/>
            <a:ext cx="1198200" cy="273300"/>
          </a:xfrm>
          <a:prstGeom prst="roundRect">
            <a:avLst>
              <a:gd fmla="val 13945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41"/>
          <p:cNvSpPr/>
          <p:nvPr/>
        </p:nvSpPr>
        <p:spPr>
          <a:xfrm>
            <a:off x="773430" y="2958941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41"/>
          <p:cNvSpPr/>
          <p:nvPr/>
        </p:nvSpPr>
        <p:spPr>
          <a:xfrm>
            <a:off x="1287208" y="3265361"/>
            <a:ext cx="1707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41"/>
          <p:cNvSpPr/>
          <p:nvPr/>
        </p:nvSpPr>
        <p:spPr>
          <a:xfrm>
            <a:off x="596075" y="3571780"/>
            <a:ext cx="1553100" cy="290400"/>
          </a:xfrm>
          <a:prstGeom prst="roundRect">
            <a:avLst>
              <a:gd fmla="val 13125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9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41"/>
          <p:cNvSpPr/>
          <p:nvPr/>
        </p:nvSpPr>
        <p:spPr>
          <a:xfrm>
            <a:off x="773430" y="3949351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41"/>
          <p:cNvSpPr/>
          <p:nvPr/>
        </p:nvSpPr>
        <p:spPr>
          <a:xfrm>
            <a:off x="648367" y="4289012"/>
            <a:ext cx="1448400" cy="256200"/>
          </a:xfrm>
          <a:prstGeom prst="roundRect">
            <a:avLst>
              <a:gd fmla="val 14875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41"/>
          <p:cNvSpPr/>
          <p:nvPr/>
        </p:nvSpPr>
        <p:spPr>
          <a:xfrm>
            <a:off x="773430" y="4632484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41"/>
          <p:cNvSpPr/>
          <p:nvPr/>
        </p:nvSpPr>
        <p:spPr>
          <a:xfrm>
            <a:off x="711803" y="2299716"/>
            <a:ext cx="40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4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42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Activation: Rationale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7" name="Google Shape;2267;p4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8" name="Google Shape;2268;p4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4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4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4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4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4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4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4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4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4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4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42"/>
          <p:cNvSpPr/>
          <p:nvPr/>
        </p:nvSpPr>
        <p:spPr>
          <a:xfrm>
            <a:off x="2724150" y="1657350"/>
            <a:ext cx="4991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NEURAL-NETWORK FOUNDATION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42"/>
          <p:cNvSpPr/>
          <p:nvPr/>
        </p:nvSpPr>
        <p:spPr>
          <a:xfrm>
            <a:off x="2724150" y="1981200"/>
            <a:ext cx="4991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79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Purely affine layers collapse into one affine map.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42"/>
          <p:cNvSpPr/>
          <p:nvPr/>
        </p:nvSpPr>
        <p:spPr>
          <a:xfrm>
            <a:off x="2724150" y="2895600"/>
            <a:ext cx="49911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Two affine maps combine into another affine map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An activation adds nonlinear feature responses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Depth can then express more complex transformations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This argument concerns the FFN’s affine layers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42"/>
          <p:cNvSpPr/>
          <p:nvPr/>
        </p:nvSpPr>
        <p:spPr>
          <a:xfrm>
            <a:off x="7962900" y="1695450"/>
            <a:ext cx="3429000" cy="743100"/>
          </a:xfrm>
          <a:prstGeom prst="roundRect">
            <a:avLst>
              <a:gd fmla="val 23077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42"/>
          <p:cNvSpPr/>
          <p:nvPr/>
        </p:nvSpPr>
        <p:spPr>
          <a:xfrm>
            <a:off x="8134350" y="1790700"/>
            <a:ext cx="3086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W₂(W₁x+b₁)+b₂ = (W₂W₁)x + (W₂b₁+b₂)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42"/>
          <p:cNvSpPr/>
          <p:nvPr/>
        </p:nvSpPr>
        <p:spPr>
          <a:xfrm>
            <a:off x="8096250" y="2838450"/>
            <a:ext cx="3162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WITHOUT ACTIVATION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42"/>
          <p:cNvSpPr/>
          <p:nvPr/>
        </p:nvSpPr>
        <p:spPr>
          <a:xfrm>
            <a:off x="8020050" y="3143250"/>
            <a:ext cx="3314700" cy="49530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2375">
            <a:solidFill>
              <a:srgbClr val="E4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42"/>
          <p:cNvSpPr/>
          <p:nvPr/>
        </p:nvSpPr>
        <p:spPr>
          <a:xfrm>
            <a:off x="8153400" y="32194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linear → linear → still linear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42"/>
          <p:cNvSpPr/>
          <p:nvPr/>
        </p:nvSpPr>
        <p:spPr>
          <a:xfrm>
            <a:off x="8096250" y="4000500"/>
            <a:ext cx="3162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WITH ACTIVATION σ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42"/>
          <p:cNvSpPr/>
          <p:nvPr/>
        </p:nvSpPr>
        <p:spPr>
          <a:xfrm>
            <a:off x="8020050" y="4305300"/>
            <a:ext cx="3314700" cy="495300"/>
          </a:xfrm>
          <a:prstGeom prst="roundRect">
            <a:avLst>
              <a:gd fmla="val 23077" name="adj"/>
            </a:avLst>
          </a:prstGeom>
          <a:solidFill>
            <a:srgbClr val="EAF5FB"/>
          </a:solidFill>
          <a:ln cap="flat" cmpd="sng" w="1237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42"/>
          <p:cNvSpPr/>
          <p:nvPr/>
        </p:nvSpPr>
        <p:spPr>
          <a:xfrm>
            <a:off x="8153400" y="4290822"/>
            <a:ext cx="3048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linear → σ → nonlinear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42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42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Linear layers mix features; activations allow the network to construct new nonlinear features.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42"/>
          <p:cNvSpPr/>
          <p:nvPr/>
        </p:nvSpPr>
        <p:spPr>
          <a:xfrm>
            <a:off x="582359" y="2227221"/>
            <a:ext cx="1898100" cy="2124900"/>
          </a:xfrm>
          <a:prstGeom prst="roundRect">
            <a:avLst>
              <a:gd fmla="val 3011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42"/>
          <p:cNvSpPr/>
          <p:nvPr/>
        </p:nvSpPr>
        <p:spPr>
          <a:xfrm>
            <a:off x="1388174" y="4660884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42"/>
          <p:cNvSpPr/>
          <p:nvPr/>
        </p:nvSpPr>
        <p:spPr>
          <a:xfrm>
            <a:off x="1388174" y="4270408"/>
            <a:ext cx="57300" cy="118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42"/>
          <p:cNvSpPr/>
          <p:nvPr/>
        </p:nvSpPr>
        <p:spPr>
          <a:xfrm>
            <a:off x="1388174" y="3934417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42"/>
          <p:cNvSpPr/>
          <p:nvPr/>
        </p:nvSpPr>
        <p:spPr>
          <a:xfrm>
            <a:off x="1388174" y="3516699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42"/>
          <p:cNvSpPr/>
          <p:nvPr/>
        </p:nvSpPr>
        <p:spPr>
          <a:xfrm>
            <a:off x="1388174" y="3217032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42"/>
          <p:cNvSpPr/>
          <p:nvPr/>
        </p:nvSpPr>
        <p:spPr>
          <a:xfrm>
            <a:off x="1388174" y="2890122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42"/>
          <p:cNvSpPr/>
          <p:nvPr/>
        </p:nvSpPr>
        <p:spPr>
          <a:xfrm>
            <a:off x="1388174" y="2490565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42"/>
          <p:cNvSpPr/>
          <p:nvPr/>
        </p:nvSpPr>
        <p:spPr>
          <a:xfrm>
            <a:off x="1388174" y="2190898"/>
            <a:ext cx="57300" cy="108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42"/>
          <p:cNvSpPr/>
          <p:nvPr/>
        </p:nvSpPr>
        <p:spPr>
          <a:xfrm>
            <a:off x="1388174" y="1863988"/>
            <a:ext cx="57300" cy="99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2" name="Google Shape;2302;p42"/>
          <p:cNvCxnSpPr/>
          <p:nvPr/>
        </p:nvCxnSpPr>
        <p:spPr>
          <a:xfrm>
            <a:off x="1416749" y="4333974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3" name="Google Shape;2303;p42"/>
          <p:cNvCxnSpPr/>
          <p:nvPr/>
        </p:nvCxnSpPr>
        <p:spPr>
          <a:xfrm>
            <a:off x="2313718" y="3421350"/>
            <a:ext cx="0" cy="912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4" name="Google Shape;2304;p42"/>
          <p:cNvSpPr/>
          <p:nvPr/>
        </p:nvSpPr>
        <p:spPr>
          <a:xfrm>
            <a:off x="1507557" y="3392775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42"/>
          <p:cNvCxnSpPr/>
          <p:nvPr/>
        </p:nvCxnSpPr>
        <p:spPr>
          <a:xfrm>
            <a:off x="1416749" y="3271517"/>
            <a:ext cx="897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6" name="Google Shape;2306;p42"/>
          <p:cNvCxnSpPr/>
          <p:nvPr/>
        </p:nvCxnSpPr>
        <p:spPr>
          <a:xfrm>
            <a:off x="2313718" y="2395217"/>
            <a:ext cx="0" cy="8763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7" name="Google Shape;2307;p42"/>
          <p:cNvSpPr/>
          <p:nvPr/>
        </p:nvSpPr>
        <p:spPr>
          <a:xfrm>
            <a:off x="1507557" y="2366642"/>
            <a:ext cx="8061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42"/>
          <p:cNvSpPr/>
          <p:nvPr/>
        </p:nvSpPr>
        <p:spPr>
          <a:xfrm>
            <a:off x="703707" y="1609725"/>
            <a:ext cx="1425900" cy="254100"/>
          </a:xfrm>
          <a:prstGeom prst="roundRect">
            <a:avLst>
              <a:gd fmla="val 14984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42"/>
          <p:cNvSpPr/>
          <p:nvPr/>
        </p:nvSpPr>
        <p:spPr>
          <a:xfrm>
            <a:off x="707517" y="1955483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42"/>
          <p:cNvSpPr/>
          <p:nvPr/>
        </p:nvSpPr>
        <p:spPr>
          <a:xfrm>
            <a:off x="1325975" y="2280952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42"/>
          <p:cNvSpPr/>
          <p:nvPr/>
        </p:nvSpPr>
        <p:spPr>
          <a:xfrm>
            <a:off x="707517" y="2599563"/>
            <a:ext cx="1418400" cy="290700"/>
          </a:xfrm>
          <a:prstGeom prst="roundRect">
            <a:avLst>
              <a:gd fmla="val 13111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09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42"/>
          <p:cNvSpPr/>
          <p:nvPr/>
        </p:nvSpPr>
        <p:spPr>
          <a:xfrm>
            <a:off x="707517" y="298161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42"/>
          <p:cNvSpPr/>
          <p:nvPr/>
        </p:nvSpPr>
        <p:spPr>
          <a:xfrm>
            <a:off x="1325975" y="3307080"/>
            <a:ext cx="18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42"/>
          <p:cNvSpPr/>
          <p:nvPr/>
        </p:nvSpPr>
        <p:spPr>
          <a:xfrm>
            <a:off x="655796" y="3625691"/>
            <a:ext cx="1521900" cy="308700"/>
          </a:xfrm>
          <a:prstGeom prst="roundRect">
            <a:avLst>
              <a:gd fmla="val 1234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42"/>
          <p:cNvSpPr/>
          <p:nvPr/>
        </p:nvSpPr>
        <p:spPr>
          <a:xfrm>
            <a:off x="707517" y="4034981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42"/>
          <p:cNvSpPr/>
          <p:nvPr/>
        </p:nvSpPr>
        <p:spPr>
          <a:xfrm>
            <a:off x="692563" y="4388453"/>
            <a:ext cx="1448400" cy="272400"/>
          </a:xfrm>
          <a:prstGeom prst="roundRect">
            <a:avLst>
              <a:gd fmla="val 13986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42"/>
          <p:cNvSpPr/>
          <p:nvPr/>
        </p:nvSpPr>
        <p:spPr>
          <a:xfrm>
            <a:off x="707517" y="4761357"/>
            <a:ext cx="1418400" cy="247800"/>
          </a:xfrm>
          <a:prstGeom prst="roundRect">
            <a:avLst>
              <a:gd fmla="val 167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09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42"/>
          <p:cNvSpPr/>
          <p:nvPr/>
        </p:nvSpPr>
        <p:spPr>
          <a:xfrm>
            <a:off x="634556" y="2272665"/>
            <a:ext cx="479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4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43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7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Activation: ReLU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6" name="Google Shape;2326;p4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7" name="Google Shape;2327;p4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4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4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4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4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4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4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4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4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4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4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43"/>
          <p:cNvSpPr/>
          <p:nvPr/>
        </p:nvSpPr>
        <p:spPr>
          <a:xfrm>
            <a:off x="457200" y="1609725"/>
            <a:ext cx="4876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ORIGINAL 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Google Shape;2339;p43"/>
          <p:cNvSpPr/>
          <p:nvPr/>
        </p:nvSpPr>
        <p:spPr>
          <a:xfrm>
            <a:off x="457200" y="1933575"/>
            <a:ext cx="4876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separate feature transformation at every token position.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0" name="Google Shape;2340;p43"/>
          <p:cNvSpPr/>
          <p:nvPr/>
        </p:nvSpPr>
        <p:spPr>
          <a:xfrm>
            <a:off x="6653213" y="1733550"/>
            <a:ext cx="3562200" cy="590700"/>
          </a:xfrm>
          <a:prstGeom prst="roundRect">
            <a:avLst>
              <a:gd fmla="val 29032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43"/>
          <p:cNvSpPr/>
          <p:nvPr/>
        </p:nvSpPr>
        <p:spPr>
          <a:xfrm>
            <a:off x="6824663" y="1828800"/>
            <a:ext cx="321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FFN(x)=ReLU(xW₁+b₁)W₂+b₂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43"/>
          <p:cNvSpPr/>
          <p:nvPr/>
        </p:nvSpPr>
        <p:spPr>
          <a:xfrm>
            <a:off x="6615113" y="2876550"/>
            <a:ext cx="1066800" cy="781200"/>
          </a:xfrm>
          <a:prstGeom prst="roundRect">
            <a:avLst>
              <a:gd fmla="val 13415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43"/>
          <p:cNvSpPr/>
          <p:nvPr/>
        </p:nvSpPr>
        <p:spPr>
          <a:xfrm>
            <a:off x="6634163" y="2952750"/>
            <a:ext cx="1028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43"/>
          <p:cNvSpPr/>
          <p:nvPr/>
        </p:nvSpPr>
        <p:spPr>
          <a:xfrm>
            <a:off x="7796213" y="2876550"/>
            <a:ext cx="1066800" cy="781200"/>
          </a:xfrm>
          <a:prstGeom prst="roundRect">
            <a:avLst>
              <a:gd fmla="val 13415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43"/>
          <p:cNvSpPr/>
          <p:nvPr/>
        </p:nvSpPr>
        <p:spPr>
          <a:xfrm>
            <a:off x="7815263" y="2952750"/>
            <a:ext cx="1028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up W₁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[1,16,512]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43"/>
          <p:cNvSpPr/>
          <p:nvPr/>
        </p:nvSpPr>
        <p:spPr>
          <a:xfrm>
            <a:off x="8977313" y="2876550"/>
            <a:ext cx="1066800" cy="781200"/>
          </a:xfrm>
          <a:prstGeom prst="roundRect">
            <a:avLst>
              <a:gd fmla="val 13415" name="adj"/>
            </a:avLst>
          </a:prstGeom>
          <a:solidFill>
            <a:srgbClr val="EAF5FB"/>
          </a:solidFill>
          <a:ln cap="flat" cmpd="sng" w="1142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43"/>
          <p:cNvSpPr/>
          <p:nvPr/>
        </p:nvSpPr>
        <p:spPr>
          <a:xfrm>
            <a:off x="8996363" y="2952750"/>
            <a:ext cx="1028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ReLU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43"/>
          <p:cNvSpPr/>
          <p:nvPr/>
        </p:nvSpPr>
        <p:spPr>
          <a:xfrm>
            <a:off x="10158413" y="2876550"/>
            <a:ext cx="1066800" cy="781200"/>
          </a:xfrm>
          <a:prstGeom prst="roundRect">
            <a:avLst>
              <a:gd fmla="val 13415" name="adj"/>
            </a:avLst>
          </a:prstGeom>
          <a:solidFill>
            <a:srgbClr val="FFFFFF"/>
          </a:solidFill>
          <a:ln cap="flat" cmpd="sng" w="114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43"/>
          <p:cNvSpPr/>
          <p:nvPr/>
        </p:nvSpPr>
        <p:spPr>
          <a:xfrm>
            <a:off x="10177463" y="2952750"/>
            <a:ext cx="1028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down W₂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43"/>
          <p:cNvSpPr/>
          <p:nvPr/>
        </p:nvSpPr>
        <p:spPr>
          <a:xfrm>
            <a:off x="6748463" y="4038600"/>
            <a:ext cx="33339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75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4d is an empirical convention; cost depends on the chosen intermediate width.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43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43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43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43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43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43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43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43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43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8d²=131,072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43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43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43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4BTd·d_ff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3" name="Google Shape;236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999" y="2731300"/>
            <a:ext cx="3219450" cy="24145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43"/>
          <p:cNvSpPr/>
          <p:nvPr/>
        </p:nvSpPr>
        <p:spPr>
          <a:xfrm>
            <a:off x="1543050" y="5019675"/>
            <a:ext cx="2524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425"/>
              <a:buFont typeface="Arial"/>
              <a:buNone/>
            </a:pPr>
            <a:r>
              <a:rPr b="1" i="0" lang="en-US" sz="16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ReLU(z) = max(0,z)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44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44"/>
          <p:cNvSpPr/>
          <p:nvPr/>
        </p:nvSpPr>
        <p:spPr>
          <a:xfrm>
            <a:off x="457200" y="657225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Gated ReLU (*GLU)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2" name="Google Shape;2372;p44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3" name="Google Shape;2373;p44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44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44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44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44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44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44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44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44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44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44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44"/>
          <p:cNvSpPr/>
          <p:nvPr/>
        </p:nvSpPr>
        <p:spPr>
          <a:xfrm>
            <a:off x="457200" y="1543050"/>
            <a:ext cx="4972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TWO INTERMEDIATE BRANCHES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44"/>
          <p:cNvSpPr/>
          <p:nvPr/>
        </p:nvSpPr>
        <p:spPr>
          <a:xfrm>
            <a:off x="457200" y="1866900"/>
            <a:ext cx="4972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Both branches receive the same input.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44"/>
          <p:cNvSpPr/>
          <p:nvPr/>
        </p:nvSpPr>
        <p:spPr>
          <a:xfrm>
            <a:off x="6229350" y="1685925"/>
            <a:ext cx="5105400" cy="628800"/>
          </a:xfrm>
          <a:prstGeom prst="roundRect">
            <a:avLst>
              <a:gd fmla="val 2727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FFN(X) = [φ(XW_g) ⊙ (XW_u)]W_d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44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44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76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ReGLU uses ReLU; GEGLU uses GELU; SwiGLU uses SiLU on the gate branch.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44"/>
          <p:cNvSpPr/>
          <p:nvPr/>
        </p:nvSpPr>
        <p:spPr>
          <a:xfrm>
            <a:off x="685800" y="2981325"/>
            <a:ext cx="5000700" cy="22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9538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Content branch proposes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Gate branch modulates those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Multiply the branches elementwise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538" lvl="0" marL="18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72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third matrix projects the result back to 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0" name="Google Shape;2390;p44"/>
          <p:cNvCxnSpPr/>
          <p:nvPr/>
        </p:nvCxnSpPr>
        <p:spPr>
          <a:xfrm>
            <a:off x="8772525" y="2895600"/>
            <a:ext cx="0" cy="171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1" name="Google Shape;2391;p44"/>
          <p:cNvCxnSpPr/>
          <p:nvPr/>
        </p:nvCxnSpPr>
        <p:spPr>
          <a:xfrm>
            <a:off x="7391019" y="3067050"/>
            <a:ext cx="2763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2" name="Google Shape;2392;p44"/>
          <p:cNvSpPr/>
          <p:nvPr/>
        </p:nvSpPr>
        <p:spPr>
          <a:xfrm>
            <a:off x="7362444" y="3067050"/>
            <a:ext cx="57300" cy="20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44"/>
          <p:cNvSpPr/>
          <p:nvPr/>
        </p:nvSpPr>
        <p:spPr>
          <a:xfrm>
            <a:off x="10125456" y="3067050"/>
            <a:ext cx="57300" cy="20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4" name="Google Shape;2394;p44"/>
          <p:cNvCxnSpPr/>
          <p:nvPr/>
        </p:nvCxnSpPr>
        <p:spPr>
          <a:xfrm>
            <a:off x="7391019" y="3762375"/>
            <a:ext cx="0" cy="1905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5" name="Google Shape;2395;p44"/>
          <p:cNvCxnSpPr/>
          <p:nvPr/>
        </p:nvCxnSpPr>
        <p:spPr>
          <a:xfrm>
            <a:off x="10154031" y="3762375"/>
            <a:ext cx="0" cy="1905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6" name="Google Shape;2396;p44"/>
          <p:cNvCxnSpPr/>
          <p:nvPr/>
        </p:nvCxnSpPr>
        <p:spPr>
          <a:xfrm>
            <a:off x="7391019" y="3952875"/>
            <a:ext cx="2763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7" name="Google Shape;2397;p44"/>
          <p:cNvSpPr/>
          <p:nvPr/>
        </p:nvSpPr>
        <p:spPr>
          <a:xfrm>
            <a:off x="8743950" y="3952875"/>
            <a:ext cx="57300" cy="190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44"/>
          <p:cNvSpPr/>
          <p:nvPr/>
        </p:nvSpPr>
        <p:spPr>
          <a:xfrm>
            <a:off x="8743950" y="4486275"/>
            <a:ext cx="57300" cy="314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44"/>
          <p:cNvSpPr/>
          <p:nvPr/>
        </p:nvSpPr>
        <p:spPr>
          <a:xfrm>
            <a:off x="8032433" y="2571750"/>
            <a:ext cx="1480200" cy="324000"/>
          </a:xfrm>
          <a:prstGeom prst="roundRect">
            <a:avLst>
              <a:gd fmla="val 23529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44"/>
          <p:cNvSpPr/>
          <p:nvPr/>
        </p:nvSpPr>
        <p:spPr>
          <a:xfrm>
            <a:off x="6305550" y="3257360"/>
            <a:ext cx="2170800" cy="524400"/>
          </a:xfrm>
          <a:prstGeom prst="roundRect">
            <a:avLst>
              <a:gd fmla="val 15686" name="adj"/>
            </a:avLst>
          </a:prstGeom>
          <a:solidFill>
            <a:srgbClr val="EAF5FB"/>
          </a:solidFill>
          <a:ln cap="flat" cmpd="sng" w="9525">
            <a:solidFill>
              <a:srgbClr val="826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φ(XW_g)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[B,T,d_ff]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44"/>
          <p:cNvSpPr/>
          <p:nvPr/>
        </p:nvSpPr>
        <p:spPr>
          <a:xfrm>
            <a:off x="9068562" y="3257360"/>
            <a:ext cx="2170800" cy="524400"/>
          </a:xfrm>
          <a:prstGeom prst="roundRect">
            <a:avLst>
              <a:gd fmla="val 15686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XW_u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[B,T,d_ff]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44"/>
          <p:cNvSpPr/>
          <p:nvPr/>
        </p:nvSpPr>
        <p:spPr>
          <a:xfrm>
            <a:off x="8032433" y="4143375"/>
            <a:ext cx="1480200" cy="342900"/>
          </a:xfrm>
          <a:prstGeom prst="roundRect">
            <a:avLst>
              <a:gd fmla="val 22222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⊙  elementwise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44"/>
          <p:cNvSpPr/>
          <p:nvPr/>
        </p:nvSpPr>
        <p:spPr>
          <a:xfrm>
            <a:off x="7785735" y="4800600"/>
            <a:ext cx="1973700" cy="371400"/>
          </a:xfrm>
          <a:prstGeom prst="roundRect">
            <a:avLst>
              <a:gd fmla="val 20513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× W_d →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44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Shazeer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4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45"/>
          <p:cNvSpPr/>
          <p:nvPr/>
        </p:nvSpPr>
        <p:spPr>
          <a:xfrm>
            <a:off x="457200" y="6477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7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SwiGLU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2" name="Google Shape;2412;p4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3" name="Google Shape;2413;p4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4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4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4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7" name="Google Shape;2417;p4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4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4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4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4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4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3" name="Google Shape;2423;p4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45"/>
          <p:cNvSpPr/>
          <p:nvPr/>
        </p:nvSpPr>
        <p:spPr>
          <a:xfrm>
            <a:off x="532067" y="1676400"/>
            <a:ext cx="480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COMMON MODERN CHOICE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45"/>
          <p:cNvSpPr/>
          <p:nvPr/>
        </p:nvSpPr>
        <p:spPr>
          <a:xfrm>
            <a:off x="532067" y="2000250"/>
            <a:ext cx="4800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SiLU(z) = z × sigmoid(z); also called Swish with β = 1.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45"/>
          <p:cNvSpPr/>
          <p:nvPr/>
        </p:nvSpPr>
        <p:spPr>
          <a:xfrm>
            <a:off x="532067" y="2914841"/>
            <a:ext cx="4800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Gate and content projections each produce 344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SiLU changes the gate values without changing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Elementwise product stays 344 wide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Down projection returns to d = 128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45"/>
          <p:cNvSpPr/>
          <p:nvPr/>
        </p:nvSpPr>
        <p:spPr>
          <a:xfrm>
            <a:off x="6115050" y="1638300"/>
            <a:ext cx="5305500" cy="762000"/>
          </a:xfrm>
          <a:prstGeom prst="roundRect">
            <a:avLst>
              <a:gd fmla="val 2727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SwiGLU(X) = [SiLU(XW_g) ⊙ (XW_u)]W_d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45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45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45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45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45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45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45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45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45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3d·344=132,096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45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45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45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6BTd·344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0" name="Google Shape;2440;p45"/>
          <p:cNvCxnSpPr/>
          <p:nvPr/>
        </p:nvCxnSpPr>
        <p:spPr>
          <a:xfrm>
            <a:off x="8753475" y="2905125"/>
            <a:ext cx="0" cy="171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1" name="Google Shape;2441;p45"/>
          <p:cNvCxnSpPr/>
          <p:nvPr/>
        </p:nvCxnSpPr>
        <p:spPr>
          <a:xfrm>
            <a:off x="7313295" y="3076575"/>
            <a:ext cx="28803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2" name="Google Shape;2442;p45"/>
          <p:cNvSpPr/>
          <p:nvPr/>
        </p:nvSpPr>
        <p:spPr>
          <a:xfrm>
            <a:off x="7284720" y="3076575"/>
            <a:ext cx="57300" cy="20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3" name="Google Shape;2443;p45"/>
          <p:cNvSpPr/>
          <p:nvPr/>
        </p:nvSpPr>
        <p:spPr>
          <a:xfrm>
            <a:off x="10165080" y="3076575"/>
            <a:ext cx="57300" cy="209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4" name="Google Shape;2444;p45"/>
          <p:cNvCxnSpPr/>
          <p:nvPr/>
        </p:nvCxnSpPr>
        <p:spPr>
          <a:xfrm>
            <a:off x="7313295" y="3771900"/>
            <a:ext cx="0" cy="1905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5" name="Google Shape;2445;p45"/>
          <p:cNvCxnSpPr/>
          <p:nvPr/>
        </p:nvCxnSpPr>
        <p:spPr>
          <a:xfrm>
            <a:off x="10193655" y="3771900"/>
            <a:ext cx="0" cy="1905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6" name="Google Shape;2446;p45"/>
          <p:cNvCxnSpPr/>
          <p:nvPr/>
        </p:nvCxnSpPr>
        <p:spPr>
          <a:xfrm>
            <a:off x="7313295" y="3962400"/>
            <a:ext cx="28803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7" name="Google Shape;2447;p45"/>
          <p:cNvSpPr/>
          <p:nvPr/>
        </p:nvSpPr>
        <p:spPr>
          <a:xfrm>
            <a:off x="8724900" y="3962400"/>
            <a:ext cx="57300" cy="190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45"/>
          <p:cNvSpPr/>
          <p:nvPr/>
        </p:nvSpPr>
        <p:spPr>
          <a:xfrm>
            <a:off x="8724900" y="4495800"/>
            <a:ext cx="57300" cy="314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45"/>
          <p:cNvSpPr/>
          <p:nvPr/>
        </p:nvSpPr>
        <p:spPr>
          <a:xfrm>
            <a:off x="7981950" y="2581275"/>
            <a:ext cx="1543200" cy="324000"/>
          </a:xfrm>
          <a:prstGeom prst="roundRect">
            <a:avLst>
              <a:gd fmla="val 23529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 [B,T,128]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45"/>
          <p:cNvSpPr/>
          <p:nvPr/>
        </p:nvSpPr>
        <p:spPr>
          <a:xfrm>
            <a:off x="6181725" y="3266885"/>
            <a:ext cx="2263200" cy="524400"/>
          </a:xfrm>
          <a:prstGeom prst="roundRect">
            <a:avLst>
              <a:gd fmla="val 15686" name="adj"/>
            </a:avLst>
          </a:prstGeom>
          <a:solidFill>
            <a:srgbClr val="EAF5FB"/>
          </a:solidFill>
          <a:ln cap="flat" cmpd="sng" w="9525">
            <a:solidFill>
              <a:srgbClr val="826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SiLU(XW_g)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[B,T,344]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45"/>
          <p:cNvSpPr/>
          <p:nvPr/>
        </p:nvSpPr>
        <p:spPr>
          <a:xfrm>
            <a:off x="9062085" y="3266885"/>
            <a:ext cx="2263200" cy="524400"/>
          </a:xfrm>
          <a:prstGeom prst="roundRect">
            <a:avLst>
              <a:gd fmla="val 15686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XW_u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[B,T,344]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45"/>
          <p:cNvSpPr/>
          <p:nvPr/>
        </p:nvSpPr>
        <p:spPr>
          <a:xfrm>
            <a:off x="7981950" y="4152900"/>
            <a:ext cx="1543200" cy="342900"/>
          </a:xfrm>
          <a:prstGeom prst="roundRect">
            <a:avLst>
              <a:gd fmla="val 22222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⊙  elementwise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45"/>
          <p:cNvSpPr/>
          <p:nvPr/>
        </p:nvSpPr>
        <p:spPr>
          <a:xfrm>
            <a:off x="7724775" y="4810125"/>
            <a:ext cx="2057400" cy="371400"/>
          </a:xfrm>
          <a:prstGeom prst="roundRect">
            <a:avLst>
              <a:gd fmla="val 20513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× W_d → [B,T,128]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45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 SiLU / Swish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4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46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FFN Expansion Ratios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2" name="Google Shape;2462;p4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3" name="Google Shape;2463;p4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4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4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4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4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4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4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4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1" name="Google Shape;2471;p4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2" name="Google Shape;2472;p4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4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46"/>
          <p:cNvSpPr/>
          <p:nvPr/>
        </p:nvSpPr>
        <p:spPr>
          <a:xfrm>
            <a:off x="685800" y="1657350"/>
            <a:ext cx="5219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CAPACITY ALLOCATION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5" name="Google Shape;2475;p46"/>
          <p:cNvSpPr/>
          <p:nvPr/>
        </p:nvSpPr>
        <p:spPr>
          <a:xfrm>
            <a:off x="685800" y="1981200"/>
            <a:ext cx="5219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8/3 ratio matches a three-matrix FFN to a two-matrix 4d FFN.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p46"/>
          <p:cNvSpPr/>
          <p:nvPr/>
        </p:nvSpPr>
        <p:spPr>
          <a:xfrm>
            <a:off x="685800" y="2895600"/>
            <a:ext cx="52197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Plain FFN — 2d × d_ff 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Gated FFN — 3d × d_ff 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Matching budgets gives d_ff = 8d/3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Real models choose and round different widths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7" name="Google Shape;2477;p46"/>
          <p:cNvSpPr/>
          <p:nvPr/>
        </p:nvSpPr>
        <p:spPr>
          <a:xfrm>
            <a:off x="6191250" y="1657350"/>
            <a:ext cx="5219700" cy="552600"/>
          </a:xfrm>
          <a:prstGeom prst="roundRect">
            <a:avLst>
              <a:gd fmla="val 3103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46"/>
          <p:cNvSpPr/>
          <p:nvPr/>
        </p:nvSpPr>
        <p:spPr>
          <a:xfrm>
            <a:off x="6362700" y="1752600"/>
            <a:ext cx="4876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2d(4d) = 3d(8d/3) = 8d²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p46"/>
          <p:cNvSpPr/>
          <p:nvPr/>
        </p:nvSpPr>
        <p:spPr>
          <a:xfrm>
            <a:off x="6229350" y="245745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65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46"/>
          <p:cNvSpPr/>
          <p:nvPr/>
        </p:nvSpPr>
        <p:spPr>
          <a:xfrm>
            <a:off x="8667750" y="245745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46"/>
          <p:cNvSpPr/>
          <p:nvPr/>
        </p:nvSpPr>
        <p:spPr>
          <a:xfrm>
            <a:off x="10229850" y="2457450"/>
            <a:ext cx="990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d_ff/d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46"/>
          <p:cNvSpPr/>
          <p:nvPr/>
        </p:nvSpPr>
        <p:spPr>
          <a:xfrm>
            <a:off x="6153150" y="2705100"/>
            <a:ext cx="52197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46"/>
          <p:cNvSpPr/>
          <p:nvPr/>
        </p:nvSpPr>
        <p:spPr>
          <a:xfrm>
            <a:off x="6286500" y="274320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Original 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46"/>
          <p:cNvSpPr/>
          <p:nvPr/>
        </p:nvSpPr>
        <p:spPr>
          <a:xfrm>
            <a:off x="8667750" y="274320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46"/>
          <p:cNvSpPr/>
          <p:nvPr/>
        </p:nvSpPr>
        <p:spPr>
          <a:xfrm>
            <a:off x="10287000" y="274320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4.00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46"/>
          <p:cNvSpPr/>
          <p:nvPr/>
        </p:nvSpPr>
        <p:spPr>
          <a:xfrm>
            <a:off x="6286500" y="314325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Phi-3 Mini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46"/>
          <p:cNvSpPr/>
          <p:nvPr/>
        </p:nvSpPr>
        <p:spPr>
          <a:xfrm>
            <a:off x="8667750" y="314325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SwiGLU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46"/>
          <p:cNvSpPr/>
          <p:nvPr/>
        </p:nvSpPr>
        <p:spPr>
          <a:xfrm>
            <a:off x="10287000" y="314325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2.67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46"/>
          <p:cNvSpPr/>
          <p:nvPr/>
        </p:nvSpPr>
        <p:spPr>
          <a:xfrm>
            <a:off x="6153150" y="3505200"/>
            <a:ext cx="52197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46"/>
          <p:cNvSpPr/>
          <p:nvPr/>
        </p:nvSpPr>
        <p:spPr>
          <a:xfrm>
            <a:off x="6286500" y="354330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Llama 3 8B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46"/>
          <p:cNvSpPr/>
          <p:nvPr/>
        </p:nvSpPr>
        <p:spPr>
          <a:xfrm>
            <a:off x="8667750" y="354330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SwiGLU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46"/>
          <p:cNvSpPr/>
          <p:nvPr/>
        </p:nvSpPr>
        <p:spPr>
          <a:xfrm>
            <a:off x="10287000" y="354330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3.50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46"/>
          <p:cNvSpPr/>
          <p:nvPr/>
        </p:nvSpPr>
        <p:spPr>
          <a:xfrm>
            <a:off x="6286500" y="394335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Mistral 7B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46"/>
          <p:cNvSpPr/>
          <p:nvPr/>
        </p:nvSpPr>
        <p:spPr>
          <a:xfrm>
            <a:off x="8667750" y="394335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SwiGLU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46"/>
          <p:cNvSpPr/>
          <p:nvPr/>
        </p:nvSpPr>
        <p:spPr>
          <a:xfrm>
            <a:off x="10287000" y="394335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3.50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46"/>
          <p:cNvSpPr/>
          <p:nvPr/>
        </p:nvSpPr>
        <p:spPr>
          <a:xfrm>
            <a:off x="6153150" y="4305300"/>
            <a:ext cx="5219700" cy="3240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46"/>
          <p:cNvSpPr/>
          <p:nvPr/>
        </p:nvSpPr>
        <p:spPr>
          <a:xfrm>
            <a:off x="6286500" y="434340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Gemma 2 9B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46"/>
          <p:cNvSpPr/>
          <p:nvPr/>
        </p:nvSpPr>
        <p:spPr>
          <a:xfrm>
            <a:off x="8667750" y="434340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gated GELU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46"/>
          <p:cNvSpPr/>
          <p:nvPr/>
        </p:nvSpPr>
        <p:spPr>
          <a:xfrm>
            <a:off x="10287000" y="434340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4.00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46"/>
          <p:cNvSpPr/>
          <p:nvPr/>
        </p:nvSpPr>
        <p:spPr>
          <a:xfrm>
            <a:off x="6286500" y="4743450"/>
            <a:ext cx="2095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Qwen2.5 7B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46"/>
          <p:cNvSpPr/>
          <p:nvPr/>
        </p:nvSpPr>
        <p:spPr>
          <a:xfrm>
            <a:off x="8667750" y="4743450"/>
            <a:ext cx="1371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SwiGLU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46"/>
          <p:cNvSpPr/>
          <p:nvPr/>
        </p:nvSpPr>
        <p:spPr>
          <a:xfrm>
            <a:off x="10287000" y="4743450"/>
            <a:ext cx="914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5.29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3" name="Google Shape;2503;p46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46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58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Ratio alone is insufficient: check matrix count, rounding, and whether experts are routed.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46"/>
          <p:cNvSpPr/>
          <p:nvPr/>
        </p:nvSpPr>
        <p:spPr>
          <a:xfrm>
            <a:off x="70485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i="0" lang="en-US" sz="1050" u="sng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Publisher configurations — references at 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47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47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Summary for Transformer Blocks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3" name="Google Shape;2513;p47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4" name="Google Shape;2514;p47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47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6" name="Google Shape;2516;p47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7" name="Google Shape;2517;p47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8" name="Google Shape;2518;p47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47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0" name="Google Shape;2520;p47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47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2" name="Google Shape;2522;p47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47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4" name="Google Shape;2524;p47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47"/>
          <p:cNvSpPr/>
          <p:nvPr/>
        </p:nvSpPr>
        <p:spPr>
          <a:xfrm>
            <a:off x="514350" y="1619250"/>
            <a:ext cx="3467100" cy="4000500"/>
          </a:xfrm>
          <a:prstGeom prst="roundRect">
            <a:avLst>
              <a:gd fmla="val 5495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47"/>
          <p:cNvSpPr/>
          <p:nvPr/>
        </p:nvSpPr>
        <p:spPr>
          <a:xfrm>
            <a:off x="781050" y="5105400"/>
            <a:ext cx="2933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one block · input and output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47"/>
          <p:cNvSpPr/>
          <p:nvPr/>
        </p:nvSpPr>
        <p:spPr>
          <a:xfrm>
            <a:off x="4381500" y="1657350"/>
            <a:ext cx="68961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COMPLETE COMPUTATION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p47"/>
          <p:cNvSpPr/>
          <p:nvPr/>
        </p:nvSpPr>
        <p:spPr>
          <a:xfrm>
            <a:off x="4381500" y="1981200"/>
            <a:ext cx="6896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 mixes positions; the FFN transforms features.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47"/>
          <p:cNvSpPr/>
          <p:nvPr/>
        </p:nvSpPr>
        <p:spPr>
          <a:xfrm>
            <a:off x="4381500" y="2895600"/>
            <a:ext cx="6896100" cy="13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0013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 → MHA with RoPE → residual addition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0013" lvl="0" marL="18" marR="0" rtl="0" algn="l">
              <a:lnSpc>
                <a:spcPct val="100000"/>
              </a:lnSpc>
              <a:spcBef>
                <a:spcPts val="7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 → SwiGLU → residual addition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0013" lvl="0" marL="18" marR="0" rtl="0" algn="l">
              <a:lnSpc>
                <a:spcPct val="100000"/>
              </a:lnSpc>
              <a:spcBef>
                <a:spcPts val="7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Both updates return to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0013" lvl="0" marL="18" marR="0" rtl="0" algn="l">
              <a:lnSpc>
                <a:spcPct val="100000"/>
              </a:lnSpc>
              <a:spcBef>
                <a:spcPts val="7"/>
              </a:spcBef>
              <a:spcAft>
                <a:spcPts val="7"/>
              </a:spcAft>
              <a:buClr>
                <a:srgbClr val="535D69"/>
              </a:buClr>
              <a:buSzPts val="1575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The next block receives exactly the same outer shape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47"/>
          <p:cNvSpPr/>
          <p:nvPr/>
        </p:nvSpPr>
        <p:spPr>
          <a:xfrm>
            <a:off x="4686300" y="4324350"/>
            <a:ext cx="6286500" cy="533400"/>
          </a:xfrm>
          <a:prstGeom prst="roundRect">
            <a:avLst>
              <a:gd fmla="val 3214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47"/>
          <p:cNvSpPr/>
          <p:nvPr/>
        </p:nvSpPr>
        <p:spPr>
          <a:xfrm>
            <a:off x="4857750" y="4419600"/>
            <a:ext cx="594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x′ = x + MHA(RMSNorm(x))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47"/>
          <p:cNvSpPr/>
          <p:nvPr/>
        </p:nvSpPr>
        <p:spPr>
          <a:xfrm>
            <a:off x="4686300" y="5010150"/>
            <a:ext cx="6286500" cy="533400"/>
          </a:xfrm>
          <a:prstGeom prst="roundRect">
            <a:avLst>
              <a:gd fmla="val 32143" name="adj"/>
            </a:avLst>
          </a:prstGeom>
          <a:solidFill>
            <a:srgbClr val="143E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47"/>
          <p:cNvSpPr/>
          <p:nvPr/>
        </p:nvSpPr>
        <p:spPr>
          <a:xfrm>
            <a:off x="4857750" y="5105400"/>
            <a:ext cx="594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x′ + SwiGLU(RMSNorm(x′))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47"/>
          <p:cNvSpPr/>
          <p:nvPr/>
        </p:nvSpPr>
        <p:spPr>
          <a:xfrm>
            <a:off x="944880" y="2327653"/>
            <a:ext cx="2773800" cy="1847700"/>
          </a:xfrm>
          <a:prstGeom prst="roundRect">
            <a:avLst>
              <a:gd fmla="val 3093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47"/>
          <p:cNvSpPr/>
          <p:nvPr/>
        </p:nvSpPr>
        <p:spPr>
          <a:xfrm>
            <a:off x="2135505" y="4443881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6" name="Google Shape;2536;p47"/>
          <p:cNvSpPr/>
          <p:nvPr/>
        </p:nvSpPr>
        <p:spPr>
          <a:xfrm>
            <a:off x="2135505" y="4104337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47"/>
          <p:cNvSpPr/>
          <p:nvPr/>
        </p:nvSpPr>
        <p:spPr>
          <a:xfrm>
            <a:off x="2135505" y="3812172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8" name="Google Shape;2538;p47"/>
          <p:cNvSpPr/>
          <p:nvPr/>
        </p:nvSpPr>
        <p:spPr>
          <a:xfrm>
            <a:off x="2135505" y="3448938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47"/>
          <p:cNvSpPr/>
          <p:nvPr/>
        </p:nvSpPr>
        <p:spPr>
          <a:xfrm>
            <a:off x="2135505" y="3188358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0" name="Google Shape;2540;p47"/>
          <p:cNvSpPr/>
          <p:nvPr/>
        </p:nvSpPr>
        <p:spPr>
          <a:xfrm>
            <a:off x="2135505" y="2904089"/>
            <a:ext cx="57300" cy="87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47"/>
          <p:cNvSpPr/>
          <p:nvPr/>
        </p:nvSpPr>
        <p:spPr>
          <a:xfrm>
            <a:off x="2135505" y="2556648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47"/>
          <p:cNvSpPr/>
          <p:nvPr/>
        </p:nvSpPr>
        <p:spPr>
          <a:xfrm>
            <a:off x="2135505" y="2296068"/>
            <a:ext cx="57300" cy="94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47"/>
          <p:cNvSpPr/>
          <p:nvPr/>
        </p:nvSpPr>
        <p:spPr>
          <a:xfrm>
            <a:off x="2135505" y="2011798"/>
            <a:ext cx="57300" cy="87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4" name="Google Shape;2544;p47"/>
          <p:cNvCxnSpPr/>
          <p:nvPr/>
        </p:nvCxnSpPr>
        <p:spPr>
          <a:xfrm>
            <a:off x="2164080" y="4159612"/>
            <a:ext cx="13107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5" name="Google Shape;2545;p47"/>
          <p:cNvCxnSpPr/>
          <p:nvPr/>
        </p:nvCxnSpPr>
        <p:spPr>
          <a:xfrm>
            <a:off x="3474720" y="3366026"/>
            <a:ext cx="0" cy="7935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6" name="Google Shape;2546;p47"/>
          <p:cNvSpPr/>
          <p:nvPr/>
        </p:nvSpPr>
        <p:spPr>
          <a:xfrm>
            <a:off x="2243044" y="3337451"/>
            <a:ext cx="12318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7" name="Google Shape;2547;p47"/>
          <p:cNvCxnSpPr/>
          <p:nvPr/>
        </p:nvCxnSpPr>
        <p:spPr>
          <a:xfrm>
            <a:off x="2164080" y="3235736"/>
            <a:ext cx="13107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8" name="Google Shape;2548;p47"/>
          <p:cNvCxnSpPr/>
          <p:nvPr/>
        </p:nvCxnSpPr>
        <p:spPr>
          <a:xfrm>
            <a:off x="3474720" y="2473736"/>
            <a:ext cx="0" cy="7620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9" name="Google Shape;2549;p47"/>
          <p:cNvSpPr/>
          <p:nvPr/>
        </p:nvSpPr>
        <p:spPr>
          <a:xfrm>
            <a:off x="2243044" y="2445161"/>
            <a:ext cx="12318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47"/>
          <p:cNvSpPr/>
          <p:nvPr/>
        </p:nvSpPr>
        <p:spPr>
          <a:xfrm>
            <a:off x="1127760" y="1779365"/>
            <a:ext cx="2072700" cy="247800"/>
          </a:xfrm>
          <a:prstGeom prst="roundRect">
            <a:avLst>
              <a:gd fmla="val 17232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47"/>
          <p:cNvSpPr/>
          <p:nvPr/>
        </p:nvSpPr>
        <p:spPr>
          <a:xfrm>
            <a:off x="1127760" y="2075498"/>
            <a:ext cx="2072700" cy="247800"/>
          </a:xfrm>
          <a:prstGeom prst="roundRect">
            <a:avLst>
              <a:gd fmla="val 193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47"/>
          <p:cNvSpPr/>
          <p:nvPr/>
        </p:nvSpPr>
        <p:spPr>
          <a:xfrm>
            <a:off x="2085118" y="2359533"/>
            <a:ext cx="1578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47"/>
          <p:cNvSpPr/>
          <p:nvPr/>
        </p:nvSpPr>
        <p:spPr>
          <a:xfrm>
            <a:off x="1127760" y="2651379"/>
            <a:ext cx="2072700" cy="252600"/>
          </a:xfrm>
          <a:prstGeom prst="roundRect">
            <a:avLst>
              <a:gd fmla="val 15078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47"/>
          <p:cNvSpPr/>
          <p:nvPr/>
        </p:nvSpPr>
        <p:spPr>
          <a:xfrm>
            <a:off x="1127760" y="2967704"/>
            <a:ext cx="2072700" cy="247800"/>
          </a:xfrm>
          <a:prstGeom prst="roundRect">
            <a:avLst>
              <a:gd fmla="val 193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47"/>
          <p:cNvSpPr/>
          <p:nvPr/>
        </p:nvSpPr>
        <p:spPr>
          <a:xfrm>
            <a:off x="2085118" y="3251645"/>
            <a:ext cx="1578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6" name="Google Shape;2556;p47"/>
          <p:cNvSpPr/>
          <p:nvPr/>
        </p:nvSpPr>
        <p:spPr>
          <a:xfrm>
            <a:off x="1127760" y="3543681"/>
            <a:ext cx="2072700" cy="268500"/>
          </a:xfrm>
          <a:prstGeom prst="roundRect">
            <a:avLst>
              <a:gd fmla="val 14191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47"/>
          <p:cNvSpPr/>
          <p:nvPr/>
        </p:nvSpPr>
        <p:spPr>
          <a:xfrm>
            <a:off x="1127760" y="3883819"/>
            <a:ext cx="2072700" cy="247800"/>
          </a:xfrm>
          <a:prstGeom prst="roundRect">
            <a:avLst>
              <a:gd fmla="val 193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47"/>
          <p:cNvSpPr/>
          <p:nvPr/>
        </p:nvSpPr>
        <p:spPr>
          <a:xfrm>
            <a:off x="1127760" y="4203478"/>
            <a:ext cx="2072700" cy="247800"/>
          </a:xfrm>
          <a:prstGeom prst="roundRect">
            <a:avLst>
              <a:gd fmla="val 16083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47"/>
          <p:cNvSpPr/>
          <p:nvPr/>
        </p:nvSpPr>
        <p:spPr>
          <a:xfrm>
            <a:off x="1127760" y="4515422"/>
            <a:ext cx="2072700" cy="247800"/>
          </a:xfrm>
          <a:prstGeom prst="roundRect">
            <a:avLst>
              <a:gd fmla="val 193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47"/>
          <p:cNvSpPr/>
          <p:nvPr/>
        </p:nvSpPr>
        <p:spPr>
          <a:xfrm>
            <a:off x="1021080" y="2367153"/>
            <a:ext cx="701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48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48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Output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8" name="Google Shape;2568;p48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9" name="Google Shape;2569;p48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48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48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48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48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48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48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48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48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48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48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48"/>
          <p:cNvSpPr/>
          <p:nvPr/>
        </p:nvSpPr>
        <p:spPr>
          <a:xfrm>
            <a:off x="514350" y="1600200"/>
            <a:ext cx="1866900" cy="4152900"/>
          </a:xfrm>
          <a:prstGeom prst="roundRect">
            <a:avLst>
              <a:gd fmla="val 9184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48"/>
          <p:cNvSpPr/>
          <p:nvPr/>
        </p:nvSpPr>
        <p:spPr>
          <a:xfrm>
            <a:off x="666750" y="4962525"/>
            <a:ext cx="1562100" cy="419100"/>
          </a:xfrm>
          <a:prstGeom prst="roundRect">
            <a:avLst>
              <a:gd fmla="val 25000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48"/>
          <p:cNvSpPr/>
          <p:nvPr/>
        </p:nvSpPr>
        <p:spPr>
          <a:xfrm>
            <a:off x="800100" y="4954143"/>
            <a:ext cx="1295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48"/>
          <p:cNvSpPr/>
          <p:nvPr/>
        </p:nvSpPr>
        <p:spPr>
          <a:xfrm>
            <a:off x="2724150" y="1657350"/>
            <a:ext cx="4857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OUTPUT PROJECTION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48"/>
          <p:cNvSpPr/>
          <p:nvPr/>
        </p:nvSpPr>
        <p:spPr>
          <a:xfrm>
            <a:off x="2724150" y="1981200"/>
            <a:ext cx="4857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Project the final-position hidden state from d features to V logits.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48"/>
          <p:cNvSpPr/>
          <p:nvPr/>
        </p:nvSpPr>
        <p:spPr>
          <a:xfrm>
            <a:off x="2724150" y="2895600"/>
            <a:ext cx="4857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Take h_T [B,d] after the 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Multiply by W_U [d,V] → logits [B,V]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Logits are scores; they need not sum to one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With weight tying, W_U = Eᵀ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48"/>
          <p:cNvSpPr/>
          <p:nvPr/>
        </p:nvSpPr>
        <p:spPr>
          <a:xfrm>
            <a:off x="7772400" y="1676400"/>
            <a:ext cx="3619500" cy="705000"/>
          </a:xfrm>
          <a:prstGeom prst="roundRect">
            <a:avLst>
              <a:gd fmla="val 24324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48"/>
          <p:cNvSpPr/>
          <p:nvPr/>
        </p:nvSpPr>
        <p:spPr>
          <a:xfrm>
            <a:off x="7943850" y="1766697"/>
            <a:ext cx="3276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= h_T W_U     h_T:[B,d], W_U:[d,V], z:[B,V]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8" name="Google Shape;2588;p48"/>
          <p:cNvSpPr/>
          <p:nvPr/>
        </p:nvSpPr>
        <p:spPr>
          <a:xfrm>
            <a:off x="7810500" y="2686050"/>
            <a:ext cx="3486300" cy="476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9" name="Google Shape;2589;p48"/>
          <p:cNvSpPr/>
          <p:nvPr/>
        </p:nvSpPr>
        <p:spPr>
          <a:xfrm>
            <a:off x="7943850" y="2662047"/>
            <a:ext cx="3219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final stream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[1,16,128]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48"/>
          <p:cNvSpPr/>
          <p:nvPr/>
        </p:nvSpPr>
        <p:spPr>
          <a:xfrm>
            <a:off x="7810500" y="3295650"/>
            <a:ext cx="3486300" cy="476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1142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1" name="Google Shape;2591;p48"/>
          <p:cNvSpPr/>
          <p:nvPr/>
        </p:nvSpPr>
        <p:spPr>
          <a:xfrm>
            <a:off x="7943850" y="3271647"/>
            <a:ext cx="3219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take position 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48"/>
          <p:cNvSpPr/>
          <p:nvPr/>
        </p:nvSpPr>
        <p:spPr>
          <a:xfrm>
            <a:off x="7810500" y="3905250"/>
            <a:ext cx="3486300" cy="47640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114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3" name="Google Shape;2593;p48"/>
          <p:cNvSpPr/>
          <p:nvPr/>
        </p:nvSpPr>
        <p:spPr>
          <a:xfrm>
            <a:off x="7943850" y="3881247"/>
            <a:ext cx="3219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LM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[128,2048]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48"/>
          <p:cNvSpPr/>
          <p:nvPr/>
        </p:nvSpPr>
        <p:spPr>
          <a:xfrm>
            <a:off x="7810500" y="4514850"/>
            <a:ext cx="3486300" cy="476400"/>
          </a:xfrm>
          <a:prstGeom prst="roundRect">
            <a:avLst>
              <a:gd fmla="val 22000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5" name="Google Shape;2595;p48"/>
          <p:cNvSpPr/>
          <p:nvPr/>
        </p:nvSpPr>
        <p:spPr>
          <a:xfrm>
            <a:off x="7943850" y="4490847"/>
            <a:ext cx="3219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2"/>
              <a:buFont typeface="Consolas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[1,2048]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p48"/>
          <p:cNvSpPr/>
          <p:nvPr/>
        </p:nvSpPr>
        <p:spPr>
          <a:xfrm>
            <a:off x="7867650" y="5067300"/>
            <a:ext cx="3562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977"/>
              <a:buFont typeface="Arial"/>
              <a:buNone/>
            </a:pPr>
            <a:r>
              <a:rPr b="1" i="0" lang="en-US" sz="1425" u="none" cap="none" strike="noStrike">
                <a:solidFill>
                  <a:srgbClr val="8263CE"/>
                </a:solidFill>
                <a:latin typeface="Arial"/>
                <a:ea typeface="Arial"/>
                <a:cs typeface="Arial"/>
                <a:sym typeface="Arial"/>
              </a:rPr>
              <a:t>Tied W_U = Eᵀ; output multiplication still costs FLOPs.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48"/>
          <p:cNvSpPr/>
          <p:nvPr/>
        </p:nvSpPr>
        <p:spPr>
          <a:xfrm>
            <a:off x="666750" y="552450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48"/>
          <p:cNvSpPr/>
          <p:nvPr/>
        </p:nvSpPr>
        <p:spPr>
          <a:xfrm>
            <a:off x="800100" y="560451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p48"/>
          <p:cNvSpPr/>
          <p:nvPr/>
        </p:nvSpPr>
        <p:spPr>
          <a:xfrm>
            <a:off x="800100" y="580644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h_T [1,128]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48"/>
          <p:cNvSpPr/>
          <p:nvPr/>
        </p:nvSpPr>
        <p:spPr>
          <a:xfrm>
            <a:off x="3390900" y="552450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48"/>
          <p:cNvSpPr/>
          <p:nvPr/>
        </p:nvSpPr>
        <p:spPr>
          <a:xfrm>
            <a:off x="3524250" y="560451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48"/>
          <p:cNvSpPr/>
          <p:nvPr/>
        </p:nvSpPr>
        <p:spPr>
          <a:xfrm>
            <a:off x="3524250" y="580644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z [1,2048]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48"/>
          <p:cNvSpPr/>
          <p:nvPr/>
        </p:nvSpPr>
        <p:spPr>
          <a:xfrm>
            <a:off x="6115050" y="552450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48"/>
          <p:cNvSpPr/>
          <p:nvPr/>
        </p:nvSpPr>
        <p:spPr>
          <a:xfrm>
            <a:off x="6248400" y="560451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48"/>
          <p:cNvSpPr/>
          <p:nvPr/>
        </p:nvSpPr>
        <p:spPr>
          <a:xfrm>
            <a:off x="6248400" y="5800725"/>
            <a:ext cx="23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0 extra — tied to Eᵀ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48"/>
          <p:cNvSpPr/>
          <p:nvPr/>
        </p:nvSpPr>
        <p:spPr>
          <a:xfrm>
            <a:off x="8839200" y="552450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48"/>
          <p:cNvSpPr/>
          <p:nvPr/>
        </p:nvSpPr>
        <p:spPr>
          <a:xfrm>
            <a:off x="8972550" y="560451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48"/>
          <p:cNvSpPr/>
          <p:nvPr/>
        </p:nvSpPr>
        <p:spPr>
          <a:xfrm>
            <a:off x="8972550" y="580644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2BdV=0.524M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48"/>
          <p:cNvSpPr/>
          <p:nvPr/>
        </p:nvSpPr>
        <p:spPr>
          <a:xfrm>
            <a:off x="667703" y="2256981"/>
            <a:ext cx="1603500" cy="1998000"/>
          </a:xfrm>
          <a:prstGeom prst="roundRect">
            <a:avLst>
              <a:gd fmla="val 3564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48"/>
          <p:cNvSpPr/>
          <p:nvPr/>
        </p:nvSpPr>
        <p:spPr>
          <a:xfrm>
            <a:off x="1343978" y="4545152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48"/>
          <p:cNvSpPr/>
          <p:nvPr/>
        </p:nvSpPr>
        <p:spPr>
          <a:xfrm>
            <a:off x="1343978" y="4178020"/>
            <a:ext cx="57300" cy="111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48"/>
          <p:cNvSpPr/>
          <p:nvPr/>
        </p:nvSpPr>
        <p:spPr>
          <a:xfrm>
            <a:off x="1343978" y="3862116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48"/>
          <p:cNvSpPr/>
          <p:nvPr/>
        </p:nvSpPr>
        <p:spPr>
          <a:xfrm>
            <a:off x="1343978" y="3469370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48"/>
          <p:cNvSpPr/>
          <p:nvPr/>
        </p:nvSpPr>
        <p:spPr>
          <a:xfrm>
            <a:off x="1343978" y="3187618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48"/>
          <p:cNvSpPr/>
          <p:nvPr/>
        </p:nvSpPr>
        <p:spPr>
          <a:xfrm>
            <a:off x="1343978" y="2880251"/>
            <a:ext cx="57300" cy="93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48"/>
          <p:cNvSpPr/>
          <p:nvPr/>
        </p:nvSpPr>
        <p:spPr>
          <a:xfrm>
            <a:off x="1343978" y="2504581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48"/>
          <p:cNvSpPr/>
          <p:nvPr/>
        </p:nvSpPr>
        <p:spPr>
          <a:xfrm>
            <a:off x="1343978" y="2222829"/>
            <a:ext cx="57300" cy="102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48"/>
          <p:cNvSpPr/>
          <p:nvPr/>
        </p:nvSpPr>
        <p:spPr>
          <a:xfrm>
            <a:off x="1343978" y="1915463"/>
            <a:ext cx="57300" cy="93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9" name="Google Shape;2619;p48"/>
          <p:cNvCxnSpPr/>
          <p:nvPr/>
        </p:nvCxnSpPr>
        <p:spPr>
          <a:xfrm>
            <a:off x="1372553" y="4237786"/>
            <a:ext cx="7578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0" name="Google Shape;2620;p48"/>
          <p:cNvCxnSpPr/>
          <p:nvPr/>
        </p:nvCxnSpPr>
        <p:spPr>
          <a:xfrm>
            <a:off x="2130266" y="3379722"/>
            <a:ext cx="0" cy="8580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1" name="Google Shape;2621;p48"/>
          <p:cNvSpPr/>
          <p:nvPr/>
        </p:nvSpPr>
        <p:spPr>
          <a:xfrm>
            <a:off x="1457932" y="3351147"/>
            <a:ext cx="6723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2" name="Google Shape;2622;p48"/>
          <p:cNvCxnSpPr/>
          <p:nvPr/>
        </p:nvCxnSpPr>
        <p:spPr>
          <a:xfrm>
            <a:off x="1372553" y="3238845"/>
            <a:ext cx="7578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3" name="Google Shape;2623;p48"/>
          <p:cNvCxnSpPr/>
          <p:nvPr/>
        </p:nvCxnSpPr>
        <p:spPr>
          <a:xfrm>
            <a:off x="2130266" y="2414933"/>
            <a:ext cx="0" cy="8238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4" name="Google Shape;2624;p48"/>
          <p:cNvSpPr/>
          <p:nvPr/>
        </p:nvSpPr>
        <p:spPr>
          <a:xfrm>
            <a:off x="1457932" y="2386358"/>
            <a:ext cx="6723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48"/>
          <p:cNvSpPr/>
          <p:nvPr/>
        </p:nvSpPr>
        <p:spPr>
          <a:xfrm>
            <a:off x="615982" y="1674019"/>
            <a:ext cx="1513200" cy="247800"/>
          </a:xfrm>
          <a:prstGeom prst="roundRect">
            <a:avLst>
              <a:gd fmla="val 1593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9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48"/>
          <p:cNvSpPr/>
          <p:nvPr/>
        </p:nvSpPr>
        <p:spPr>
          <a:xfrm>
            <a:off x="716280" y="1994249"/>
            <a:ext cx="13125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48"/>
          <p:cNvSpPr/>
          <p:nvPr/>
        </p:nvSpPr>
        <p:spPr>
          <a:xfrm>
            <a:off x="1287208" y="2300573"/>
            <a:ext cx="1707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48"/>
          <p:cNvSpPr/>
          <p:nvPr/>
        </p:nvSpPr>
        <p:spPr>
          <a:xfrm>
            <a:off x="773430" y="2606993"/>
            <a:ext cx="1198200" cy="273300"/>
          </a:xfrm>
          <a:prstGeom prst="roundRect">
            <a:avLst>
              <a:gd fmla="val 13945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48"/>
          <p:cNvSpPr/>
          <p:nvPr/>
        </p:nvSpPr>
        <p:spPr>
          <a:xfrm>
            <a:off x="773430" y="2958941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48"/>
          <p:cNvSpPr/>
          <p:nvPr/>
        </p:nvSpPr>
        <p:spPr>
          <a:xfrm>
            <a:off x="1287208" y="3265361"/>
            <a:ext cx="1707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1" name="Google Shape;2631;p48"/>
          <p:cNvSpPr/>
          <p:nvPr/>
        </p:nvSpPr>
        <p:spPr>
          <a:xfrm>
            <a:off x="611600" y="3571780"/>
            <a:ext cx="1521900" cy="290400"/>
          </a:xfrm>
          <a:prstGeom prst="roundRect">
            <a:avLst>
              <a:gd fmla="val 13125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48"/>
          <p:cNvSpPr/>
          <p:nvPr/>
        </p:nvSpPr>
        <p:spPr>
          <a:xfrm>
            <a:off x="773430" y="3949351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3" name="Google Shape;2633;p48"/>
          <p:cNvSpPr/>
          <p:nvPr/>
        </p:nvSpPr>
        <p:spPr>
          <a:xfrm>
            <a:off x="648367" y="4289012"/>
            <a:ext cx="1448400" cy="256200"/>
          </a:xfrm>
          <a:prstGeom prst="roundRect">
            <a:avLst>
              <a:gd fmla="val 14875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48"/>
          <p:cNvSpPr/>
          <p:nvPr/>
        </p:nvSpPr>
        <p:spPr>
          <a:xfrm>
            <a:off x="773430" y="4632484"/>
            <a:ext cx="1198200" cy="247800"/>
          </a:xfrm>
          <a:prstGeom prst="roundRect">
            <a:avLst>
              <a:gd fmla="val 17850" name="adj"/>
            </a:avLst>
          </a:prstGeom>
          <a:solidFill>
            <a:srgbClr val="FFFFFF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925"/>
              <a:buFont typeface="Arial"/>
              <a:buNone/>
            </a:pPr>
            <a:r>
              <a:rPr b="0" i="0" lang="en-US" sz="135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48"/>
          <p:cNvSpPr/>
          <p:nvPr/>
        </p:nvSpPr>
        <p:spPr>
          <a:xfrm>
            <a:off x="711803" y="2299716"/>
            <a:ext cx="40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49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2" name="Google Shape;2642;p49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3" name="Google Shape;2643;p49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4" name="Google Shape;2644;p49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49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49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49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49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49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49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49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2" name="Google Shape;2652;p49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49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4" name="Google Shape;2654;p49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5" name="Google Shape;2655;p49"/>
          <p:cNvSpPr/>
          <p:nvPr/>
        </p:nvSpPr>
        <p:spPr>
          <a:xfrm>
            <a:off x="685800" y="1657350"/>
            <a:ext cx="5391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DECODING HYPERPARAMETER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49"/>
          <p:cNvSpPr/>
          <p:nvPr/>
        </p:nvSpPr>
        <p:spPr>
          <a:xfrm>
            <a:off x="685800" y="1981200"/>
            <a:ext cx="5391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98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Divide logits by positive τ, then apply softmax.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49"/>
          <p:cNvSpPr/>
          <p:nvPr/>
        </p:nvSpPr>
        <p:spPr>
          <a:xfrm>
            <a:off x="685800" y="2895600"/>
            <a:ext cx="53913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Low τ — sharper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High τ — flatter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Model weights and original logits stay fixed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Positive τ preserves the greedy argmax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49"/>
          <p:cNvSpPr/>
          <p:nvPr/>
        </p:nvSpPr>
        <p:spPr>
          <a:xfrm>
            <a:off x="6267450" y="1657350"/>
            <a:ext cx="5105400" cy="590700"/>
          </a:xfrm>
          <a:prstGeom prst="roundRect">
            <a:avLst>
              <a:gd fmla="val 29032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49"/>
          <p:cNvSpPr/>
          <p:nvPr/>
        </p:nvSpPr>
        <p:spPr>
          <a:xfrm>
            <a:off x="6438900" y="1752600"/>
            <a:ext cx="476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P(i)=exp(zᵢ/τ) / Σⱼ exp(zⱼ/τ)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49"/>
          <p:cNvSpPr/>
          <p:nvPr/>
        </p:nvSpPr>
        <p:spPr>
          <a:xfrm>
            <a:off x="6238875" y="2524125"/>
            <a:ext cx="5143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Toy logits z = [2,1,0] — a 3-token vocabulary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49"/>
          <p:cNvSpPr/>
          <p:nvPr/>
        </p:nvSpPr>
        <p:spPr>
          <a:xfrm>
            <a:off x="6286500" y="28956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τ=0.5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2" name="Google Shape;2662;p49"/>
          <p:cNvSpPr/>
          <p:nvPr/>
        </p:nvSpPr>
        <p:spPr>
          <a:xfrm>
            <a:off x="6324600" y="33147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49"/>
          <p:cNvSpPr/>
          <p:nvPr/>
        </p:nvSpPr>
        <p:spPr>
          <a:xfrm>
            <a:off x="6572250" y="3333750"/>
            <a:ext cx="908400" cy="171600"/>
          </a:xfrm>
          <a:prstGeom prst="roundRect">
            <a:avLst>
              <a:gd fmla="val 27778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49"/>
          <p:cNvSpPr/>
          <p:nvPr/>
        </p:nvSpPr>
        <p:spPr>
          <a:xfrm>
            <a:off x="7391400" y="32956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86.7%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5" name="Google Shape;2665;p49"/>
          <p:cNvSpPr/>
          <p:nvPr/>
        </p:nvSpPr>
        <p:spPr>
          <a:xfrm>
            <a:off x="6324600" y="37719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6" name="Google Shape;2666;p49"/>
          <p:cNvSpPr/>
          <p:nvPr/>
        </p:nvSpPr>
        <p:spPr>
          <a:xfrm>
            <a:off x="6572250" y="3790950"/>
            <a:ext cx="122700" cy="171600"/>
          </a:xfrm>
          <a:prstGeom prst="roundRect">
            <a:avLst>
              <a:gd fmla="val 38850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7" name="Google Shape;2667;p49"/>
          <p:cNvSpPr/>
          <p:nvPr/>
        </p:nvSpPr>
        <p:spPr>
          <a:xfrm>
            <a:off x="7391400" y="37528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11.7%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8" name="Google Shape;2668;p49"/>
          <p:cNvSpPr/>
          <p:nvPr/>
        </p:nvSpPr>
        <p:spPr>
          <a:xfrm>
            <a:off x="6324600" y="42291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9" name="Google Shape;2669;p49"/>
          <p:cNvSpPr/>
          <p:nvPr/>
        </p:nvSpPr>
        <p:spPr>
          <a:xfrm>
            <a:off x="6572250" y="4248150"/>
            <a:ext cx="16800" cy="171600"/>
          </a:xfrm>
          <a:prstGeom prst="roundRect">
            <a:avLst>
              <a:gd fmla="val 50000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49"/>
          <p:cNvSpPr/>
          <p:nvPr/>
        </p:nvSpPr>
        <p:spPr>
          <a:xfrm>
            <a:off x="7391400" y="42100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1.6%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49"/>
          <p:cNvSpPr/>
          <p:nvPr/>
        </p:nvSpPr>
        <p:spPr>
          <a:xfrm>
            <a:off x="6286500" y="47625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sharper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p49"/>
          <p:cNvSpPr/>
          <p:nvPr/>
        </p:nvSpPr>
        <p:spPr>
          <a:xfrm>
            <a:off x="8001000" y="28956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τ=1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49"/>
          <p:cNvSpPr/>
          <p:nvPr/>
        </p:nvSpPr>
        <p:spPr>
          <a:xfrm>
            <a:off x="8039100" y="33147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49"/>
          <p:cNvSpPr/>
          <p:nvPr/>
        </p:nvSpPr>
        <p:spPr>
          <a:xfrm>
            <a:off x="8286750" y="3333750"/>
            <a:ext cx="696900" cy="171600"/>
          </a:xfrm>
          <a:prstGeom prst="roundRect">
            <a:avLst>
              <a:gd fmla="val 27778" name="adj"/>
            </a:avLst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49"/>
          <p:cNvSpPr/>
          <p:nvPr/>
        </p:nvSpPr>
        <p:spPr>
          <a:xfrm>
            <a:off x="9105900" y="32956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66.5%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49"/>
          <p:cNvSpPr/>
          <p:nvPr/>
        </p:nvSpPr>
        <p:spPr>
          <a:xfrm>
            <a:off x="8039100" y="37719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49"/>
          <p:cNvSpPr/>
          <p:nvPr/>
        </p:nvSpPr>
        <p:spPr>
          <a:xfrm>
            <a:off x="8286750" y="3790950"/>
            <a:ext cx="256800" cy="171600"/>
          </a:xfrm>
          <a:prstGeom prst="roundRect">
            <a:avLst>
              <a:gd fmla="val 27778" name="adj"/>
            </a:avLst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49"/>
          <p:cNvSpPr/>
          <p:nvPr/>
        </p:nvSpPr>
        <p:spPr>
          <a:xfrm>
            <a:off x="9105900" y="37528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24.5%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49"/>
          <p:cNvSpPr/>
          <p:nvPr/>
        </p:nvSpPr>
        <p:spPr>
          <a:xfrm>
            <a:off x="8039100" y="42291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49"/>
          <p:cNvSpPr/>
          <p:nvPr/>
        </p:nvSpPr>
        <p:spPr>
          <a:xfrm>
            <a:off x="8286750" y="4248150"/>
            <a:ext cx="94200" cy="171600"/>
          </a:xfrm>
          <a:prstGeom prst="roundRect">
            <a:avLst>
              <a:gd fmla="val 50000" name="adj"/>
            </a:avLst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49"/>
          <p:cNvSpPr/>
          <p:nvPr/>
        </p:nvSpPr>
        <p:spPr>
          <a:xfrm>
            <a:off x="9105900" y="42100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9.0%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49"/>
          <p:cNvSpPr/>
          <p:nvPr/>
        </p:nvSpPr>
        <p:spPr>
          <a:xfrm>
            <a:off x="8001000" y="47625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49"/>
          <p:cNvSpPr/>
          <p:nvPr/>
        </p:nvSpPr>
        <p:spPr>
          <a:xfrm>
            <a:off x="9715500" y="28956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τ=2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4" name="Google Shape;2684;p49"/>
          <p:cNvSpPr/>
          <p:nvPr/>
        </p:nvSpPr>
        <p:spPr>
          <a:xfrm>
            <a:off x="9753600" y="33147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49"/>
          <p:cNvSpPr/>
          <p:nvPr/>
        </p:nvSpPr>
        <p:spPr>
          <a:xfrm>
            <a:off x="10001250" y="3333750"/>
            <a:ext cx="530100" cy="171600"/>
          </a:xfrm>
          <a:prstGeom prst="roundRect">
            <a:avLst>
              <a:gd fmla="val 27778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49"/>
          <p:cNvSpPr/>
          <p:nvPr/>
        </p:nvSpPr>
        <p:spPr>
          <a:xfrm>
            <a:off x="10820400" y="32956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50.6%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49"/>
          <p:cNvSpPr/>
          <p:nvPr/>
        </p:nvSpPr>
        <p:spPr>
          <a:xfrm>
            <a:off x="9753600" y="37719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49"/>
          <p:cNvSpPr/>
          <p:nvPr/>
        </p:nvSpPr>
        <p:spPr>
          <a:xfrm>
            <a:off x="10001250" y="3790950"/>
            <a:ext cx="321600" cy="171600"/>
          </a:xfrm>
          <a:prstGeom prst="roundRect">
            <a:avLst>
              <a:gd fmla="val 27778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49"/>
          <p:cNvSpPr/>
          <p:nvPr/>
        </p:nvSpPr>
        <p:spPr>
          <a:xfrm>
            <a:off x="10820400" y="37528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30.7%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49"/>
          <p:cNvSpPr/>
          <p:nvPr/>
        </p:nvSpPr>
        <p:spPr>
          <a:xfrm>
            <a:off x="9753600" y="4229100"/>
            <a:ext cx="1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49"/>
          <p:cNvSpPr/>
          <p:nvPr/>
        </p:nvSpPr>
        <p:spPr>
          <a:xfrm>
            <a:off x="10001250" y="4248150"/>
            <a:ext cx="195000" cy="171600"/>
          </a:xfrm>
          <a:prstGeom prst="roundRect">
            <a:avLst>
              <a:gd fmla="val 27778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49"/>
          <p:cNvSpPr/>
          <p:nvPr/>
        </p:nvSpPr>
        <p:spPr>
          <a:xfrm>
            <a:off x="10820400" y="4210050"/>
            <a:ext cx="49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18.6%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49"/>
          <p:cNvSpPr/>
          <p:nvPr/>
        </p:nvSpPr>
        <p:spPr>
          <a:xfrm>
            <a:off x="9715500" y="4762500"/>
            <a:ext cx="156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flatter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49"/>
          <p:cNvSpPr/>
          <p:nvPr/>
        </p:nvSpPr>
        <p:spPr>
          <a:xfrm>
            <a:off x="1238250" y="5562600"/>
            <a:ext cx="9715500" cy="495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49"/>
          <p:cNvSpPr/>
          <p:nvPr/>
        </p:nvSpPr>
        <p:spPr>
          <a:xfrm>
            <a:off x="1371600" y="563880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4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Check — can a positive temperature change the greedy choice?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5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2" name="Google Shape;2702;p50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3" name="Google Shape;2703;p5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4" name="Google Shape;2704;p50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5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5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p5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5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5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5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5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5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5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5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50"/>
          <p:cNvSpPr/>
          <p:nvPr/>
        </p:nvSpPr>
        <p:spPr>
          <a:xfrm>
            <a:off x="685800" y="1657350"/>
            <a:ext cx="563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TOKEN SELECTION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50"/>
          <p:cNvSpPr/>
          <p:nvPr/>
        </p:nvSpPr>
        <p:spPr>
          <a:xfrm>
            <a:off x="685800" y="1981200"/>
            <a:ext cx="56388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Different decoding rules can produce different continuations.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50"/>
          <p:cNvSpPr/>
          <p:nvPr/>
        </p:nvSpPr>
        <p:spPr>
          <a:xfrm>
            <a:off x="685800" y="2895600"/>
            <a:ext cx="5143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Greedy — choose the largest logit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Top-k — retain k highest-probability candidates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Top-p — retain the smallest set reaching mass 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Renormalize retained probabilities, then sample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50"/>
          <p:cNvSpPr/>
          <p:nvPr/>
        </p:nvSpPr>
        <p:spPr>
          <a:xfrm>
            <a:off x="6191250" y="1847850"/>
            <a:ext cx="1181100" cy="22671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9" name="Google Shape;2719;p50"/>
          <p:cNvSpPr/>
          <p:nvPr/>
        </p:nvSpPr>
        <p:spPr>
          <a:xfrm>
            <a:off x="6286500" y="2095500"/>
            <a:ext cx="99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GREEDY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50"/>
          <p:cNvSpPr/>
          <p:nvPr/>
        </p:nvSpPr>
        <p:spPr>
          <a:xfrm>
            <a:off x="6286500" y="2705100"/>
            <a:ext cx="990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argmax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50"/>
          <p:cNvSpPr/>
          <p:nvPr/>
        </p:nvSpPr>
        <p:spPr>
          <a:xfrm>
            <a:off x="6286500" y="3524250"/>
            <a:ext cx="990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same token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50"/>
          <p:cNvSpPr/>
          <p:nvPr/>
        </p:nvSpPr>
        <p:spPr>
          <a:xfrm>
            <a:off x="7524750" y="1847850"/>
            <a:ext cx="1181100" cy="22671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332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50"/>
          <p:cNvSpPr/>
          <p:nvPr/>
        </p:nvSpPr>
        <p:spPr>
          <a:xfrm>
            <a:off x="7620000" y="2095500"/>
            <a:ext cx="990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50"/>
          <p:cNvSpPr/>
          <p:nvPr/>
        </p:nvSpPr>
        <p:spPr>
          <a:xfrm>
            <a:off x="7620000" y="2705100"/>
            <a:ext cx="990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keep 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50"/>
          <p:cNvSpPr/>
          <p:nvPr/>
        </p:nvSpPr>
        <p:spPr>
          <a:xfrm>
            <a:off x="7620000" y="3524250"/>
            <a:ext cx="990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fixed count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50"/>
          <p:cNvSpPr/>
          <p:nvPr/>
        </p:nvSpPr>
        <p:spPr>
          <a:xfrm>
            <a:off x="8858250" y="1847850"/>
            <a:ext cx="1181100" cy="22671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50"/>
          <p:cNvSpPr/>
          <p:nvPr/>
        </p:nvSpPr>
        <p:spPr>
          <a:xfrm>
            <a:off x="8953500" y="2095500"/>
            <a:ext cx="990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TOP-p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50"/>
          <p:cNvSpPr/>
          <p:nvPr/>
        </p:nvSpPr>
        <p:spPr>
          <a:xfrm>
            <a:off x="8953500" y="2705100"/>
            <a:ext cx="990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cum. 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9" name="Google Shape;2729;p50"/>
          <p:cNvSpPr/>
          <p:nvPr/>
        </p:nvSpPr>
        <p:spPr>
          <a:xfrm>
            <a:off x="8953500" y="3524250"/>
            <a:ext cx="990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adaptive set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50"/>
          <p:cNvSpPr/>
          <p:nvPr/>
        </p:nvSpPr>
        <p:spPr>
          <a:xfrm>
            <a:off x="10191750" y="1847850"/>
            <a:ext cx="1181100" cy="2267100"/>
          </a:xfrm>
          <a:prstGeom prst="roundRect">
            <a:avLst>
              <a:gd fmla="val 1290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p50"/>
          <p:cNvSpPr/>
          <p:nvPr/>
        </p:nvSpPr>
        <p:spPr>
          <a:xfrm>
            <a:off x="10287000" y="2095500"/>
            <a:ext cx="99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50"/>
          <p:cNvSpPr/>
          <p:nvPr/>
        </p:nvSpPr>
        <p:spPr>
          <a:xfrm>
            <a:off x="10287000" y="2674620"/>
            <a:ext cx="990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draw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50"/>
          <p:cNvSpPr/>
          <p:nvPr/>
        </p:nvSpPr>
        <p:spPr>
          <a:xfrm>
            <a:off x="10287000" y="3524250"/>
            <a:ext cx="990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variation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50"/>
          <p:cNvSpPr/>
          <p:nvPr/>
        </p:nvSpPr>
        <p:spPr>
          <a:xfrm>
            <a:off x="6667500" y="4476750"/>
            <a:ext cx="4191000" cy="495300"/>
          </a:xfrm>
          <a:prstGeom prst="roundRect">
            <a:avLst>
              <a:gd fmla="val 25000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p50"/>
          <p:cNvSpPr/>
          <p:nvPr/>
        </p:nvSpPr>
        <p:spPr>
          <a:xfrm>
            <a:off x="6800850" y="4440174"/>
            <a:ext cx="3924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48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temperature → top-k/top-p → renormalize → sample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50"/>
          <p:cNvSpPr/>
          <p:nvPr/>
        </p:nvSpPr>
        <p:spPr>
          <a:xfrm>
            <a:off x="1238250" y="5562600"/>
            <a:ext cx="9715500" cy="6573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50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48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Once one sampled token differs, it becomes part of the next prefix and can change the remainder of the generated sequence.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50"/>
          <p:cNvSpPr/>
          <p:nvPr/>
        </p:nvSpPr>
        <p:spPr>
          <a:xfrm>
            <a:off x="666750" y="6248400"/>
            <a:ext cx="1057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Nucleus sampling: Holtzman et al.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51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51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Auto-regressive Generation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6" name="Google Shape;2746;p51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7" name="Google Shape;2747;p51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51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51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51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51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51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51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51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51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51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51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51"/>
          <p:cNvSpPr/>
          <p:nvPr/>
        </p:nvSpPr>
        <p:spPr>
          <a:xfrm>
            <a:off x="685800" y="1657350"/>
            <a:ext cx="5429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AUTOREGRESSIVE GENERATION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51"/>
          <p:cNvSpPr/>
          <p:nvPr/>
        </p:nvSpPr>
        <p:spPr>
          <a:xfrm>
            <a:off x="685800" y="1981200"/>
            <a:ext cx="5429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31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Append the selected ID and run the model again.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51"/>
          <p:cNvSpPr/>
          <p:nvPr/>
        </p:nvSpPr>
        <p:spPr>
          <a:xfrm>
            <a:off x="685800" y="2895600"/>
            <a:ext cx="5429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pass produces a next-token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The selected ID becomes part of the next prefix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EOS or an application rule ends generation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The same model weights are reused every step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51"/>
          <p:cNvSpPr/>
          <p:nvPr/>
        </p:nvSpPr>
        <p:spPr>
          <a:xfrm>
            <a:off x="6343650" y="2000250"/>
            <a:ext cx="1352700" cy="609600"/>
          </a:xfrm>
          <a:prstGeom prst="roundRect">
            <a:avLst>
              <a:gd fmla="val 21875" name="adj"/>
            </a:avLst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51"/>
          <p:cNvSpPr/>
          <p:nvPr/>
        </p:nvSpPr>
        <p:spPr>
          <a:xfrm>
            <a:off x="6477000" y="2076450"/>
            <a:ext cx="10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current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51"/>
          <p:cNvSpPr/>
          <p:nvPr/>
        </p:nvSpPr>
        <p:spPr>
          <a:xfrm>
            <a:off x="8172450" y="2000250"/>
            <a:ext cx="1428900" cy="609600"/>
          </a:xfrm>
          <a:prstGeom prst="roundRect">
            <a:avLst>
              <a:gd fmla="val 21875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51"/>
          <p:cNvSpPr/>
          <p:nvPr/>
        </p:nvSpPr>
        <p:spPr>
          <a:xfrm>
            <a:off x="8305800" y="2065020"/>
            <a:ext cx="1162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51"/>
          <p:cNvSpPr/>
          <p:nvPr/>
        </p:nvSpPr>
        <p:spPr>
          <a:xfrm>
            <a:off x="10077450" y="2000250"/>
            <a:ext cx="1200300" cy="609600"/>
          </a:xfrm>
          <a:prstGeom prst="roundRect">
            <a:avLst>
              <a:gd fmla="val 21875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51"/>
          <p:cNvSpPr/>
          <p:nvPr/>
        </p:nvSpPr>
        <p:spPr>
          <a:xfrm>
            <a:off x="10210800" y="2076450"/>
            <a:ext cx="9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7" name="Google Shape;2767;p51"/>
          <p:cNvCxnSpPr>
            <a:stCxn id="2761" idx="3"/>
            <a:endCxn id="2763" idx="1"/>
          </p:cNvCxnSpPr>
          <p:nvPr/>
        </p:nvCxnSpPr>
        <p:spPr>
          <a:xfrm>
            <a:off x="7696350" y="2305050"/>
            <a:ext cx="476100" cy="0"/>
          </a:xfrm>
          <a:prstGeom prst="straightConnector1">
            <a:avLst/>
          </a:prstGeom>
          <a:noFill/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68" name="Google Shape;2768;p51"/>
          <p:cNvCxnSpPr>
            <a:stCxn id="2763" idx="3"/>
            <a:endCxn id="2765" idx="1"/>
          </p:cNvCxnSpPr>
          <p:nvPr/>
        </p:nvCxnSpPr>
        <p:spPr>
          <a:xfrm>
            <a:off x="9601350" y="2305050"/>
            <a:ext cx="476100" cy="0"/>
          </a:xfrm>
          <a:prstGeom prst="straightConnector1">
            <a:avLst/>
          </a:prstGeom>
          <a:noFill/>
          <a:ln cap="flat" cmpd="sng" w="19050">
            <a:solidFill>
              <a:srgbClr val="FF9B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69" name="Google Shape;2769;p51"/>
          <p:cNvSpPr/>
          <p:nvPr/>
        </p:nvSpPr>
        <p:spPr>
          <a:xfrm>
            <a:off x="7734300" y="3162300"/>
            <a:ext cx="2171700" cy="609600"/>
          </a:xfrm>
          <a:prstGeom prst="roundRect">
            <a:avLst>
              <a:gd fmla="val 21875" name="adj"/>
            </a:avLst>
          </a:prstGeom>
          <a:solidFill>
            <a:srgbClr val="FFFFFF"/>
          </a:solidFill>
          <a:ln cap="flat" cmpd="sng" w="14275">
            <a:solidFill>
              <a:srgbClr val="49A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51"/>
          <p:cNvSpPr/>
          <p:nvPr/>
        </p:nvSpPr>
        <p:spPr>
          <a:xfrm>
            <a:off x="7867650" y="3204972"/>
            <a:ext cx="1905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75"/>
              <a:buFont typeface="Arial"/>
              <a:buNone/>
            </a:pPr>
            <a:r>
              <a:rPr b="1" i="0" lang="en-US" sz="165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append token and repeat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1" name="Google Shape;2771;p51"/>
          <p:cNvCxnSpPr>
            <a:stCxn id="2765" idx="2"/>
            <a:endCxn id="2769" idx="3"/>
          </p:cNvCxnSpPr>
          <p:nvPr/>
        </p:nvCxnSpPr>
        <p:spPr>
          <a:xfrm rot="5400000">
            <a:off x="9863100" y="2652750"/>
            <a:ext cx="857400" cy="771600"/>
          </a:xfrm>
          <a:prstGeom prst="bentConnector5">
            <a:avLst>
              <a:gd fmla="val 0" name="adj1"/>
              <a:gd fmla="val 0" name="adj2"/>
              <a:gd fmla="val 99114" name="adj3"/>
            </a:avLst>
          </a:prstGeom>
          <a:noFill/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72" name="Google Shape;2772;p51"/>
          <p:cNvCxnSpPr>
            <a:stCxn id="2769" idx="1"/>
            <a:endCxn id="2761" idx="2"/>
          </p:cNvCxnSpPr>
          <p:nvPr/>
        </p:nvCxnSpPr>
        <p:spPr>
          <a:xfrm rot="10800000">
            <a:off x="7020000" y="2610000"/>
            <a:ext cx="714300" cy="857100"/>
          </a:xfrm>
          <a:prstGeom prst="bentConnector2">
            <a:avLst/>
          </a:prstGeom>
          <a:noFill/>
          <a:ln cap="flat" cmpd="sng" w="19050">
            <a:solidFill>
              <a:srgbClr val="49A07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73" name="Google Shape;2773;p51"/>
          <p:cNvSpPr/>
          <p:nvPr/>
        </p:nvSpPr>
        <p:spPr>
          <a:xfrm>
            <a:off x="62293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51"/>
          <p:cNvSpPr/>
          <p:nvPr/>
        </p:nvSpPr>
        <p:spPr>
          <a:xfrm>
            <a:off x="6362700" y="4421505"/>
            <a:ext cx="12954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learned end marker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51"/>
          <p:cNvSpPr/>
          <p:nvPr/>
        </p:nvSpPr>
        <p:spPr>
          <a:xfrm>
            <a:off x="79438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51"/>
          <p:cNvSpPr/>
          <p:nvPr/>
        </p:nvSpPr>
        <p:spPr>
          <a:xfrm>
            <a:off x="8077200" y="4421505"/>
            <a:ext cx="12954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max tokens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hard length limit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51"/>
          <p:cNvSpPr/>
          <p:nvPr/>
        </p:nvSpPr>
        <p:spPr>
          <a:xfrm>
            <a:off x="9658350" y="4438650"/>
            <a:ext cx="1562100" cy="6669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1425">
            <a:solidFill>
              <a:srgbClr val="806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51"/>
          <p:cNvSpPr/>
          <p:nvPr/>
        </p:nvSpPr>
        <p:spPr>
          <a:xfrm>
            <a:off x="9791700" y="4421505"/>
            <a:ext cx="12954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stop/tool rule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application boundary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51"/>
          <p:cNvSpPr/>
          <p:nvPr/>
        </p:nvSpPr>
        <p:spPr>
          <a:xfrm>
            <a:off x="1238250" y="5518023"/>
            <a:ext cx="9715500" cy="701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51"/>
          <p:cNvSpPr/>
          <p:nvPr/>
        </p:nvSpPr>
        <p:spPr>
          <a:xfrm>
            <a:off x="1371600" y="5584698"/>
            <a:ext cx="9448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The vanilla loop may repeat earlier computation. KV-cache reuse is the central optimization introduced next lecture.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52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52"/>
          <p:cNvSpPr/>
          <p:nvPr/>
        </p:nvSpPr>
        <p:spPr>
          <a:xfrm>
            <a:off x="457200" y="6477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complete inference pass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8" name="Google Shape;2788;p52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9" name="Google Shape;2789;p52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p52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1" name="Google Shape;2791;p52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52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p52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52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52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52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p52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8" name="Google Shape;2798;p52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p52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p52"/>
          <p:cNvSpPr/>
          <p:nvPr/>
        </p:nvSpPr>
        <p:spPr>
          <a:xfrm>
            <a:off x="514350" y="1600200"/>
            <a:ext cx="2476500" cy="4229100"/>
          </a:xfrm>
          <a:prstGeom prst="roundRect">
            <a:avLst>
              <a:gd fmla="val 7692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1" name="Google Shape;2801;p52"/>
          <p:cNvSpPr/>
          <p:nvPr/>
        </p:nvSpPr>
        <p:spPr>
          <a:xfrm>
            <a:off x="723900" y="5276850"/>
            <a:ext cx="20766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43E72"/>
                </a:solidFill>
                <a:latin typeface="Arial"/>
                <a:ea typeface="Arial"/>
                <a:cs typeface="Arial"/>
                <a:sym typeface="Arial"/>
              </a:rPr>
              <a:t>complete decoder-only pass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2" name="Google Shape;2802;p52"/>
          <p:cNvSpPr/>
          <p:nvPr/>
        </p:nvSpPr>
        <p:spPr>
          <a:xfrm>
            <a:off x="3314700" y="1695450"/>
            <a:ext cx="285900" cy="285900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3" name="Google Shape;2803;p52"/>
          <p:cNvSpPr/>
          <p:nvPr/>
        </p:nvSpPr>
        <p:spPr>
          <a:xfrm>
            <a:off x="3314700" y="169545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4" name="Google Shape;2804;p52"/>
          <p:cNvSpPr/>
          <p:nvPr/>
        </p:nvSpPr>
        <p:spPr>
          <a:xfrm>
            <a:off x="3752850" y="16573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Tokenize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52"/>
          <p:cNvSpPr/>
          <p:nvPr/>
        </p:nvSpPr>
        <p:spPr>
          <a:xfrm>
            <a:off x="5105400" y="165735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text → IDs [B,T]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52"/>
          <p:cNvSpPr/>
          <p:nvPr/>
        </p:nvSpPr>
        <p:spPr>
          <a:xfrm>
            <a:off x="7753350" y="1657350"/>
            <a:ext cx="36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BPE applies fixed merges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7" name="Google Shape;2807;p52"/>
          <p:cNvCxnSpPr/>
          <p:nvPr/>
        </p:nvCxnSpPr>
        <p:spPr>
          <a:xfrm>
            <a:off x="3448050" y="2019300"/>
            <a:ext cx="0" cy="3048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8" name="Google Shape;2808;p52"/>
          <p:cNvSpPr/>
          <p:nvPr/>
        </p:nvSpPr>
        <p:spPr>
          <a:xfrm>
            <a:off x="3314700" y="2362200"/>
            <a:ext cx="285900" cy="285900"/>
          </a:xfrm>
          <a:prstGeom prst="ellipse">
            <a:avLst/>
          </a:prstGeom>
          <a:solidFill>
            <a:srgbClr val="6DC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52"/>
          <p:cNvSpPr/>
          <p:nvPr/>
        </p:nvSpPr>
        <p:spPr>
          <a:xfrm>
            <a:off x="3314700" y="23622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52"/>
          <p:cNvSpPr/>
          <p:nvPr/>
        </p:nvSpPr>
        <p:spPr>
          <a:xfrm>
            <a:off x="3752850" y="232410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Represent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52"/>
          <p:cNvSpPr/>
          <p:nvPr/>
        </p:nvSpPr>
        <p:spPr>
          <a:xfrm>
            <a:off x="5105400" y="232410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6DCBF4"/>
                </a:solidFill>
                <a:latin typeface="Consolas"/>
                <a:ea typeface="Consolas"/>
                <a:cs typeface="Consolas"/>
                <a:sym typeface="Consolas"/>
              </a:rPr>
              <a:t>IDs → X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52"/>
          <p:cNvSpPr/>
          <p:nvPr/>
        </p:nvSpPr>
        <p:spPr>
          <a:xfrm>
            <a:off x="7753350" y="2324100"/>
            <a:ext cx="3638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embedding; position enters attention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3" name="Google Shape;2813;p52"/>
          <p:cNvCxnSpPr/>
          <p:nvPr/>
        </p:nvCxnSpPr>
        <p:spPr>
          <a:xfrm>
            <a:off x="3448050" y="2686050"/>
            <a:ext cx="0" cy="3048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4" name="Google Shape;2814;p52"/>
          <p:cNvSpPr/>
          <p:nvPr/>
        </p:nvSpPr>
        <p:spPr>
          <a:xfrm>
            <a:off x="3314700" y="3028950"/>
            <a:ext cx="285900" cy="285900"/>
          </a:xfrm>
          <a:prstGeom prst="ellipse">
            <a:avLst/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52"/>
          <p:cNvSpPr/>
          <p:nvPr/>
        </p:nvSpPr>
        <p:spPr>
          <a:xfrm>
            <a:off x="3314700" y="302895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52"/>
          <p:cNvSpPr/>
          <p:nvPr/>
        </p:nvSpPr>
        <p:spPr>
          <a:xfrm>
            <a:off x="3752850" y="29908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52"/>
          <p:cNvSpPr/>
          <p:nvPr/>
        </p:nvSpPr>
        <p:spPr>
          <a:xfrm>
            <a:off x="5105400" y="299085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49A078"/>
                </a:solidFill>
                <a:latin typeface="Consolas"/>
                <a:ea typeface="Consolas"/>
                <a:cs typeface="Consolas"/>
                <a:sym typeface="Consolas"/>
              </a:rPr>
              <a:t>[B,T,d] →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52"/>
          <p:cNvSpPr/>
          <p:nvPr/>
        </p:nvSpPr>
        <p:spPr>
          <a:xfrm>
            <a:off x="7753350" y="2990850"/>
            <a:ext cx="3638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 → QKV → RoPE → A V → W_O → add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9" name="Google Shape;2819;p52"/>
          <p:cNvCxnSpPr/>
          <p:nvPr/>
        </p:nvCxnSpPr>
        <p:spPr>
          <a:xfrm>
            <a:off x="3448050" y="3352800"/>
            <a:ext cx="0" cy="3048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0" name="Google Shape;2820;p52"/>
          <p:cNvSpPr/>
          <p:nvPr/>
        </p:nvSpPr>
        <p:spPr>
          <a:xfrm>
            <a:off x="3314700" y="3695700"/>
            <a:ext cx="285900" cy="285900"/>
          </a:xfrm>
          <a:prstGeom prst="ellipse">
            <a:avLst/>
          </a:prstGeom>
          <a:solidFill>
            <a:srgbClr val="806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1" name="Google Shape;2821;p52"/>
          <p:cNvSpPr/>
          <p:nvPr/>
        </p:nvSpPr>
        <p:spPr>
          <a:xfrm>
            <a:off x="3314700" y="36957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52"/>
          <p:cNvSpPr/>
          <p:nvPr/>
        </p:nvSpPr>
        <p:spPr>
          <a:xfrm>
            <a:off x="3752850" y="365760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p52"/>
          <p:cNvSpPr/>
          <p:nvPr/>
        </p:nvSpPr>
        <p:spPr>
          <a:xfrm>
            <a:off x="5105400" y="365760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8067C8"/>
                </a:solidFill>
                <a:latin typeface="Consolas"/>
                <a:ea typeface="Consolas"/>
                <a:cs typeface="Consolas"/>
                <a:sym typeface="Consolas"/>
              </a:rPr>
              <a:t>[B,T,d] → 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52"/>
          <p:cNvSpPr/>
          <p:nvPr/>
        </p:nvSpPr>
        <p:spPr>
          <a:xfrm>
            <a:off x="7753350" y="3657600"/>
            <a:ext cx="3638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RMSNorm → SwiGLU → residual add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5" name="Google Shape;2825;p52"/>
          <p:cNvCxnSpPr/>
          <p:nvPr/>
        </p:nvCxnSpPr>
        <p:spPr>
          <a:xfrm>
            <a:off x="3448050" y="4019550"/>
            <a:ext cx="0" cy="3048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6" name="Google Shape;2826;p52"/>
          <p:cNvSpPr/>
          <p:nvPr/>
        </p:nvSpPr>
        <p:spPr>
          <a:xfrm>
            <a:off x="3314700" y="4362450"/>
            <a:ext cx="285900" cy="285900"/>
          </a:xfrm>
          <a:prstGeom prst="ellipse">
            <a:avLst/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52"/>
          <p:cNvSpPr/>
          <p:nvPr/>
        </p:nvSpPr>
        <p:spPr>
          <a:xfrm>
            <a:off x="3314700" y="436245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52"/>
          <p:cNvSpPr/>
          <p:nvPr/>
        </p:nvSpPr>
        <p:spPr>
          <a:xfrm>
            <a:off x="3752850" y="432435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52"/>
          <p:cNvSpPr/>
          <p:nvPr/>
        </p:nvSpPr>
        <p:spPr>
          <a:xfrm>
            <a:off x="5105400" y="432435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h_T → logits [B,V]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0" name="Google Shape;2830;p52"/>
          <p:cNvSpPr/>
          <p:nvPr/>
        </p:nvSpPr>
        <p:spPr>
          <a:xfrm>
            <a:off x="7753350" y="4324350"/>
            <a:ext cx="36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final norm and LM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1" name="Google Shape;2831;p52"/>
          <p:cNvCxnSpPr/>
          <p:nvPr/>
        </p:nvCxnSpPr>
        <p:spPr>
          <a:xfrm>
            <a:off x="3448050" y="4686300"/>
            <a:ext cx="0" cy="304800"/>
          </a:xfrm>
          <a:prstGeom prst="straightConnector1">
            <a:avLst/>
          </a:prstGeom>
          <a:noFill/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2" name="Google Shape;2832;p52"/>
          <p:cNvSpPr/>
          <p:nvPr/>
        </p:nvSpPr>
        <p:spPr>
          <a:xfrm>
            <a:off x="3314700" y="5029200"/>
            <a:ext cx="285900" cy="285900"/>
          </a:xfrm>
          <a:prstGeom prst="ellipse">
            <a:avLst/>
          </a:prstGeom>
          <a:solidFill>
            <a:srgbClr val="E45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p52"/>
          <p:cNvSpPr/>
          <p:nvPr/>
        </p:nvSpPr>
        <p:spPr>
          <a:xfrm>
            <a:off x="3314700" y="50292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52"/>
          <p:cNvSpPr/>
          <p:nvPr/>
        </p:nvSpPr>
        <p:spPr>
          <a:xfrm>
            <a:off x="3752850" y="4991100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52"/>
          <p:cNvSpPr/>
          <p:nvPr/>
        </p:nvSpPr>
        <p:spPr>
          <a:xfrm>
            <a:off x="5105400" y="4991100"/>
            <a:ext cx="247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200"/>
              <a:buFont typeface="Consolas"/>
              <a:buNone/>
            </a:pPr>
            <a:r>
              <a:rPr b="1" i="0" lang="en-US" sz="1650" u="none" cap="none" strike="noStrike">
                <a:solidFill>
                  <a:srgbClr val="E45A5A"/>
                </a:solidFill>
                <a:latin typeface="Consolas"/>
                <a:ea typeface="Consolas"/>
                <a:cs typeface="Consolas"/>
                <a:sym typeface="Consolas"/>
              </a:rPr>
              <a:t>probabilities → token ID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p52"/>
          <p:cNvSpPr/>
          <p:nvPr/>
        </p:nvSpPr>
        <p:spPr>
          <a:xfrm>
            <a:off x="7753350" y="4991100"/>
            <a:ext cx="36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temperature, filtering and sampling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52"/>
          <p:cNvSpPr/>
          <p:nvPr/>
        </p:nvSpPr>
        <p:spPr>
          <a:xfrm>
            <a:off x="788670" y="2241287"/>
            <a:ext cx="1993500" cy="2009400"/>
          </a:xfrm>
          <a:prstGeom prst="roundRect">
            <a:avLst>
              <a:gd fmla="val 2867" name="adj"/>
            </a:avLst>
          </a:prstGeom>
          <a:noFill/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52"/>
          <p:cNvSpPr/>
          <p:nvPr/>
        </p:nvSpPr>
        <p:spPr>
          <a:xfrm>
            <a:off x="1636395" y="4542685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52"/>
          <p:cNvSpPr/>
          <p:nvPr/>
        </p:nvSpPr>
        <p:spPr>
          <a:xfrm>
            <a:off x="1636395" y="4173431"/>
            <a:ext cx="57300" cy="111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52"/>
          <p:cNvSpPr/>
          <p:nvPr/>
        </p:nvSpPr>
        <p:spPr>
          <a:xfrm>
            <a:off x="1636395" y="3855700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52"/>
          <p:cNvSpPr/>
          <p:nvPr/>
        </p:nvSpPr>
        <p:spPr>
          <a:xfrm>
            <a:off x="1636395" y="3460684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52"/>
          <p:cNvSpPr/>
          <p:nvPr/>
        </p:nvSpPr>
        <p:spPr>
          <a:xfrm>
            <a:off x="1636395" y="3177303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52"/>
          <p:cNvSpPr/>
          <p:nvPr/>
        </p:nvSpPr>
        <p:spPr>
          <a:xfrm>
            <a:off x="1636395" y="2868160"/>
            <a:ext cx="57300" cy="94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52"/>
          <p:cNvSpPr/>
          <p:nvPr/>
        </p:nvSpPr>
        <p:spPr>
          <a:xfrm>
            <a:off x="1636395" y="2490319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p52"/>
          <p:cNvSpPr/>
          <p:nvPr/>
        </p:nvSpPr>
        <p:spPr>
          <a:xfrm>
            <a:off x="1636395" y="2206938"/>
            <a:ext cx="57300" cy="1029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p52"/>
          <p:cNvSpPr/>
          <p:nvPr/>
        </p:nvSpPr>
        <p:spPr>
          <a:xfrm>
            <a:off x="1636395" y="1897795"/>
            <a:ext cx="57300" cy="94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7" name="Google Shape;2847;p52"/>
          <p:cNvCxnSpPr/>
          <p:nvPr/>
        </p:nvCxnSpPr>
        <p:spPr>
          <a:xfrm>
            <a:off x="1664970" y="4233542"/>
            <a:ext cx="942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8" name="Google Shape;2848;p52"/>
          <p:cNvCxnSpPr/>
          <p:nvPr/>
        </p:nvCxnSpPr>
        <p:spPr>
          <a:xfrm>
            <a:off x="2606993" y="3370517"/>
            <a:ext cx="0" cy="8631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9" name="Google Shape;2849;p52"/>
          <p:cNvSpPr/>
          <p:nvPr/>
        </p:nvSpPr>
        <p:spPr>
          <a:xfrm>
            <a:off x="1750843" y="3341942"/>
            <a:ext cx="8562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0" name="Google Shape;2850;p52"/>
          <p:cNvCxnSpPr/>
          <p:nvPr/>
        </p:nvCxnSpPr>
        <p:spPr>
          <a:xfrm>
            <a:off x="1664970" y="3228827"/>
            <a:ext cx="942000" cy="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1" name="Google Shape;2851;p52"/>
          <p:cNvCxnSpPr/>
          <p:nvPr/>
        </p:nvCxnSpPr>
        <p:spPr>
          <a:xfrm>
            <a:off x="2606993" y="2400152"/>
            <a:ext cx="0" cy="828600"/>
          </a:xfrm>
          <a:prstGeom prst="straightConnector1">
            <a:avLst/>
          </a:prstGeom>
          <a:noFill/>
          <a:ln cap="flat" cmpd="sng" w="133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2" name="Google Shape;2852;p52"/>
          <p:cNvSpPr/>
          <p:nvPr/>
        </p:nvSpPr>
        <p:spPr>
          <a:xfrm>
            <a:off x="1750843" y="2371577"/>
            <a:ext cx="856200" cy="57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p52"/>
          <p:cNvSpPr/>
          <p:nvPr/>
        </p:nvSpPr>
        <p:spPr>
          <a:xfrm>
            <a:off x="908399" y="1655636"/>
            <a:ext cx="1513200" cy="247800"/>
          </a:xfrm>
          <a:prstGeom prst="roundRect">
            <a:avLst>
              <a:gd fmla="val 15846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LM head → logits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p52"/>
          <p:cNvSpPr/>
          <p:nvPr/>
        </p:nvSpPr>
        <p:spPr>
          <a:xfrm>
            <a:off x="920115" y="1977676"/>
            <a:ext cx="1489800" cy="247800"/>
          </a:xfrm>
          <a:prstGeom prst="roundRect">
            <a:avLst>
              <a:gd fmla="val 1774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Final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5" name="Google Shape;2855;p52"/>
          <p:cNvSpPr/>
          <p:nvPr/>
        </p:nvSpPr>
        <p:spPr>
          <a:xfrm>
            <a:off x="1579055" y="2285905"/>
            <a:ext cx="1716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p52"/>
          <p:cNvSpPr/>
          <p:nvPr/>
        </p:nvSpPr>
        <p:spPr>
          <a:xfrm>
            <a:off x="920115" y="2593372"/>
            <a:ext cx="1489800" cy="274800"/>
          </a:xfrm>
          <a:prstGeom prst="roundRect">
            <a:avLst>
              <a:gd fmla="val 13865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7" name="Google Shape;2857;p52"/>
          <p:cNvSpPr/>
          <p:nvPr/>
        </p:nvSpPr>
        <p:spPr>
          <a:xfrm>
            <a:off x="920115" y="2948083"/>
            <a:ext cx="1489800" cy="247800"/>
          </a:xfrm>
          <a:prstGeom prst="roundRect">
            <a:avLst>
              <a:gd fmla="val 1774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52"/>
          <p:cNvSpPr/>
          <p:nvPr/>
        </p:nvSpPr>
        <p:spPr>
          <a:xfrm>
            <a:off x="1579055" y="3256121"/>
            <a:ext cx="171600" cy="228600"/>
          </a:xfrm>
          <a:prstGeom prst="roundRect">
            <a:avLst>
              <a:gd fmla="val 50000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9" name="Google Shape;2859;p52"/>
          <p:cNvSpPr/>
          <p:nvPr/>
        </p:nvSpPr>
        <p:spPr>
          <a:xfrm>
            <a:off x="888492" y="3563779"/>
            <a:ext cx="1553100" cy="291900"/>
          </a:xfrm>
          <a:prstGeom prst="roundRect">
            <a:avLst>
              <a:gd fmla="val 13049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+ RoPE(Q,K)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52"/>
          <p:cNvSpPr/>
          <p:nvPr/>
        </p:nvSpPr>
        <p:spPr>
          <a:xfrm>
            <a:off x="920115" y="3944207"/>
            <a:ext cx="1489800" cy="247800"/>
          </a:xfrm>
          <a:prstGeom prst="roundRect">
            <a:avLst>
              <a:gd fmla="val 1774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1" name="Google Shape;2861;p52"/>
          <p:cNvSpPr/>
          <p:nvPr/>
        </p:nvSpPr>
        <p:spPr>
          <a:xfrm>
            <a:off x="892207" y="4285107"/>
            <a:ext cx="1545600" cy="257700"/>
          </a:xfrm>
          <a:prstGeom prst="roundRect">
            <a:avLst>
              <a:gd fmla="val 14789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52"/>
          <p:cNvSpPr/>
          <p:nvPr/>
        </p:nvSpPr>
        <p:spPr>
          <a:xfrm>
            <a:off x="920115" y="4631150"/>
            <a:ext cx="1489800" cy="247800"/>
          </a:xfrm>
          <a:prstGeom prst="roundRect">
            <a:avLst>
              <a:gd fmla="val 17747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125"/>
              <a:buFont typeface="Arial"/>
              <a:buNone/>
            </a:pPr>
            <a:r>
              <a:rPr b="1" i="0" lang="en-US" sz="13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IDs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52"/>
          <p:cNvSpPr/>
          <p:nvPr/>
        </p:nvSpPr>
        <p:spPr>
          <a:xfrm>
            <a:off x="843439" y="2284190"/>
            <a:ext cx="504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825"/>
              <a:buFont typeface="Arial"/>
              <a:buNone/>
            </a:pPr>
            <a:r>
              <a:rPr b="0" i="0" lang="en-US" sz="1050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×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53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53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Compare computation across the layers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1" name="Google Shape;2871;p53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2" name="Google Shape;2872;p53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53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53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53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53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53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53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53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53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53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53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53"/>
          <p:cNvSpPr/>
          <p:nvPr/>
        </p:nvSpPr>
        <p:spPr>
          <a:xfrm>
            <a:off x="685800" y="1657350"/>
            <a:ext cx="483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TOY COST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53"/>
          <p:cNvSpPr/>
          <p:nvPr/>
        </p:nvSpPr>
        <p:spPr>
          <a:xfrm>
            <a:off x="685800" y="1981200"/>
            <a:ext cx="4838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75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For this short prompt, FFN and dense projections dominate.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53"/>
          <p:cNvSpPr/>
          <p:nvPr/>
        </p:nvSpPr>
        <p:spPr>
          <a:xfrm>
            <a:off x="685800" y="2895600"/>
            <a:ext cx="48387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Main example — B=1, T=16, d=128, N=1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SwiGLU width 344; final-position LM head only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Count multiply and add separately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FLOPs describe arithmetic, not measured latency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53"/>
          <p:cNvSpPr/>
          <p:nvPr/>
        </p:nvSpPr>
        <p:spPr>
          <a:xfrm>
            <a:off x="5867400" y="1790700"/>
            <a:ext cx="1752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53"/>
          <p:cNvSpPr/>
          <p:nvPr/>
        </p:nvSpPr>
        <p:spPr>
          <a:xfrm>
            <a:off x="7696200" y="17145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53"/>
          <p:cNvSpPr/>
          <p:nvPr/>
        </p:nvSpPr>
        <p:spPr>
          <a:xfrm>
            <a:off x="7696200" y="17145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806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9" name="Google Shape;2889;p53"/>
          <p:cNvSpPr/>
          <p:nvPr/>
        </p:nvSpPr>
        <p:spPr>
          <a:xfrm>
            <a:off x="10782300" y="179070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Consolas"/>
                <a:ea typeface="Consolas"/>
                <a:cs typeface="Consolas"/>
                <a:sym typeface="Consolas"/>
              </a:rPr>
              <a:t>4.227M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53"/>
          <p:cNvSpPr/>
          <p:nvPr/>
        </p:nvSpPr>
        <p:spPr>
          <a:xfrm>
            <a:off x="5867400" y="2476500"/>
            <a:ext cx="1752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QKV + 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1" name="Google Shape;2891;p53"/>
          <p:cNvSpPr/>
          <p:nvPr/>
        </p:nvSpPr>
        <p:spPr>
          <a:xfrm>
            <a:off x="7696200" y="24003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53"/>
          <p:cNvSpPr/>
          <p:nvPr/>
        </p:nvSpPr>
        <p:spPr>
          <a:xfrm>
            <a:off x="7696200" y="2400300"/>
            <a:ext cx="1493100" cy="381000"/>
          </a:xfrm>
          <a:prstGeom prst="roundRect">
            <a:avLst>
              <a:gd fmla="val 22500" name="adj"/>
            </a:avLst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p53"/>
          <p:cNvSpPr/>
          <p:nvPr/>
        </p:nvSpPr>
        <p:spPr>
          <a:xfrm>
            <a:off x="10782300" y="247650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2.097M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53"/>
          <p:cNvSpPr/>
          <p:nvPr/>
        </p:nvSpPr>
        <p:spPr>
          <a:xfrm>
            <a:off x="5867400" y="3162300"/>
            <a:ext cx="1752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LM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53"/>
          <p:cNvSpPr/>
          <p:nvPr/>
        </p:nvSpPr>
        <p:spPr>
          <a:xfrm>
            <a:off x="7696200" y="30861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53"/>
          <p:cNvSpPr/>
          <p:nvPr/>
        </p:nvSpPr>
        <p:spPr>
          <a:xfrm>
            <a:off x="7696200" y="3086100"/>
            <a:ext cx="373200" cy="381000"/>
          </a:xfrm>
          <a:prstGeom prst="roundRect">
            <a:avLst>
              <a:gd fmla="val 22975" name="adj"/>
            </a:avLst>
          </a:prstGeom>
          <a:solidFill>
            <a:srgbClr val="FF9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7" name="Google Shape;2897;p53"/>
          <p:cNvSpPr/>
          <p:nvPr/>
        </p:nvSpPr>
        <p:spPr>
          <a:xfrm>
            <a:off x="10782300" y="316230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0.524M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53"/>
          <p:cNvSpPr/>
          <p:nvPr/>
        </p:nvSpPr>
        <p:spPr>
          <a:xfrm>
            <a:off x="5867400" y="3848100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QKᵀ + AV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53"/>
          <p:cNvSpPr/>
          <p:nvPr/>
        </p:nvSpPr>
        <p:spPr>
          <a:xfrm>
            <a:off x="7696200" y="37719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53"/>
          <p:cNvSpPr/>
          <p:nvPr/>
        </p:nvSpPr>
        <p:spPr>
          <a:xfrm>
            <a:off x="7696200" y="3771900"/>
            <a:ext cx="93300" cy="381000"/>
          </a:xfrm>
          <a:prstGeom prst="roundRect">
            <a:avLst>
              <a:gd fmla="val 50000" name="adj"/>
            </a:avLst>
          </a:prstGeom>
          <a:solidFill>
            <a:srgbClr val="49A0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53"/>
          <p:cNvSpPr/>
          <p:nvPr/>
        </p:nvSpPr>
        <p:spPr>
          <a:xfrm>
            <a:off x="10782300" y="3848100"/>
            <a:ext cx="6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Consolas"/>
                <a:ea typeface="Consolas"/>
                <a:cs typeface="Consolas"/>
                <a:sym typeface="Consolas"/>
              </a:rPr>
              <a:t>0.131M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p53"/>
          <p:cNvSpPr/>
          <p:nvPr/>
        </p:nvSpPr>
        <p:spPr>
          <a:xfrm>
            <a:off x="5867400" y="4533900"/>
            <a:ext cx="1752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Other operations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53"/>
          <p:cNvSpPr/>
          <p:nvPr/>
        </p:nvSpPr>
        <p:spPr>
          <a:xfrm>
            <a:off x="7696200" y="4457700"/>
            <a:ext cx="3009900" cy="381000"/>
          </a:xfrm>
          <a:prstGeom prst="roundRect">
            <a:avLst>
              <a:gd fmla="val 22500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53"/>
          <p:cNvSpPr/>
          <p:nvPr/>
        </p:nvSpPr>
        <p:spPr>
          <a:xfrm>
            <a:off x="7696200" y="4457700"/>
            <a:ext cx="47700" cy="381000"/>
          </a:xfrm>
          <a:prstGeom prst="roundRect">
            <a:avLst>
              <a:gd fmla="val 50000" name="adj"/>
            </a:avLst>
          </a:prstGeom>
          <a:solidFill>
            <a:srgbClr val="6DC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53"/>
          <p:cNvSpPr/>
          <p:nvPr/>
        </p:nvSpPr>
        <p:spPr>
          <a:xfrm>
            <a:off x="10782300" y="4533900"/>
            <a:ext cx="6288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1050"/>
              <a:buFont typeface="Consolas"/>
              <a:buNone/>
            </a:pPr>
            <a:r>
              <a:rPr b="1" i="0" lang="en-US" sz="15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small*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53"/>
          <p:cNvSpPr/>
          <p:nvPr/>
        </p:nvSpPr>
        <p:spPr>
          <a:xfrm>
            <a:off x="6705600" y="5219700"/>
            <a:ext cx="3829200" cy="514500"/>
          </a:xfrm>
          <a:prstGeom prst="roundRect">
            <a:avLst>
              <a:gd fmla="val 3333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53"/>
          <p:cNvSpPr/>
          <p:nvPr/>
        </p:nvSpPr>
        <p:spPr>
          <a:xfrm>
            <a:off x="6877050" y="5314950"/>
            <a:ext cx="3486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toy total ≈ 7.0 MFLOPs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53"/>
          <p:cNvSpPr/>
          <p:nvPr/>
        </p:nvSpPr>
        <p:spPr>
          <a:xfrm>
            <a:off x="1238250" y="5743575"/>
            <a:ext cx="9715500" cy="5619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53"/>
          <p:cNvSpPr/>
          <p:nvPr/>
        </p:nvSpPr>
        <p:spPr>
          <a:xfrm>
            <a:off x="1371600" y="5810250"/>
            <a:ext cx="944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4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*Norms, RoPE, softmax, activation and additions omitted from the leading matrix total.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54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54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Count stored weights as well as 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7" name="Google Shape;2917;p54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8" name="Google Shape;2918;p54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p54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0" name="Google Shape;2920;p54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1" name="Google Shape;2921;p54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54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3" name="Google Shape;2923;p54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54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p54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6" name="Google Shape;2926;p54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7" name="Google Shape;2927;p54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p54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54"/>
          <p:cNvSpPr/>
          <p:nvPr/>
        </p:nvSpPr>
        <p:spPr>
          <a:xfrm>
            <a:off x="685800" y="1657350"/>
            <a:ext cx="466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125"/>
              <a:buFont typeface="Arial"/>
              <a:buNone/>
            </a:pPr>
            <a:r>
              <a:rPr b="1" i="0" lang="en-US" sz="12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SAME TOY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54"/>
          <p:cNvSpPr/>
          <p:nvPr/>
        </p:nvSpPr>
        <p:spPr>
          <a:xfrm>
            <a:off x="685800" y="2047875"/>
            <a:ext cx="47148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10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Large weight storage does not imply large arithmetic cost.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54"/>
          <p:cNvSpPr/>
          <p:nvPr/>
        </p:nvSpPr>
        <p:spPr>
          <a:xfrm>
            <a:off x="685800" y="3190875"/>
            <a:ext cx="46197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" lvl="0" marL="18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Embedding and LM head share one matrix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" lvl="0" marL="18" marR="0" rtl="0" algn="l">
              <a:lnSpc>
                <a:spcPct val="112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Attention — four d × d matrices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" lvl="0" marL="18" marR="0" rtl="0" algn="l">
              <a:lnSpc>
                <a:spcPct val="112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FFN — two d × d_ff; one d_ff × 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" lvl="0" marL="18" marR="0" rtl="0" algn="l">
              <a:lnSpc>
                <a:spcPct val="112000"/>
              </a:lnSpc>
              <a:spcBef>
                <a:spcPts val="1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None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Three RMSNorm scales; no linear biases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54"/>
          <p:cNvSpPr/>
          <p:nvPr/>
        </p:nvSpPr>
        <p:spPr>
          <a:xfrm>
            <a:off x="5781675" y="170497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173F71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54"/>
          <p:cNvSpPr/>
          <p:nvPr/>
        </p:nvSpPr>
        <p:spPr>
          <a:xfrm>
            <a:off x="9315450" y="170497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173F71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54"/>
          <p:cNvSpPr/>
          <p:nvPr/>
        </p:nvSpPr>
        <p:spPr>
          <a:xfrm>
            <a:off x="5781675" y="221932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Embedding / tied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54"/>
          <p:cNvSpPr/>
          <p:nvPr/>
        </p:nvSpPr>
        <p:spPr>
          <a:xfrm>
            <a:off x="9315450" y="221932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262,144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54"/>
          <p:cNvSpPr/>
          <p:nvPr/>
        </p:nvSpPr>
        <p:spPr>
          <a:xfrm>
            <a:off x="5781675" y="273367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MHA projections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7" name="Google Shape;2937;p54"/>
          <p:cNvSpPr/>
          <p:nvPr/>
        </p:nvSpPr>
        <p:spPr>
          <a:xfrm>
            <a:off x="9315450" y="273367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65,536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54"/>
          <p:cNvSpPr/>
          <p:nvPr/>
        </p:nvSpPr>
        <p:spPr>
          <a:xfrm>
            <a:off x="5781675" y="324802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SwiGLU FFN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9" name="Google Shape;2939;p54"/>
          <p:cNvSpPr/>
          <p:nvPr/>
        </p:nvSpPr>
        <p:spPr>
          <a:xfrm>
            <a:off x="9315450" y="324802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132,096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54"/>
          <p:cNvSpPr/>
          <p:nvPr/>
        </p:nvSpPr>
        <p:spPr>
          <a:xfrm>
            <a:off x="5781675" y="376237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RMSNorm scales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54"/>
          <p:cNvSpPr/>
          <p:nvPr/>
        </p:nvSpPr>
        <p:spPr>
          <a:xfrm>
            <a:off x="9315450" y="376237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384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54"/>
          <p:cNvSpPr/>
          <p:nvPr/>
        </p:nvSpPr>
        <p:spPr>
          <a:xfrm>
            <a:off x="5781675" y="4276725"/>
            <a:ext cx="3467100" cy="438300"/>
          </a:xfrm>
          <a:prstGeom prst="roundRect">
            <a:avLst>
              <a:gd fmla="val 17391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p54"/>
          <p:cNvSpPr/>
          <p:nvPr/>
        </p:nvSpPr>
        <p:spPr>
          <a:xfrm>
            <a:off x="9315450" y="4276725"/>
            <a:ext cx="2038500" cy="438300"/>
          </a:xfrm>
          <a:prstGeom prst="roundRect">
            <a:avLst>
              <a:gd fmla="val 17391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500"/>
              <a:buFont typeface="Arial"/>
              <a:buNone/>
            </a:pPr>
            <a:r>
              <a:rPr b="1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460,160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54"/>
          <p:cNvSpPr/>
          <p:nvPr/>
        </p:nvSpPr>
        <p:spPr>
          <a:xfrm>
            <a:off x="5991225" y="4981575"/>
            <a:ext cx="5143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725"/>
              <a:buFont typeface="Arial"/>
              <a:buNone/>
            </a:pPr>
            <a:r>
              <a:rPr b="1" i="0" lang="en-US" sz="18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FP16 / BF16 weights ≈ 0.92 MB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1725"/>
              <a:buFont typeface="Arial"/>
              <a:buNone/>
            </a:pPr>
            <a:r>
              <a:rPr b="1" i="0" lang="en-US" sz="180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FP32 weights ≈ 1.84 MB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54"/>
          <p:cNvSpPr/>
          <p:nvPr/>
        </p:nvSpPr>
        <p:spPr>
          <a:xfrm>
            <a:off x="685800" y="5584698"/>
            <a:ext cx="10668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Untied head adds 262,144 weights. These are decimal MB of weights only; runtime buffers need extra memory.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0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Google Shape;2951;p55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55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Architecture hyperparameters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3" name="Google Shape;2953;p55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4" name="Google Shape;2954;p55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p55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55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55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55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p55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0" name="Google Shape;2960;p55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1" name="Google Shape;2961;p55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2" name="Google Shape;2962;p55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3" name="Google Shape;2963;p55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55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p55"/>
          <p:cNvSpPr/>
          <p:nvPr/>
        </p:nvSpPr>
        <p:spPr>
          <a:xfrm>
            <a:off x="685800" y="1657350"/>
            <a:ext cx="4629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ENGINEERING CHOICES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55"/>
          <p:cNvSpPr/>
          <p:nvPr/>
        </p:nvSpPr>
        <p:spPr>
          <a:xfrm>
            <a:off x="685800" y="1981200"/>
            <a:ext cx="4629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800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Choose dimensions together, then validate experimentally.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p55"/>
          <p:cNvSpPr/>
          <p:nvPr/>
        </p:nvSpPr>
        <p:spPr>
          <a:xfrm>
            <a:off x="685800" y="3048000"/>
            <a:ext cx="46293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V trades vocabulary storage against token length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d, N, and d_ff allocate capacity and computation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 and dₕ define the attention layout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Data, hardware, and task determine useful choices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55"/>
          <p:cNvSpPr/>
          <p:nvPr/>
        </p:nvSpPr>
        <p:spPr>
          <a:xfrm>
            <a:off x="5753100" y="1676400"/>
            <a:ext cx="762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KNOB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9" name="Google Shape;2969;p55"/>
          <p:cNvSpPr/>
          <p:nvPr/>
        </p:nvSpPr>
        <p:spPr>
          <a:xfrm>
            <a:off x="6629400" y="1676400"/>
            <a:ext cx="20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AFFECTS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0" name="Google Shape;2970;p55"/>
          <p:cNvSpPr/>
          <p:nvPr/>
        </p:nvSpPr>
        <p:spPr>
          <a:xfrm>
            <a:off x="8705850" y="1676400"/>
            <a:ext cx="1181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1" name="Google Shape;2971;p55"/>
          <p:cNvSpPr/>
          <p:nvPr/>
        </p:nvSpPr>
        <p:spPr>
          <a:xfrm>
            <a:off x="10020300" y="1676400"/>
            <a:ext cx="1276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55"/>
          <p:cNvSpPr/>
          <p:nvPr/>
        </p:nvSpPr>
        <p:spPr>
          <a:xfrm>
            <a:off x="5657850" y="1943100"/>
            <a:ext cx="5772300" cy="4191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3" name="Google Shape;2973;p55"/>
          <p:cNvSpPr/>
          <p:nvPr/>
        </p:nvSpPr>
        <p:spPr>
          <a:xfrm>
            <a:off x="5791200" y="19812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55"/>
          <p:cNvSpPr/>
          <p:nvPr/>
        </p:nvSpPr>
        <p:spPr>
          <a:xfrm>
            <a:off x="6629400" y="1981200"/>
            <a:ext cx="200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embedding / LM 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55"/>
          <p:cNvSpPr/>
          <p:nvPr/>
        </p:nvSpPr>
        <p:spPr>
          <a:xfrm>
            <a:off x="8705850" y="198120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∝Vd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55"/>
          <p:cNvSpPr/>
          <p:nvPr/>
        </p:nvSpPr>
        <p:spPr>
          <a:xfrm>
            <a:off x="10020300" y="1981200"/>
            <a:ext cx="12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may reduce 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7" name="Google Shape;2977;p55"/>
          <p:cNvSpPr/>
          <p:nvPr/>
        </p:nvSpPr>
        <p:spPr>
          <a:xfrm>
            <a:off x="5791200" y="24955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8" name="Google Shape;2978;p55"/>
          <p:cNvSpPr/>
          <p:nvPr/>
        </p:nvSpPr>
        <p:spPr>
          <a:xfrm>
            <a:off x="6629400" y="2495550"/>
            <a:ext cx="200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token-wise + attention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9" name="Google Shape;2979;p55"/>
          <p:cNvSpPr/>
          <p:nvPr/>
        </p:nvSpPr>
        <p:spPr>
          <a:xfrm>
            <a:off x="8705850" y="249555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∝T and T²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p55"/>
          <p:cNvSpPr/>
          <p:nvPr/>
        </p:nvSpPr>
        <p:spPr>
          <a:xfrm>
            <a:off x="10020300" y="2495550"/>
            <a:ext cx="12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context cost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55"/>
          <p:cNvSpPr/>
          <p:nvPr/>
        </p:nvSpPr>
        <p:spPr>
          <a:xfrm>
            <a:off x="5657850" y="2971800"/>
            <a:ext cx="5772300" cy="4191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55"/>
          <p:cNvSpPr/>
          <p:nvPr/>
        </p:nvSpPr>
        <p:spPr>
          <a:xfrm>
            <a:off x="5791200" y="30099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55"/>
          <p:cNvSpPr/>
          <p:nvPr/>
        </p:nvSpPr>
        <p:spPr>
          <a:xfrm>
            <a:off x="6629400" y="3009900"/>
            <a:ext cx="2000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most dense matrices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55"/>
          <p:cNvSpPr/>
          <p:nvPr/>
        </p:nvSpPr>
        <p:spPr>
          <a:xfrm>
            <a:off x="8705850" y="300990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∝d²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55"/>
          <p:cNvSpPr/>
          <p:nvPr/>
        </p:nvSpPr>
        <p:spPr>
          <a:xfrm>
            <a:off x="10020300" y="3009900"/>
            <a:ext cx="1276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width and heads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55"/>
          <p:cNvSpPr/>
          <p:nvPr/>
        </p:nvSpPr>
        <p:spPr>
          <a:xfrm>
            <a:off x="5791200" y="35242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p55"/>
          <p:cNvSpPr/>
          <p:nvPr/>
        </p:nvSpPr>
        <p:spPr>
          <a:xfrm>
            <a:off x="6629400" y="3524250"/>
            <a:ext cx="2000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repeated blocks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p55"/>
          <p:cNvSpPr/>
          <p:nvPr/>
        </p:nvSpPr>
        <p:spPr>
          <a:xfrm>
            <a:off x="8705850" y="352425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∝N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p55"/>
          <p:cNvSpPr/>
          <p:nvPr/>
        </p:nvSpPr>
        <p:spPr>
          <a:xfrm>
            <a:off x="10020300" y="3524250"/>
            <a:ext cx="12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55"/>
          <p:cNvSpPr/>
          <p:nvPr/>
        </p:nvSpPr>
        <p:spPr>
          <a:xfrm>
            <a:off x="5657850" y="4000500"/>
            <a:ext cx="5772300" cy="419100"/>
          </a:xfrm>
          <a:prstGeom prst="roundRect">
            <a:avLst>
              <a:gd fmla="val 18182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55"/>
          <p:cNvSpPr/>
          <p:nvPr/>
        </p:nvSpPr>
        <p:spPr>
          <a:xfrm>
            <a:off x="5791200" y="40386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d_ff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55"/>
          <p:cNvSpPr/>
          <p:nvPr/>
        </p:nvSpPr>
        <p:spPr>
          <a:xfrm>
            <a:off x="6629400" y="4038600"/>
            <a:ext cx="2000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FFN capacity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55"/>
          <p:cNvSpPr/>
          <p:nvPr/>
        </p:nvSpPr>
        <p:spPr>
          <a:xfrm>
            <a:off x="8705850" y="403860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B52"/>
                </a:solidFill>
                <a:latin typeface="Consolas"/>
                <a:ea typeface="Consolas"/>
                <a:cs typeface="Consolas"/>
                <a:sym typeface="Consolas"/>
              </a:rPr>
              <a:t>∝d·d_ff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55"/>
          <p:cNvSpPr/>
          <p:nvPr/>
        </p:nvSpPr>
        <p:spPr>
          <a:xfrm>
            <a:off x="10020300" y="4038600"/>
            <a:ext cx="12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2 vs 3 matrices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5" name="Google Shape;2995;p55"/>
          <p:cNvSpPr/>
          <p:nvPr/>
        </p:nvSpPr>
        <p:spPr>
          <a:xfrm>
            <a:off x="5791200" y="45529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75"/>
              <a:buFont typeface="Consolas"/>
              <a:buNone/>
            </a:pPr>
            <a:r>
              <a:rPr b="1" i="0" lang="en-US" sz="1500" u="none" cap="none" strike="noStrike">
                <a:solidFill>
                  <a:srgbClr val="3D8DFF"/>
                </a:solidFill>
                <a:latin typeface="Consolas"/>
                <a:ea typeface="Consolas"/>
                <a:cs typeface="Consolas"/>
                <a:sym typeface="Consolas"/>
              </a:rPr>
              <a:t>H,dₕ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55"/>
          <p:cNvSpPr/>
          <p:nvPr/>
        </p:nvSpPr>
        <p:spPr>
          <a:xfrm>
            <a:off x="6629400" y="4552950"/>
            <a:ext cx="2000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 layout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55"/>
          <p:cNvSpPr/>
          <p:nvPr/>
        </p:nvSpPr>
        <p:spPr>
          <a:xfrm>
            <a:off x="8705850" y="4552950"/>
            <a:ext cx="12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125"/>
              <a:buFont typeface="Consolas"/>
              <a:buNone/>
            </a:pPr>
            <a:r>
              <a:rPr b="1" i="0" lang="en-US" sz="150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d = H·dₕ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55"/>
          <p:cNvSpPr/>
          <p:nvPr/>
        </p:nvSpPr>
        <p:spPr>
          <a:xfrm>
            <a:off x="10020300" y="4552950"/>
            <a:ext cx="12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grouping later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p55"/>
          <p:cNvSpPr/>
          <p:nvPr/>
        </p:nvSpPr>
        <p:spPr>
          <a:xfrm>
            <a:off x="6019800" y="5238750"/>
            <a:ext cx="5067300" cy="495300"/>
          </a:xfrm>
          <a:prstGeom prst="roundRect">
            <a:avLst>
              <a:gd fmla="val 25000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55"/>
          <p:cNvSpPr/>
          <p:nvPr/>
        </p:nvSpPr>
        <p:spPr>
          <a:xfrm>
            <a:off x="6153150" y="5267325"/>
            <a:ext cx="4800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4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science: derive effects.  Part engineering: choose and validate under constraints.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55"/>
          <p:cNvSpPr/>
          <p:nvPr/>
        </p:nvSpPr>
        <p:spPr>
          <a:xfrm>
            <a:off x="1238250" y="5762625"/>
            <a:ext cx="9715500" cy="590700"/>
          </a:xfrm>
          <a:prstGeom prst="roundRect">
            <a:avLst>
              <a:gd fmla="val 28846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55"/>
          <p:cNvSpPr/>
          <p:nvPr/>
        </p:nvSpPr>
        <p:spPr>
          <a:xfrm>
            <a:off x="1371600" y="5829300"/>
            <a:ext cx="94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3E72"/>
              </a:buClr>
              <a:buSzPts val="1314"/>
              <a:buFont typeface="Arial"/>
              <a:buNone/>
            </a:pPr>
            <a:r>
              <a:rPr b="1" i="0" lang="en-US" sz="16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 and T trade off; width and depth allocate capacity. Evaluate the complete configuration.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7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p56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9" name="Google Shape;3009;p56"/>
          <p:cNvSpPr/>
          <p:nvPr/>
        </p:nvSpPr>
        <p:spPr>
          <a:xfrm>
            <a:off x="457200" y="47625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6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Next — faster inference and smaller memory use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0" name="Google Shape;3010;p56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1" name="Google Shape;3011;p56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2" name="Google Shape;3012;p56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56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56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56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56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56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56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56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56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56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56"/>
          <p:cNvSpPr/>
          <p:nvPr/>
        </p:nvSpPr>
        <p:spPr>
          <a:xfrm>
            <a:off x="685800" y="1657350"/>
            <a:ext cx="561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975"/>
              <a:buFont typeface="Arial"/>
              <a:buNone/>
            </a:pPr>
            <a:r>
              <a:rPr b="1" i="0" lang="en-US" sz="120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LOOKING AHEAD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56"/>
          <p:cNvSpPr/>
          <p:nvPr/>
        </p:nvSpPr>
        <p:spPr>
          <a:xfrm>
            <a:off x="685800" y="1981200"/>
            <a:ext cx="5619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674"/>
              <a:buFont typeface="Arial"/>
              <a:buNone/>
            </a:pPr>
            <a:r>
              <a:rPr b="1" i="0" lang="en-US" sz="22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Separate exact execution changes from architecture trade-offs.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56"/>
          <p:cNvSpPr/>
          <p:nvPr/>
        </p:nvSpPr>
        <p:spPr>
          <a:xfrm>
            <a:off x="685800" y="2895600"/>
            <a:ext cx="56199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4775" lvl="0" marL="1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KV cache and exact kernels reuse or reorganize computation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GQA, MQA, and MLA change attention design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Quantization reduces bytes with numerical approximation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0" marL="18" marR="0" rtl="0" algn="l">
              <a:lnSpc>
                <a:spcPct val="100000"/>
              </a:lnSpc>
              <a:spcBef>
                <a:spcPts val="12"/>
              </a:spcBef>
              <a:spcAft>
                <a:spcPts val="12"/>
              </a:spcAft>
              <a:buClr>
                <a:srgbClr val="535D69"/>
              </a:buClr>
              <a:buSzPts val="1650"/>
              <a:buFont typeface="Arial"/>
              <a:buChar char="•"/>
            </a:pPr>
            <a:r>
              <a:rPr b="0" i="0" lang="en-US" sz="2025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Measure quality, latency, throughput, and memory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56"/>
          <p:cNvSpPr/>
          <p:nvPr/>
        </p:nvSpPr>
        <p:spPr>
          <a:xfrm>
            <a:off x="6381750" y="16954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CAUSAL MASK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56"/>
          <p:cNvSpPr/>
          <p:nvPr/>
        </p:nvSpPr>
        <p:spPr>
          <a:xfrm>
            <a:off x="6381750" y="19621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visibility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56"/>
          <p:cNvSpPr/>
          <p:nvPr/>
        </p:nvSpPr>
        <p:spPr>
          <a:xfrm>
            <a:off x="8858250" y="16954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A078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49A078"/>
                </a:solidFill>
                <a:latin typeface="Arial"/>
                <a:ea typeface="Arial"/>
                <a:cs typeface="Arial"/>
                <a:sym typeface="Arial"/>
              </a:rPr>
              <a:t>KV CACHE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56"/>
          <p:cNvSpPr/>
          <p:nvPr/>
        </p:nvSpPr>
        <p:spPr>
          <a:xfrm>
            <a:off x="8858250" y="19621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reuse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56"/>
          <p:cNvSpPr/>
          <p:nvPr/>
        </p:nvSpPr>
        <p:spPr>
          <a:xfrm>
            <a:off x="6381750" y="24193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GQA / MQA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56"/>
          <p:cNvSpPr/>
          <p:nvPr/>
        </p:nvSpPr>
        <p:spPr>
          <a:xfrm>
            <a:off x="6381750" y="26860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share K,V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56"/>
          <p:cNvSpPr/>
          <p:nvPr/>
        </p:nvSpPr>
        <p:spPr>
          <a:xfrm>
            <a:off x="8858250" y="24193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MLA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2" name="Google Shape;3032;p56"/>
          <p:cNvSpPr/>
          <p:nvPr/>
        </p:nvSpPr>
        <p:spPr>
          <a:xfrm>
            <a:off x="8858250" y="26860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compress state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3" name="Google Shape;3033;p56"/>
          <p:cNvSpPr/>
          <p:nvPr/>
        </p:nvSpPr>
        <p:spPr>
          <a:xfrm>
            <a:off x="6381750" y="31432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A5A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E45A5A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p56"/>
          <p:cNvSpPr/>
          <p:nvPr/>
        </p:nvSpPr>
        <p:spPr>
          <a:xfrm>
            <a:off x="6381750" y="34099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fewer bytes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56"/>
          <p:cNvSpPr/>
          <p:nvPr/>
        </p:nvSpPr>
        <p:spPr>
          <a:xfrm>
            <a:off x="8858250" y="31432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KERNELS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56"/>
          <p:cNvSpPr/>
          <p:nvPr/>
        </p:nvSpPr>
        <p:spPr>
          <a:xfrm>
            <a:off x="8858250" y="34099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better execution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7" name="Google Shape;3037;p56"/>
          <p:cNvSpPr/>
          <p:nvPr/>
        </p:nvSpPr>
        <p:spPr>
          <a:xfrm>
            <a:off x="6381750" y="3867150"/>
            <a:ext cx="217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BENCHMARKS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8" name="Google Shape;3038;p56"/>
          <p:cNvSpPr/>
          <p:nvPr/>
        </p:nvSpPr>
        <p:spPr>
          <a:xfrm>
            <a:off x="6381750" y="4133850"/>
            <a:ext cx="21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75"/>
              <a:buFont typeface="Arial"/>
              <a:buNone/>
            </a:pPr>
            <a:r>
              <a:rPr b="0" i="0" lang="en-US" sz="16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measure reality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9" name="Google Shape;3039;p56"/>
          <p:cNvSpPr/>
          <p:nvPr/>
        </p:nvSpPr>
        <p:spPr>
          <a:xfrm>
            <a:off x="6705600" y="5219700"/>
            <a:ext cx="42672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5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CPU toolkit on Moodle; bring a laptop for announced hands-on sessions.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57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57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3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References — language modelling and 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7" name="Google Shape;3047;p57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8" name="Google Shape;3048;p57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57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57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57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57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57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57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5" name="Google Shape;3055;p57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6" name="Google Shape;3056;p57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p57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57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57"/>
          <p:cNvSpPr/>
          <p:nvPr/>
        </p:nvSpPr>
        <p:spPr>
          <a:xfrm>
            <a:off x="685800" y="1666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Shannon (1951)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57"/>
          <p:cNvSpPr/>
          <p:nvPr/>
        </p:nvSpPr>
        <p:spPr>
          <a:xfrm>
            <a:off x="685800" y="19621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Prediction and Entropy of Printed English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1" name="Google Shape;3061;p57"/>
          <p:cNvSpPr/>
          <p:nvPr/>
        </p:nvSpPr>
        <p:spPr>
          <a:xfrm>
            <a:off x="685800" y="25241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Bengio et al. (2003)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57"/>
          <p:cNvSpPr/>
          <p:nvPr/>
        </p:nvSpPr>
        <p:spPr>
          <a:xfrm>
            <a:off x="685800" y="28194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Neural Probabilistic Language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3" name="Google Shape;3063;p57"/>
          <p:cNvSpPr/>
          <p:nvPr/>
        </p:nvSpPr>
        <p:spPr>
          <a:xfrm>
            <a:off x="685800" y="33813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Mikolov et al. (2013)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4" name="Google Shape;3064;p57"/>
          <p:cNvSpPr/>
          <p:nvPr/>
        </p:nvSpPr>
        <p:spPr>
          <a:xfrm>
            <a:off x="685800" y="36766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Estimation of Word Representations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p57"/>
          <p:cNvSpPr/>
          <p:nvPr/>
        </p:nvSpPr>
        <p:spPr>
          <a:xfrm>
            <a:off x="685800" y="42386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Vaswani et al. (2017)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6" name="Google Shape;3066;p57"/>
          <p:cNvSpPr/>
          <p:nvPr/>
        </p:nvSpPr>
        <p:spPr>
          <a:xfrm>
            <a:off x="685800" y="45339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Attention Is All You Need; original architecture figure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7" name="Google Shape;3067;p57"/>
          <p:cNvSpPr/>
          <p:nvPr/>
        </p:nvSpPr>
        <p:spPr>
          <a:xfrm>
            <a:off x="685800" y="5095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Radford et al. (2018)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8" name="Google Shape;3068;p57"/>
          <p:cNvSpPr/>
          <p:nvPr/>
        </p:nvSpPr>
        <p:spPr>
          <a:xfrm>
            <a:off x="685800" y="5391150"/>
            <a:ext cx="5219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Improving Language Understanding by Generative Pre-Training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Google Shape;3069;p57"/>
          <p:cNvSpPr/>
          <p:nvPr/>
        </p:nvSpPr>
        <p:spPr>
          <a:xfrm>
            <a:off x="6305550" y="1666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Kaplan et al.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p57"/>
          <p:cNvSpPr/>
          <p:nvPr/>
        </p:nvSpPr>
        <p:spPr>
          <a:xfrm>
            <a:off x="6305550" y="19621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Scaling Laws for Neural 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57"/>
          <p:cNvSpPr/>
          <p:nvPr/>
        </p:nvSpPr>
        <p:spPr>
          <a:xfrm>
            <a:off x="6305550" y="25241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Hoffmann et al. (2022)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57"/>
          <p:cNvSpPr/>
          <p:nvPr/>
        </p:nvSpPr>
        <p:spPr>
          <a:xfrm>
            <a:off x="6305550" y="28194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Training Compute-Optimal Large Language Models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3" name="Google Shape;3073;p57"/>
          <p:cNvSpPr/>
          <p:nvPr/>
        </p:nvSpPr>
        <p:spPr>
          <a:xfrm>
            <a:off x="6305550" y="33813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Gage (1994); Sennrich et al. (2016)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57"/>
          <p:cNvSpPr/>
          <p:nvPr/>
        </p:nvSpPr>
        <p:spPr>
          <a:xfrm>
            <a:off x="6305550" y="36766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BPE compression and neural translation with subwords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5" name="Google Shape;3075;p57"/>
          <p:cNvSpPr/>
          <p:nvPr/>
        </p:nvSpPr>
        <p:spPr>
          <a:xfrm>
            <a:off x="6305550" y="42386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Hashimoto — Stanford CS336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6" name="Google Shape;3076;p57"/>
          <p:cNvSpPr/>
          <p:nvPr/>
        </p:nvSpPr>
        <p:spPr>
          <a:xfrm>
            <a:off x="6305550" y="45339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Supplied Lecture 3 figures; architecture teaching reference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7" name="Google Shape;3077;p57"/>
          <p:cNvSpPr/>
          <p:nvPr/>
        </p:nvSpPr>
        <p:spPr>
          <a:xfrm>
            <a:off x="68580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Click a linked title for the source. Numerical examples in this lecture are illustrative calculations.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p58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4" name="Google Shape;3084;p58"/>
          <p:cNvSpPr/>
          <p:nvPr/>
        </p:nvSpPr>
        <p:spPr>
          <a:xfrm>
            <a:off x="457200" y="685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475"/>
              <a:buFont typeface="Arial"/>
              <a:buNone/>
            </a:pPr>
            <a:r>
              <a:rPr b="1" i="0" lang="en-US" sz="33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References — components and model configurations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5" name="Google Shape;3085;p58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6" name="Google Shape;3086;p58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58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p58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p58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0" name="Google Shape;3090;p58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1" name="Google Shape;3091;p58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2" name="Google Shape;3092;p58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3" name="Google Shape;3093;p58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p58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58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6" name="Google Shape;3096;p58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p58"/>
          <p:cNvSpPr/>
          <p:nvPr/>
        </p:nvSpPr>
        <p:spPr>
          <a:xfrm>
            <a:off x="685800" y="1666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Ba et al. (2016); Zhang &amp; Sennrich (2019)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p58"/>
          <p:cNvSpPr/>
          <p:nvPr/>
        </p:nvSpPr>
        <p:spPr>
          <a:xfrm>
            <a:off x="685800" y="19621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LayerNorm and RMSNorm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p58"/>
          <p:cNvSpPr/>
          <p:nvPr/>
        </p:nvSpPr>
        <p:spPr>
          <a:xfrm>
            <a:off x="685800" y="25241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Su et al. (2021)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p58"/>
          <p:cNvSpPr/>
          <p:nvPr/>
        </p:nvSpPr>
        <p:spPr>
          <a:xfrm>
            <a:off x="685800" y="28194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RoFormer — Rotary Position Embedding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p58"/>
          <p:cNvSpPr/>
          <p:nvPr/>
        </p:nvSpPr>
        <p:spPr>
          <a:xfrm>
            <a:off x="685800" y="33813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Xiong et al.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p58"/>
          <p:cNvSpPr/>
          <p:nvPr/>
        </p:nvSpPr>
        <p:spPr>
          <a:xfrm>
            <a:off x="685800" y="36766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 Layer Normalization in the Transformer 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p58"/>
          <p:cNvSpPr/>
          <p:nvPr/>
        </p:nvSpPr>
        <p:spPr>
          <a:xfrm>
            <a:off x="685800" y="42386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Shazeer (2020); PyTorch SiLU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58"/>
          <p:cNvSpPr/>
          <p:nvPr/>
        </p:nvSpPr>
        <p:spPr>
          <a:xfrm>
            <a:off x="685800" y="45339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GLU Variants Improve Transformer; SiLU = Swish at β=1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p58"/>
          <p:cNvSpPr/>
          <p:nvPr/>
        </p:nvSpPr>
        <p:spPr>
          <a:xfrm>
            <a:off x="685800" y="5095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Holtzman et al. (2020)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58"/>
          <p:cNvSpPr/>
          <p:nvPr/>
        </p:nvSpPr>
        <p:spPr>
          <a:xfrm>
            <a:off x="685800" y="53911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Curious Case of Neural Text Degeneration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58"/>
          <p:cNvSpPr/>
          <p:nvPr/>
        </p:nvSpPr>
        <p:spPr>
          <a:xfrm>
            <a:off x="6305550" y="16668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Ainslie et al. (2023)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58"/>
          <p:cNvSpPr/>
          <p:nvPr/>
        </p:nvSpPr>
        <p:spPr>
          <a:xfrm>
            <a:off x="6305550" y="19621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Grouped-query attention and checkpoint uptraining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58"/>
          <p:cNvSpPr/>
          <p:nvPr/>
        </p:nvSpPr>
        <p:spPr>
          <a:xfrm>
            <a:off x="6305550" y="25241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Llama 3 8B; Mistral 7B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0" name="Google Shape;3110;p58"/>
          <p:cNvSpPr/>
          <p:nvPr/>
        </p:nvSpPr>
        <p:spPr>
          <a:xfrm>
            <a:off x="6305550" y="28194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Publisher configurations — width, depth, FFN dimensions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1" name="Google Shape;3111;p58"/>
          <p:cNvSpPr/>
          <p:nvPr/>
        </p:nvSpPr>
        <p:spPr>
          <a:xfrm>
            <a:off x="6305550" y="338137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Phi-3 Mini; Gemma 2 9B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2" name="Google Shape;3112;p58"/>
          <p:cNvSpPr/>
          <p:nvPr/>
        </p:nvSpPr>
        <p:spPr>
          <a:xfrm>
            <a:off x="6305550" y="367665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Publisher configurations — FFN comparison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58"/>
          <p:cNvSpPr/>
          <p:nvPr/>
        </p:nvSpPr>
        <p:spPr>
          <a:xfrm>
            <a:off x="6305550" y="4238625"/>
            <a:ext cx="5219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575"/>
              <a:buFont typeface="Arial"/>
              <a:buNone/>
            </a:pPr>
            <a:r>
              <a:rPr b="1" i="0" lang="en-US" sz="1950" u="none" cap="none" strike="noStrike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Qwen2.5 7B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4" name="Google Shape;3114;p58"/>
          <p:cNvSpPr/>
          <p:nvPr/>
        </p:nvSpPr>
        <p:spPr>
          <a:xfrm>
            <a:off x="6305550" y="4533900"/>
            <a:ext cx="5219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350"/>
              <a:buFont typeface="Arial"/>
              <a:buNone/>
            </a:pPr>
            <a:r>
              <a:rPr b="0" i="0" lang="en-US" sz="1575" u="sng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Publisher configuration — d=3584; d_ff=18944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5" name="Google Shape;3115;p58"/>
          <p:cNvSpPr/>
          <p:nvPr/>
        </p:nvSpPr>
        <p:spPr>
          <a:xfrm>
            <a:off x="685800" y="62484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Click a linked title for the source. Numerical examples in this lecture are illustrative calculations.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